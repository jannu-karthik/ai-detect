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7"/>
  </p:notesMasterIdLst>
  <p:handoutMasterIdLst>
    <p:handoutMasterId r:id="rId38"/>
  </p:handoutMasterIdLst>
  <p:sldIdLst>
    <p:sldId id="423" r:id="rId3"/>
    <p:sldId id="587" r:id="rId4"/>
    <p:sldId id="740" r:id="rId5"/>
    <p:sldId id="743" r:id="rId6"/>
    <p:sldId id="741" r:id="rId7"/>
    <p:sldId id="742" r:id="rId8"/>
    <p:sldId id="744" r:id="rId9"/>
    <p:sldId id="745" r:id="rId10"/>
    <p:sldId id="722" r:id="rId11"/>
    <p:sldId id="723" r:id="rId12"/>
    <p:sldId id="724" r:id="rId13"/>
    <p:sldId id="725" r:id="rId14"/>
    <p:sldId id="726" r:id="rId15"/>
    <p:sldId id="727" r:id="rId16"/>
    <p:sldId id="728" r:id="rId17"/>
    <p:sldId id="729" r:id="rId18"/>
    <p:sldId id="730" r:id="rId19"/>
    <p:sldId id="715" r:id="rId20"/>
    <p:sldId id="716" r:id="rId21"/>
    <p:sldId id="717" r:id="rId22"/>
    <p:sldId id="718" r:id="rId23"/>
    <p:sldId id="719" r:id="rId24"/>
    <p:sldId id="720" r:id="rId25"/>
    <p:sldId id="721" r:id="rId26"/>
    <p:sldId id="695" r:id="rId27"/>
    <p:sldId id="733" r:id="rId28"/>
    <p:sldId id="734" r:id="rId29"/>
    <p:sldId id="732" r:id="rId30"/>
    <p:sldId id="735" r:id="rId31"/>
    <p:sldId id="736" r:id="rId32"/>
    <p:sldId id="731" r:id="rId33"/>
    <p:sldId id="738" r:id="rId34"/>
    <p:sldId id="737" r:id="rId35"/>
    <p:sldId id="305" r:id="rId36"/>
  </p:sldIdLst>
  <p:sldSz cx="9144000" cy="6858000" type="screen4x3"/>
  <p:notesSz cx="6662420" cy="9906000"/>
  <p:defaultTex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p:defaultTextStyle>
  <p:extLst>
    <p:ext uri="{521415D9-36F7-43E2-AB2F-B90AF26B5E84}">
      <p14:sectionLst xmlns:p14="http://schemas.microsoft.com/office/powerpoint/2010/main">
        <p14:section name="Default Section" id="{3E677436-6E58-4812-AD84-83BCBC6A37B2}">
          <p14:sldIdLst>
            <p14:sldId id="423"/>
            <p14:sldId id="587"/>
            <p14:sldId id="740"/>
            <p14:sldId id="743"/>
            <p14:sldId id="741"/>
            <p14:sldId id="742"/>
            <p14:sldId id="744"/>
            <p14:sldId id="745"/>
            <p14:sldId id="722"/>
            <p14:sldId id="723"/>
            <p14:sldId id="724"/>
            <p14:sldId id="725"/>
            <p14:sldId id="726"/>
            <p14:sldId id="727"/>
            <p14:sldId id="728"/>
            <p14:sldId id="729"/>
            <p14:sldId id="730"/>
            <p14:sldId id="715"/>
            <p14:sldId id="716"/>
            <p14:sldId id="717"/>
            <p14:sldId id="718"/>
            <p14:sldId id="719"/>
            <p14:sldId id="720"/>
            <p14:sldId id="721"/>
            <p14:sldId id="695"/>
            <p14:sldId id="733"/>
            <p14:sldId id="734"/>
            <p14:sldId id="732"/>
            <p14:sldId id="735"/>
            <p14:sldId id="736"/>
            <p14:sldId id="731"/>
            <p14:sldId id="738"/>
            <p14:sldId id="737"/>
            <p14:sldId id="305"/>
          </p14:sldIdLst>
        </p14:section>
      </p14:sectionLst>
    </p:ext>
    <p:ext uri="{EFAFB233-063F-42B5-8137-9DF3F51BA10A}">
      <p15:sldGuideLst xmlns:p15="http://schemas.microsoft.com/office/powerpoint/2012/main">
        <p15:guide id="1" orient="horz" pos="2188" userDrawn="1">
          <p15:clr>
            <a:srgbClr val="A4A3A4"/>
          </p15:clr>
        </p15:guide>
        <p15:guide id="2" pos="2887"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33CC"/>
    <a:srgbClr val="62145E"/>
    <a:srgbClr val="B6540A"/>
    <a:srgbClr val="85058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0000" autoAdjust="0"/>
    <p:restoredTop sz="95274" autoAdjust="0"/>
  </p:normalViewPr>
  <p:slideViewPr>
    <p:cSldViewPr showGuides="1">
      <p:cViewPr varScale="1">
        <p:scale>
          <a:sx n="87" d="100"/>
          <a:sy n="87" d="100"/>
        </p:scale>
        <p:origin x="1589" y="58"/>
      </p:cViewPr>
      <p:guideLst>
        <p:guide orient="horz" pos="2188"/>
        <p:guide pos="2887"/>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1" Type="http://schemas.openxmlformats.org/officeDocument/2006/relationships/tableStyles" Target="tableStyles.xml"/><Relationship Id="rId40" Type="http://schemas.openxmlformats.org/officeDocument/2006/relationships/viewProps" Target="viewProps.xml"/><Relationship Id="rId4" Type="http://schemas.openxmlformats.org/officeDocument/2006/relationships/slide" Target="slides/slide2.xml"/><Relationship Id="rId39" Type="http://schemas.openxmlformats.org/officeDocument/2006/relationships/presProps" Target="presProps.xml"/><Relationship Id="rId38" Type="http://schemas.openxmlformats.org/officeDocument/2006/relationships/handoutMaster" Target="handoutMasters/handoutMaster1.xml"/><Relationship Id="rId37" Type="http://schemas.openxmlformats.org/officeDocument/2006/relationships/notesMaster" Target="notesMasters/notesMaster1.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4.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8.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887186" cy="4953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774010" y="0"/>
            <a:ext cx="2887186" cy="495300"/>
          </a:xfrm>
          <a:prstGeom prst="rect">
            <a:avLst/>
          </a:prstGeom>
        </p:spPr>
        <p:txBody>
          <a:bodyPr vert="horz" lIns="91440" tIns="45720" rIns="91440" bIns="45720" rtlCol="0"/>
          <a:lstStyle>
            <a:lvl1pPr algn="r">
              <a:defRPr sz="1200"/>
            </a:lvl1pPr>
          </a:lstStyle>
          <a:p>
            <a:fld id="{FA29D285-1267-4C59-B004-1E1054BE04F7}" type="datetimeFigureOut">
              <a:rPr lang="en-US" smtClean="0"/>
            </a:fld>
            <a:endParaRPr lang="en-US"/>
          </a:p>
        </p:txBody>
      </p:sp>
      <p:sp>
        <p:nvSpPr>
          <p:cNvPr id="4" name="Footer Placeholder 3"/>
          <p:cNvSpPr>
            <a:spLocks noGrp="1"/>
          </p:cNvSpPr>
          <p:nvPr>
            <p:ph type="ftr" sz="quarter" idx="2"/>
          </p:nvPr>
        </p:nvSpPr>
        <p:spPr>
          <a:xfrm>
            <a:off x="0" y="9408981"/>
            <a:ext cx="2887186" cy="4953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774010" y="9408981"/>
            <a:ext cx="2887186" cy="495300"/>
          </a:xfrm>
          <a:prstGeom prst="rect">
            <a:avLst/>
          </a:prstGeom>
        </p:spPr>
        <p:txBody>
          <a:bodyPr vert="horz" lIns="91440" tIns="45720" rIns="91440" bIns="45720" rtlCol="0" anchor="b"/>
          <a:lstStyle>
            <a:lvl1pPr algn="r">
              <a:defRPr sz="1200"/>
            </a:lvl1pPr>
          </a:lstStyle>
          <a:p>
            <a:fld id="{E467D92D-1E40-4FAC-8DB1-55C5C5648F81}" type="slidenum">
              <a:rPr lang="en-US" smtClean="0"/>
            </a:fld>
            <a:endParaRPr 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887186" cy="495300"/>
          </a:xfrm>
          <a:prstGeom prst="rect">
            <a:avLst/>
          </a:prstGeom>
        </p:spPr>
        <p:txBody>
          <a:bodyPr vert="horz" lIns="91440" tIns="45720" rIns="91440" bIns="45720" rtlCol="0"/>
          <a:lstStyle>
            <a:lvl1pPr algn="l">
              <a:defRPr sz="1200"/>
            </a:lvl1pPr>
          </a:lstStyle>
          <a:p>
            <a:pPr>
              <a:defRPr/>
            </a:pPr>
            <a:endParaRPr lang="en-US"/>
          </a:p>
        </p:txBody>
      </p:sp>
      <p:sp>
        <p:nvSpPr>
          <p:cNvPr id="3" name="Date Placeholder 2"/>
          <p:cNvSpPr>
            <a:spLocks noGrp="1"/>
          </p:cNvSpPr>
          <p:nvPr>
            <p:ph type="dt" idx="1"/>
          </p:nvPr>
        </p:nvSpPr>
        <p:spPr>
          <a:xfrm>
            <a:off x="3774010" y="0"/>
            <a:ext cx="2887186" cy="495300"/>
          </a:xfrm>
          <a:prstGeom prst="rect">
            <a:avLst/>
          </a:prstGeom>
        </p:spPr>
        <p:txBody>
          <a:bodyPr vert="horz" lIns="91440" tIns="45720" rIns="91440" bIns="45720" rtlCol="0"/>
          <a:lstStyle>
            <a:lvl1pPr algn="r">
              <a:defRPr sz="1200"/>
            </a:lvl1pPr>
          </a:lstStyle>
          <a:p>
            <a:pPr>
              <a:defRPr/>
            </a:pPr>
            <a:fld id="{586B9B08-338A-417F-BCD3-200F4A257D3B}" type="datetimeFigureOut">
              <a:rPr lang="en-US"/>
            </a:fld>
            <a:endParaRPr lang="en-US"/>
          </a:p>
        </p:txBody>
      </p:sp>
      <p:sp>
        <p:nvSpPr>
          <p:cNvPr id="4" name="Slide Image Placeholder 3"/>
          <p:cNvSpPr>
            <a:spLocks noGrp="1" noRot="1" noChangeAspect="1"/>
          </p:cNvSpPr>
          <p:nvPr>
            <p:ph type="sldImg" idx="2"/>
          </p:nvPr>
        </p:nvSpPr>
        <p:spPr>
          <a:xfrm>
            <a:off x="855663" y="742950"/>
            <a:ext cx="4953000" cy="3714750"/>
          </a:xfrm>
          <a:prstGeom prst="rect">
            <a:avLst/>
          </a:prstGeom>
          <a:noFill/>
          <a:ln w="12700">
            <a:solidFill>
              <a:prstClr val="black"/>
            </a:solidFill>
          </a:ln>
        </p:spPr>
        <p:txBody>
          <a:bodyPr vert="horz" lIns="91440" tIns="45720" rIns="91440" bIns="45720" rtlCol="0" anchor="ctr"/>
          <a:lstStyle/>
          <a:p>
            <a:pPr lvl="0"/>
            <a:endParaRPr lang="en-US" noProof="0" smtClean="0"/>
          </a:p>
        </p:txBody>
      </p:sp>
      <p:sp>
        <p:nvSpPr>
          <p:cNvPr id="5" name="Notes Placeholder 4"/>
          <p:cNvSpPr>
            <a:spLocks noGrp="1"/>
          </p:cNvSpPr>
          <p:nvPr>
            <p:ph type="body" sz="quarter" idx="3"/>
          </p:nvPr>
        </p:nvSpPr>
        <p:spPr>
          <a:xfrm>
            <a:off x="666274" y="4705350"/>
            <a:ext cx="5330190" cy="4457700"/>
          </a:xfrm>
          <a:prstGeom prst="rect">
            <a:avLst/>
          </a:prstGeom>
        </p:spPr>
        <p:txBody>
          <a:bodyPr vert="horz" lIns="91440" tIns="45720" rIns="91440" bIns="45720" rtlCol="0">
            <a:normAutofit/>
          </a:bodyPr>
          <a:lstStyle/>
          <a:p>
            <a:pPr lvl="0"/>
            <a:r>
              <a:rPr lang="en-US" noProof="0" smtClean="0"/>
              <a:t>Click to edit Master text styles</a:t>
            </a:r>
            <a:endParaRPr lang="en-US" noProof="0" smtClean="0"/>
          </a:p>
          <a:p>
            <a:pPr lvl="1"/>
            <a:r>
              <a:rPr lang="en-US" noProof="0" smtClean="0"/>
              <a:t>Second level</a:t>
            </a:r>
            <a:endParaRPr lang="en-US" noProof="0" smtClean="0"/>
          </a:p>
          <a:p>
            <a:pPr lvl="2"/>
            <a:r>
              <a:rPr lang="en-US" noProof="0" smtClean="0"/>
              <a:t>Third level</a:t>
            </a:r>
            <a:endParaRPr lang="en-US" noProof="0" smtClean="0"/>
          </a:p>
          <a:p>
            <a:pPr lvl="3"/>
            <a:r>
              <a:rPr lang="en-US" noProof="0" smtClean="0"/>
              <a:t>Fourth level</a:t>
            </a:r>
            <a:endParaRPr lang="en-US" noProof="0" smtClean="0"/>
          </a:p>
          <a:p>
            <a:pPr lvl="4"/>
            <a:r>
              <a:rPr lang="en-US" noProof="0" smtClean="0"/>
              <a:t>Fifth level</a:t>
            </a:r>
            <a:endParaRPr lang="en-US" noProof="0" smtClean="0"/>
          </a:p>
        </p:txBody>
      </p:sp>
      <p:sp>
        <p:nvSpPr>
          <p:cNvPr id="6" name="Footer Placeholder 5"/>
          <p:cNvSpPr>
            <a:spLocks noGrp="1"/>
          </p:cNvSpPr>
          <p:nvPr>
            <p:ph type="ftr" sz="quarter" idx="4"/>
          </p:nvPr>
        </p:nvSpPr>
        <p:spPr>
          <a:xfrm>
            <a:off x="0" y="9408981"/>
            <a:ext cx="2887186" cy="495300"/>
          </a:xfrm>
          <a:prstGeom prst="rect">
            <a:avLst/>
          </a:prstGeom>
        </p:spPr>
        <p:txBody>
          <a:bodyPr vert="horz" lIns="91440" tIns="45720" rIns="91440" bIns="45720" rtlCol="0" anchor="b"/>
          <a:lstStyle>
            <a:lvl1pPr algn="l">
              <a:defRPr sz="1200"/>
            </a:lvl1pPr>
          </a:lstStyle>
          <a:p>
            <a:pPr>
              <a:defRPr/>
            </a:pPr>
            <a:endParaRPr lang="en-US"/>
          </a:p>
        </p:txBody>
      </p:sp>
      <p:sp>
        <p:nvSpPr>
          <p:cNvPr id="7" name="Slide Number Placeholder 6"/>
          <p:cNvSpPr>
            <a:spLocks noGrp="1"/>
          </p:cNvSpPr>
          <p:nvPr>
            <p:ph type="sldNum" sz="quarter" idx="5"/>
          </p:nvPr>
        </p:nvSpPr>
        <p:spPr>
          <a:xfrm>
            <a:off x="3774010" y="9408981"/>
            <a:ext cx="2887186" cy="495300"/>
          </a:xfrm>
          <a:prstGeom prst="rect">
            <a:avLst/>
          </a:prstGeom>
        </p:spPr>
        <p:txBody>
          <a:bodyPr vert="horz" lIns="91440" tIns="45720" rIns="91440" bIns="45720" rtlCol="0" anchor="b"/>
          <a:lstStyle>
            <a:lvl1pPr algn="r">
              <a:defRPr sz="1200"/>
            </a:lvl1pPr>
          </a:lstStyle>
          <a:p>
            <a:pPr>
              <a:defRPr/>
            </a:pPr>
            <a:fld id="{6A236E4D-2C2B-4421-A9F0-77272BC7815D}" type="slidenum">
              <a:rPr lang="en-US"/>
            </a:fld>
            <a:endParaRPr 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lvl1pPr>
              <a:defRPr/>
            </a:lvl1pPr>
          </a:lstStyle>
          <a:p>
            <a:pPr>
              <a:defRPr/>
            </a:pPr>
            <a:endParaRPr lang="en-US"/>
          </a:p>
        </p:txBody>
      </p:sp>
      <p:sp>
        <p:nvSpPr>
          <p:cNvPr id="5" name="Footer Placeholder 4"/>
          <p:cNvSpPr>
            <a:spLocks noGrp="1"/>
          </p:cNvSpPr>
          <p:nvPr>
            <p:ph type="ftr" sz="quarter" idx="11"/>
          </p:nvPr>
        </p:nvSpPr>
        <p:spPr/>
        <p:txBody>
          <a:bodyPr/>
          <a:lstStyle>
            <a:lvl1pPr>
              <a:defRPr/>
            </a:lvl1pPr>
          </a:lstStyle>
          <a:p>
            <a:pPr>
              <a:defRPr/>
            </a:pPr>
            <a:r>
              <a:rPr lang="en-US" dirty="0"/>
              <a:t>K. Nagendra, Research Scholar, Dept. of Computer Science, Vikrama Simhapuri University, </a:t>
            </a:r>
            <a:r>
              <a:rPr lang="en-US" dirty="0" err="1"/>
              <a:t>Nellroe</a:t>
            </a: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9E82A29A-81AC-4C32-8D5D-670F2CD34ECA}" type="slidenum">
              <a:rPr lang="en-US"/>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endParaRPr lang="en-US"/>
          </a:p>
        </p:txBody>
      </p:sp>
      <p:sp>
        <p:nvSpPr>
          <p:cNvPr id="5" name="Footer Placeholder 4"/>
          <p:cNvSpPr>
            <a:spLocks noGrp="1"/>
          </p:cNvSpPr>
          <p:nvPr>
            <p:ph type="ftr" sz="quarter" idx="11"/>
          </p:nvPr>
        </p:nvSpPr>
        <p:spPr/>
        <p:txBody>
          <a:bodyPr/>
          <a:lstStyle>
            <a:lvl1pPr>
              <a:defRPr/>
            </a:lvl1pPr>
          </a:lstStyle>
          <a:p>
            <a:pPr>
              <a:defRPr/>
            </a:pPr>
            <a:r>
              <a:rPr lang="en-US" dirty="0"/>
              <a:t>K. Nagendra, Research Scholar, Dept. of Computer Science, Vikrama Simhapuri University, </a:t>
            </a:r>
            <a:r>
              <a:rPr lang="en-US" dirty="0" err="1"/>
              <a:t>Nellroe</a:t>
            </a: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D5348383-1B9E-459D-B466-75FD8A70E703}" type="slidenum">
              <a:rPr lang="en-US"/>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lvl1pPr>
              <a:defRPr/>
            </a:lvl1pPr>
          </a:lstStyle>
          <a:p>
            <a:pPr>
              <a:defRPr/>
            </a:pPr>
            <a:endParaRPr lang="en-US"/>
          </a:p>
        </p:txBody>
      </p:sp>
      <p:sp>
        <p:nvSpPr>
          <p:cNvPr id="5" name="Footer Placeholder 4"/>
          <p:cNvSpPr>
            <a:spLocks noGrp="1"/>
          </p:cNvSpPr>
          <p:nvPr>
            <p:ph type="ftr" sz="quarter" idx="11"/>
          </p:nvPr>
        </p:nvSpPr>
        <p:spPr/>
        <p:txBody>
          <a:bodyPr/>
          <a:lstStyle>
            <a:lvl1pPr>
              <a:defRPr/>
            </a:lvl1pPr>
          </a:lstStyle>
          <a:p>
            <a:pPr>
              <a:defRPr/>
            </a:pPr>
            <a:r>
              <a:rPr lang="en-US" dirty="0"/>
              <a:t>K. Nagendra, Research Scholar, Dept. of Computer Science, Vikrama Simhapuri University, </a:t>
            </a:r>
            <a:r>
              <a:rPr lang="en-US" dirty="0" err="1"/>
              <a:t>Nellroe</a:t>
            </a: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E5F723FD-6C50-4D9B-8452-B7A9DB66A4E8}" type="slidenum">
              <a:rPr lang="en-US"/>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3"/>
          <p:cNvSpPr>
            <a:spLocks noGrp="1"/>
          </p:cNvSpPr>
          <p:nvPr>
            <p:ph type="dt" sz="half" idx="10"/>
          </p:nvPr>
        </p:nvSpPr>
        <p:spPr/>
        <p:txBody>
          <a:bodyPr/>
          <a:lstStyle>
            <a:lvl1pPr>
              <a:defRPr/>
            </a:lvl1pPr>
          </a:lstStyle>
          <a:p>
            <a:pPr>
              <a:defRPr/>
            </a:pPr>
            <a:endParaRPr lang="en-US"/>
          </a:p>
        </p:txBody>
      </p:sp>
      <p:sp>
        <p:nvSpPr>
          <p:cNvPr id="6" name="Footer Placeholder 4"/>
          <p:cNvSpPr>
            <a:spLocks noGrp="1"/>
          </p:cNvSpPr>
          <p:nvPr>
            <p:ph type="ftr" sz="quarter" idx="11"/>
          </p:nvPr>
        </p:nvSpPr>
        <p:spPr/>
        <p:txBody>
          <a:bodyPr/>
          <a:lstStyle>
            <a:lvl1pPr>
              <a:defRPr/>
            </a:lvl1pPr>
          </a:lstStyle>
          <a:p>
            <a:pPr>
              <a:defRPr/>
            </a:pPr>
            <a:r>
              <a:rPr lang="en-US" dirty="0"/>
              <a:t>K. Nagendra, Research Scholar, Dept. of Computer Science, Vikrama Simhapuri University, </a:t>
            </a:r>
            <a:r>
              <a:rPr lang="en-US" dirty="0" err="1"/>
              <a:t>Nellroe</a:t>
            </a:r>
            <a:endParaRPr lang="en-US" dirty="0"/>
          </a:p>
        </p:txBody>
      </p:sp>
      <p:sp>
        <p:nvSpPr>
          <p:cNvPr id="7" name="Slide Number Placeholder 5"/>
          <p:cNvSpPr>
            <a:spLocks noGrp="1"/>
          </p:cNvSpPr>
          <p:nvPr>
            <p:ph type="sldNum" sz="quarter" idx="12"/>
          </p:nvPr>
        </p:nvSpPr>
        <p:spPr/>
        <p:txBody>
          <a:bodyPr/>
          <a:lstStyle>
            <a:lvl1pPr>
              <a:defRPr/>
            </a:lvl1pPr>
          </a:lstStyle>
          <a:p>
            <a:pPr>
              <a:defRPr/>
            </a:pPr>
            <a:fld id="{5A72C3C2-0586-47DA-B958-1A2B2F1B97C1}" type="slidenum">
              <a:rPr lang="en-US"/>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3"/>
          <p:cNvSpPr>
            <a:spLocks noGrp="1"/>
          </p:cNvSpPr>
          <p:nvPr>
            <p:ph type="dt" sz="half" idx="10"/>
          </p:nvPr>
        </p:nvSpPr>
        <p:spPr/>
        <p:txBody>
          <a:bodyPr/>
          <a:lstStyle>
            <a:lvl1pPr>
              <a:defRPr/>
            </a:lvl1pPr>
          </a:lstStyle>
          <a:p>
            <a:pPr>
              <a:defRPr/>
            </a:pPr>
            <a:endParaRPr lang="en-US"/>
          </a:p>
        </p:txBody>
      </p:sp>
      <p:sp>
        <p:nvSpPr>
          <p:cNvPr id="8" name="Footer Placeholder 4"/>
          <p:cNvSpPr>
            <a:spLocks noGrp="1"/>
          </p:cNvSpPr>
          <p:nvPr>
            <p:ph type="ftr" sz="quarter" idx="11"/>
          </p:nvPr>
        </p:nvSpPr>
        <p:spPr/>
        <p:txBody>
          <a:bodyPr/>
          <a:lstStyle>
            <a:lvl1pPr>
              <a:defRPr/>
            </a:lvl1pPr>
          </a:lstStyle>
          <a:p>
            <a:pPr>
              <a:defRPr/>
            </a:pPr>
            <a:r>
              <a:rPr lang="en-US" dirty="0"/>
              <a:t>K. Nagendra, Research Scholar, Dept. of Computer Science, Vikrama Simhapuri University, </a:t>
            </a:r>
            <a:r>
              <a:rPr lang="en-US" dirty="0" err="1"/>
              <a:t>Nellroe</a:t>
            </a:r>
            <a:endParaRPr lang="en-US" dirty="0"/>
          </a:p>
        </p:txBody>
      </p:sp>
      <p:sp>
        <p:nvSpPr>
          <p:cNvPr id="9" name="Slide Number Placeholder 5"/>
          <p:cNvSpPr>
            <a:spLocks noGrp="1"/>
          </p:cNvSpPr>
          <p:nvPr>
            <p:ph type="sldNum" sz="quarter" idx="12"/>
          </p:nvPr>
        </p:nvSpPr>
        <p:spPr/>
        <p:txBody>
          <a:bodyPr/>
          <a:lstStyle>
            <a:lvl1pPr>
              <a:defRPr/>
            </a:lvl1pPr>
          </a:lstStyle>
          <a:p>
            <a:pPr>
              <a:defRPr/>
            </a:pPr>
            <a:fld id="{F5FEFA13-85A8-4AE2-8118-4561FC46997E}" type="slidenum">
              <a:rPr lang="en-US"/>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3"/>
          <p:cNvSpPr>
            <a:spLocks noGrp="1"/>
          </p:cNvSpPr>
          <p:nvPr>
            <p:ph type="dt" sz="half" idx="10"/>
          </p:nvPr>
        </p:nvSpPr>
        <p:spPr/>
        <p:txBody>
          <a:bodyPr/>
          <a:lstStyle>
            <a:lvl1pPr>
              <a:defRPr/>
            </a:lvl1pPr>
          </a:lstStyle>
          <a:p>
            <a:pPr>
              <a:defRPr/>
            </a:pPr>
            <a:endParaRPr lang="en-US"/>
          </a:p>
        </p:txBody>
      </p:sp>
      <p:sp>
        <p:nvSpPr>
          <p:cNvPr id="4" name="Footer Placeholder 4"/>
          <p:cNvSpPr>
            <a:spLocks noGrp="1"/>
          </p:cNvSpPr>
          <p:nvPr>
            <p:ph type="ftr" sz="quarter" idx="11"/>
          </p:nvPr>
        </p:nvSpPr>
        <p:spPr/>
        <p:txBody>
          <a:bodyPr/>
          <a:lstStyle>
            <a:lvl1pPr>
              <a:defRPr/>
            </a:lvl1pPr>
          </a:lstStyle>
          <a:p>
            <a:pPr>
              <a:defRPr/>
            </a:pPr>
            <a:r>
              <a:rPr lang="en-US" dirty="0"/>
              <a:t>K. Nagendra, Research Scholar, Dept. of Computer Science, Vikrama Simhapuri University, </a:t>
            </a:r>
            <a:r>
              <a:rPr lang="en-US" dirty="0" err="1"/>
              <a:t>Nellroe</a:t>
            </a:r>
            <a:endParaRPr lang="en-US" dirty="0"/>
          </a:p>
        </p:txBody>
      </p:sp>
      <p:sp>
        <p:nvSpPr>
          <p:cNvPr id="5" name="Slide Number Placeholder 5"/>
          <p:cNvSpPr>
            <a:spLocks noGrp="1"/>
          </p:cNvSpPr>
          <p:nvPr>
            <p:ph type="sldNum" sz="quarter" idx="12"/>
          </p:nvPr>
        </p:nvSpPr>
        <p:spPr/>
        <p:txBody>
          <a:bodyPr/>
          <a:lstStyle>
            <a:lvl1pPr>
              <a:defRPr/>
            </a:lvl1pPr>
          </a:lstStyle>
          <a:p>
            <a:pPr>
              <a:defRPr/>
            </a:pPr>
            <a:fld id="{B084D2C9-1A81-41B0-995C-0A5BFEEAC4ED}" type="slidenum">
              <a:rPr lang="en-US"/>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endParaRPr lang="en-US"/>
          </a:p>
        </p:txBody>
      </p:sp>
      <p:sp>
        <p:nvSpPr>
          <p:cNvPr id="3" name="Footer Placeholder 4"/>
          <p:cNvSpPr>
            <a:spLocks noGrp="1"/>
          </p:cNvSpPr>
          <p:nvPr>
            <p:ph type="ftr" sz="quarter" idx="11"/>
          </p:nvPr>
        </p:nvSpPr>
        <p:spPr/>
        <p:txBody>
          <a:bodyPr/>
          <a:lstStyle>
            <a:lvl1pPr>
              <a:defRPr/>
            </a:lvl1pPr>
          </a:lstStyle>
          <a:p>
            <a:pPr>
              <a:defRPr/>
            </a:pPr>
            <a:r>
              <a:rPr lang="en-US" dirty="0"/>
              <a:t>K. Nagendra, Research Scholar, Dept. of Computer Science, Vikrama Simhapuri University, </a:t>
            </a:r>
            <a:r>
              <a:rPr lang="en-US" dirty="0" err="1"/>
              <a:t>Nellroe</a:t>
            </a:r>
            <a:endParaRPr lang="en-US" dirty="0"/>
          </a:p>
        </p:txBody>
      </p:sp>
      <p:sp>
        <p:nvSpPr>
          <p:cNvPr id="4" name="Slide Number Placeholder 5"/>
          <p:cNvSpPr>
            <a:spLocks noGrp="1"/>
          </p:cNvSpPr>
          <p:nvPr>
            <p:ph type="sldNum" sz="quarter" idx="12"/>
          </p:nvPr>
        </p:nvSpPr>
        <p:spPr/>
        <p:txBody>
          <a:bodyPr/>
          <a:lstStyle>
            <a:lvl1pPr>
              <a:defRPr/>
            </a:lvl1pPr>
          </a:lstStyle>
          <a:p>
            <a:pPr>
              <a:defRPr/>
            </a:pPr>
            <a:fld id="{7924FEB1-70A5-46E6-BB50-3A8D90A64A23}" type="slidenum">
              <a:rPr lang="en-US"/>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3"/>
          <p:cNvSpPr>
            <a:spLocks noGrp="1"/>
          </p:cNvSpPr>
          <p:nvPr>
            <p:ph type="dt" sz="half" idx="10"/>
          </p:nvPr>
        </p:nvSpPr>
        <p:spPr/>
        <p:txBody>
          <a:bodyPr/>
          <a:lstStyle>
            <a:lvl1pPr>
              <a:defRPr/>
            </a:lvl1pPr>
          </a:lstStyle>
          <a:p>
            <a:pPr>
              <a:defRPr/>
            </a:pPr>
            <a:endParaRPr lang="en-US"/>
          </a:p>
        </p:txBody>
      </p:sp>
      <p:sp>
        <p:nvSpPr>
          <p:cNvPr id="6" name="Footer Placeholder 4"/>
          <p:cNvSpPr>
            <a:spLocks noGrp="1"/>
          </p:cNvSpPr>
          <p:nvPr>
            <p:ph type="ftr" sz="quarter" idx="11"/>
          </p:nvPr>
        </p:nvSpPr>
        <p:spPr/>
        <p:txBody>
          <a:bodyPr/>
          <a:lstStyle>
            <a:lvl1pPr>
              <a:defRPr/>
            </a:lvl1pPr>
          </a:lstStyle>
          <a:p>
            <a:pPr>
              <a:defRPr/>
            </a:pPr>
            <a:r>
              <a:rPr lang="en-US" dirty="0"/>
              <a:t>K. Nagendra, Research Scholar, Dept. of Computer Science, Vikrama Simhapuri University, </a:t>
            </a:r>
            <a:r>
              <a:rPr lang="en-US" dirty="0" err="1"/>
              <a:t>Nellroe</a:t>
            </a:r>
            <a:endParaRPr lang="en-US" dirty="0"/>
          </a:p>
        </p:txBody>
      </p:sp>
      <p:sp>
        <p:nvSpPr>
          <p:cNvPr id="7" name="Slide Number Placeholder 5"/>
          <p:cNvSpPr>
            <a:spLocks noGrp="1"/>
          </p:cNvSpPr>
          <p:nvPr>
            <p:ph type="sldNum" sz="quarter" idx="12"/>
          </p:nvPr>
        </p:nvSpPr>
        <p:spPr/>
        <p:txBody>
          <a:bodyPr/>
          <a:lstStyle>
            <a:lvl1pPr>
              <a:defRPr/>
            </a:lvl1pPr>
          </a:lstStyle>
          <a:p>
            <a:pPr>
              <a:defRPr/>
            </a:pPr>
            <a:fld id="{E6EE8B50-2474-48E1-9BD9-402EC09F6497}" type="slidenum">
              <a:rPr lang="en-US"/>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3"/>
          <p:cNvSpPr>
            <a:spLocks noGrp="1"/>
          </p:cNvSpPr>
          <p:nvPr>
            <p:ph type="dt" sz="half" idx="10"/>
          </p:nvPr>
        </p:nvSpPr>
        <p:spPr/>
        <p:txBody>
          <a:bodyPr/>
          <a:lstStyle>
            <a:lvl1pPr>
              <a:defRPr/>
            </a:lvl1pPr>
          </a:lstStyle>
          <a:p>
            <a:pPr>
              <a:defRPr/>
            </a:pPr>
            <a:endParaRPr lang="en-US"/>
          </a:p>
        </p:txBody>
      </p:sp>
      <p:sp>
        <p:nvSpPr>
          <p:cNvPr id="6" name="Footer Placeholder 4"/>
          <p:cNvSpPr>
            <a:spLocks noGrp="1"/>
          </p:cNvSpPr>
          <p:nvPr>
            <p:ph type="ftr" sz="quarter" idx="11"/>
          </p:nvPr>
        </p:nvSpPr>
        <p:spPr/>
        <p:txBody>
          <a:bodyPr/>
          <a:lstStyle>
            <a:lvl1pPr>
              <a:defRPr/>
            </a:lvl1pPr>
          </a:lstStyle>
          <a:p>
            <a:pPr>
              <a:defRPr/>
            </a:pPr>
            <a:r>
              <a:rPr lang="en-US" dirty="0"/>
              <a:t>K. Nagendra, Research Scholar, Dept. of Computer Science, Vikrama Simhapuri University, </a:t>
            </a:r>
            <a:r>
              <a:rPr lang="en-US" dirty="0" err="1"/>
              <a:t>Nellroe</a:t>
            </a:r>
            <a:endParaRPr lang="en-US" dirty="0"/>
          </a:p>
        </p:txBody>
      </p:sp>
      <p:sp>
        <p:nvSpPr>
          <p:cNvPr id="7" name="Slide Number Placeholder 5"/>
          <p:cNvSpPr>
            <a:spLocks noGrp="1"/>
          </p:cNvSpPr>
          <p:nvPr>
            <p:ph type="sldNum" sz="quarter" idx="12"/>
          </p:nvPr>
        </p:nvSpPr>
        <p:spPr/>
        <p:txBody>
          <a:bodyPr/>
          <a:lstStyle>
            <a:lvl1pPr>
              <a:defRPr/>
            </a:lvl1pPr>
          </a:lstStyle>
          <a:p>
            <a:pPr>
              <a:defRPr/>
            </a:pPr>
            <a:fld id="{C918E14E-B563-4FB0-AEEE-8618CF40447A}" type="slidenum">
              <a:rPr lang="en-US"/>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endParaRPr lang="en-US"/>
          </a:p>
        </p:txBody>
      </p:sp>
      <p:sp>
        <p:nvSpPr>
          <p:cNvPr id="5" name="Footer Placeholder 4"/>
          <p:cNvSpPr>
            <a:spLocks noGrp="1"/>
          </p:cNvSpPr>
          <p:nvPr>
            <p:ph type="ftr" sz="quarter" idx="11"/>
          </p:nvPr>
        </p:nvSpPr>
        <p:spPr/>
        <p:txBody>
          <a:bodyPr/>
          <a:lstStyle>
            <a:lvl1pPr>
              <a:defRPr/>
            </a:lvl1pPr>
          </a:lstStyle>
          <a:p>
            <a:pPr>
              <a:defRPr/>
            </a:pPr>
            <a:r>
              <a:rPr lang="en-US" dirty="0"/>
              <a:t>K. Nagendra, Research Scholar, Dept. of Computer Science, Vikrama Simhapuri University, </a:t>
            </a:r>
            <a:r>
              <a:rPr lang="en-US" dirty="0" err="1"/>
              <a:t>Nellroe</a:t>
            </a: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68A8BC4E-836E-474A-9D6C-2564306EA94D}" type="slidenum">
              <a:rPr lang="en-US"/>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endParaRPr lang="en-US"/>
          </a:p>
        </p:txBody>
      </p:sp>
      <p:sp>
        <p:nvSpPr>
          <p:cNvPr id="5" name="Footer Placeholder 4"/>
          <p:cNvSpPr>
            <a:spLocks noGrp="1"/>
          </p:cNvSpPr>
          <p:nvPr>
            <p:ph type="ftr" sz="quarter" idx="11"/>
          </p:nvPr>
        </p:nvSpPr>
        <p:spPr/>
        <p:txBody>
          <a:bodyPr/>
          <a:lstStyle>
            <a:lvl1pPr>
              <a:defRPr/>
            </a:lvl1pPr>
          </a:lstStyle>
          <a:p>
            <a:pPr>
              <a:defRPr/>
            </a:pPr>
            <a:r>
              <a:rPr lang="en-US" dirty="0"/>
              <a:t>K. Nagendra, Research Scholar, Dept. of Computer Science, Vikrama Simhapuri University, </a:t>
            </a:r>
            <a:r>
              <a:rPr lang="en-US" dirty="0" err="1"/>
              <a:t>Nellroe</a:t>
            </a: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14D8C07D-11FE-4A1A-B360-12E1CB50B929}" type="slidenum">
              <a:rPr lang="en-US"/>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8229600" cy="1143000"/>
          </a:xfrm>
          <a:prstGeom prst="rect">
            <a:avLst/>
          </a:prstGeom>
          <a:noFill/>
          <a:ln w="9525">
            <a:noFill/>
            <a:miter lim="800000"/>
          </a:ln>
        </p:spPr>
        <p:txBody>
          <a:bodyPr vert="horz" wrap="square" lIns="91440" tIns="45720" rIns="91440" bIns="45720" numCol="1" anchor="ctr" anchorCtr="0" compatLnSpc="1"/>
          <a:lstStyle/>
          <a:p>
            <a:pPr lvl="0"/>
            <a:r>
              <a:rPr lang="en-US" smtClean="0"/>
              <a:t>Click to edit Master title style</a:t>
            </a:r>
            <a:endParaRPr lang="en-US" smtClean="0"/>
          </a:p>
        </p:txBody>
      </p:sp>
      <p:sp>
        <p:nvSpPr>
          <p:cNvPr id="1027" name="Text Placeholder 2"/>
          <p:cNvSpPr>
            <a:spLocks noGrp="1"/>
          </p:cNvSpPr>
          <p:nvPr>
            <p:ph type="body" idx="1"/>
          </p:nvPr>
        </p:nvSpPr>
        <p:spPr bwMode="auto">
          <a:xfrm>
            <a:off x="457200" y="1600200"/>
            <a:ext cx="8229600" cy="4525963"/>
          </a:xfrm>
          <a:prstGeom prst="rect">
            <a:avLst/>
          </a:prstGeom>
          <a:noFill/>
          <a:ln w="9525">
            <a:noFill/>
            <a:miter lim="800000"/>
          </a:ln>
        </p:spPr>
        <p:txBody>
          <a:bodyPr vert="horz" wrap="square" lIns="91440" tIns="45720" rIns="91440" bIns="45720" numCol="1" anchor="t" anchorCtr="0" compatLnSpc="1"/>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smtClean="0"/>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cs typeface="+mn-cs"/>
              </a:defRPr>
            </a:lvl1pPr>
          </a:lstStyle>
          <a:p>
            <a:pPr>
              <a:defRPr/>
            </a:pPr>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cs typeface="+mn-cs"/>
              </a:defRPr>
            </a:lvl1pPr>
          </a:lstStyle>
          <a:p>
            <a:pPr>
              <a:defRPr/>
            </a:pPr>
            <a:r>
              <a:rPr lang="en-US" dirty="0"/>
              <a:t>K. Nagendra, Research Scholar, Dept. of Computer Science, Vikrama Simhapuri University, </a:t>
            </a:r>
            <a:r>
              <a:rPr lang="en-US" dirty="0" err="1"/>
              <a:t>Nellroe</a:t>
            </a:r>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fontAlgn="auto">
              <a:spcBef>
                <a:spcPts val="0"/>
              </a:spcBef>
              <a:spcAft>
                <a:spcPts val="0"/>
              </a:spcAft>
              <a:defRPr sz="1200">
                <a:solidFill>
                  <a:schemeClr val="tx1">
                    <a:tint val="75000"/>
                  </a:schemeClr>
                </a:solidFill>
                <a:latin typeface="+mn-lt"/>
                <a:cs typeface="+mn-cs"/>
              </a:defRPr>
            </a:lvl1pPr>
          </a:lstStyle>
          <a:p>
            <a:pPr>
              <a:defRPr/>
            </a:pPr>
            <a:fld id="{36F65EBB-73BD-4E56-B209-BED6E88FC0DF}" type="slidenum">
              <a:rPr lang="en-US"/>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defRPr>
      </a:lvl2pPr>
      <a:lvl3pPr algn="ctr" rtl="0" eaLnBrk="0" fontAlgn="base" hangingPunct="0">
        <a:spcBef>
          <a:spcPct val="0"/>
        </a:spcBef>
        <a:spcAft>
          <a:spcPct val="0"/>
        </a:spcAft>
        <a:defRPr sz="4400">
          <a:solidFill>
            <a:schemeClr val="tx1"/>
          </a:solidFill>
          <a:latin typeface="Calibri" panose="020F0502020204030204" pitchFamily="34" charset="0"/>
        </a:defRPr>
      </a:lvl3pPr>
      <a:lvl4pPr algn="ctr" rtl="0" eaLnBrk="0" fontAlgn="base" hangingPunct="0">
        <a:spcBef>
          <a:spcPct val="0"/>
        </a:spcBef>
        <a:spcAft>
          <a:spcPct val="0"/>
        </a:spcAft>
        <a:defRPr sz="4400">
          <a:solidFill>
            <a:schemeClr val="tx1"/>
          </a:solidFill>
          <a:latin typeface="Calibri" panose="020F0502020204030204" pitchFamily="34" charset="0"/>
        </a:defRPr>
      </a:lvl4pPr>
      <a:lvl5pPr algn="ctr" rtl="0" eaLnBrk="0" fontAlgn="base" hangingPunct="0">
        <a:spcBef>
          <a:spcPct val="0"/>
        </a:spcBef>
        <a:spcAft>
          <a:spcPct val="0"/>
        </a:spcAft>
        <a:defRPr sz="4400">
          <a:solidFill>
            <a:schemeClr val="tx1"/>
          </a:solidFill>
          <a:latin typeface="Calibri" panose="020F0502020204030204" pitchFamily="34" charset="0"/>
        </a:defRPr>
      </a:lvl5pPr>
      <a:lvl6pPr marL="457200" algn="ctr" rtl="0" fontAlgn="base">
        <a:spcBef>
          <a:spcPct val="0"/>
        </a:spcBef>
        <a:spcAft>
          <a:spcPct val="0"/>
        </a:spcAft>
        <a:defRPr sz="4400">
          <a:solidFill>
            <a:schemeClr val="tx1"/>
          </a:solidFill>
          <a:latin typeface="Calibri" panose="020F0502020204030204" pitchFamily="34" charset="0"/>
        </a:defRPr>
      </a:lvl6pPr>
      <a:lvl7pPr marL="914400" algn="ctr" rtl="0" fontAlgn="base">
        <a:spcBef>
          <a:spcPct val="0"/>
        </a:spcBef>
        <a:spcAft>
          <a:spcPct val="0"/>
        </a:spcAft>
        <a:defRPr sz="4400">
          <a:solidFill>
            <a:schemeClr val="tx1"/>
          </a:solidFill>
          <a:latin typeface="Calibri" panose="020F0502020204030204" pitchFamily="34" charset="0"/>
        </a:defRPr>
      </a:lvl7pPr>
      <a:lvl8pPr marL="1371600" algn="ctr" rtl="0" fontAlgn="base">
        <a:spcBef>
          <a:spcPct val="0"/>
        </a:spcBef>
        <a:spcAft>
          <a:spcPct val="0"/>
        </a:spcAft>
        <a:defRPr sz="4400">
          <a:solidFill>
            <a:schemeClr val="tx1"/>
          </a:solidFill>
          <a:latin typeface="Calibri" panose="020F0502020204030204" pitchFamily="34" charset="0"/>
        </a:defRPr>
      </a:lvl8pPr>
      <a:lvl9pPr marL="1828800" algn="ctr" rtl="0" fontAlgn="base">
        <a:spcBef>
          <a:spcPct val="0"/>
        </a:spcBef>
        <a:spcAft>
          <a:spcPct val="0"/>
        </a:spcAft>
        <a:defRPr sz="4400">
          <a:solidFill>
            <a:schemeClr val="tx1"/>
          </a:solidFill>
          <a:latin typeface="Calibri" panose="020F0502020204030204" pitchFamily="34"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2.pn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2.png"/><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1.png"/></Relationships>
</file>

<file path=ppt/slides/_rels/slide4.xml.rels><?xml version="1.0" encoding="UTF-8" standalone="yes"?>
<Relationships xmlns="http://schemas.openxmlformats.org/package/2006/relationships"><Relationship Id="rId6" Type="http://schemas.openxmlformats.org/officeDocument/2006/relationships/vmlDrawing" Target="../drawings/vmlDrawing1.vml"/><Relationship Id="rId5" Type="http://schemas.openxmlformats.org/officeDocument/2006/relationships/slideLayout" Target="../slideLayouts/slideLayout1.xml"/><Relationship Id="rId4" Type="http://schemas.openxmlformats.org/officeDocument/2006/relationships/image" Target="../media/image4.wmf"/><Relationship Id="rId3" Type="http://schemas.openxmlformats.org/officeDocument/2006/relationships/oleObject" Target="../embeddings/oleObject1.bin"/><Relationship Id="rId2" Type="http://schemas.openxmlformats.org/officeDocument/2006/relationships/image" Target="../media/image2.png"/><Relationship Id="rId1" Type="http://schemas.openxmlformats.org/officeDocument/2006/relationships/image" Target="../media/image1.png"/></Relationships>
</file>

<file path=ppt/slides/_rels/slide5.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hyperlink" Target="https://www.geeksforgeeks.org/machine-learning/linear-separability-with-python/" TargetMode="External"/><Relationship Id="rId4" Type="http://schemas.openxmlformats.org/officeDocument/2006/relationships/hyperlink" Target="https://www.geeksforgeeks.org/maths/covariance-matrix/" TargetMode="External"/><Relationship Id="rId3" Type="http://schemas.openxmlformats.org/officeDocument/2006/relationships/hyperlink" Target="https://www.geeksforgeeks.org/machine-learning/gaussian-distribution-in-machine-learning/" TargetMode="External"/><Relationship Id="rId2" Type="http://schemas.openxmlformats.org/officeDocument/2006/relationships/image" Target="../media/image2.png"/><Relationship Id="rId1" Type="http://schemas.openxmlformats.org/officeDocument/2006/relationships/image" Target="../media/image1.png"/></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2.png"/><Relationship Id="rId1" Type="http://schemas.openxmlformats.org/officeDocument/2006/relationships/image" Target="../media/image1.png"/></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2.png"/><Relationship Id="rId1" Type="http://schemas.openxmlformats.org/officeDocument/2006/relationships/image" Target="../media/image1.png"/></Relationships>
</file>

<file path=ppt/slides/_rels/slide8.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image" Target="../media/image1.png"/></Relationships>
</file>

<file path=ppt/slides/_rels/slide9.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6.png"/><Relationship Id="rId2" Type="http://schemas.openxmlformats.org/officeDocument/2006/relationships/image" Target="../media/image2.png"/><Relationship Id="rId1" Type="http://schemas.openxmlformats.org/officeDocument/2006/relationships/image" Target="../media/image1.png"/></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2.png"/><Relationship Id="rId1" Type="http://schemas.openxmlformats.org/officeDocument/2006/relationships/image" Target="../media/image1.png"/></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2.png"/><Relationship Id="rId1" Type="http://schemas.openxmlformats.org/officeDocument/2006/relationships/image" Target="../media/image1.png"/></Relationships>
</file>

<file path=ppt/slides/_rels/slide12.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7.jpeg"/><Relationship Id="rId2" Type="http://schemas.openxmlformats.org/officeDocument/2006/relationships/image" Target="../media/image2.png"/><Relationship Id="rId1" Type="http://schemas.openxmlformats.org/officeDocument/2006/relationships/image" Target="../media/image1.png"/></Relationships>
</file>

<file path=ppt/slides/_rels/slide13.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8.png"/><Relationship Id="rId2" Type="http://schemas.openxmlformats.org/officeDocument/2006/relationships/image" Target="../media/image2.png"/><Relationship Id="rId1" Type="http://schemas.openxmlformats.org/officeDocument/2006/relationships/image" Target="../media/image1.png"/></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2.png"/><Relationship Id="rId1" Type="http://schemas.openxmlformats.org/officeDocument/2006/relationships/image" Target="../media/image1.png"/></Relationships>
</file>

<file path=ppt/slides/_rels/slide15.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9.png"/><Relationship Id="rId2" Type="http://schemas.openxmlformats.org/officeDocument/2006/relationships/image" Target="../media/image2.png"/><Relationship Id="rId1" Type="http://schemas.openxmlformats.org/officeDocument/2006/relationships/image" Target="../media/image1.png"/></Relationships>
</file>

<file path=ppt/slides/_rels/slide16.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10.png"/><Relationship Id="rId2" Type="http://schemas.openxmlformats.org/officeDocument/2006/relationships/image" Target="../media/image2.png"/><Relationship Id="rId1" Type="http://schemas.openxmlformats.org/officeDocument/2006/relationships/image" Target="../media/image1.png"/></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2.png"/><Relationship Id="rId1" Type="http://schemas.openxmlformats.org/officeDocument/2006/relationships/image" Target="../media/image1.png"/></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2.png"/><Relationship Id="rId1" Type="http://schemas.openxmlformats.org/officeDocument/2006/relationships/image" Target="../media/image1.png"/></Relationships>
</file>

<file path=ppt/slides/_rels/slide19.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11.png"/><Relationship Id="rId2" Type="http://schemas.openxmlformats.org/officeDocument/2006/relationships/image" Target="../media/image2.png"/><Relationship Id="rId1" Type="http://schemas.openxmlformats.org/officeDocument/2006/relationships/image" Target="../media/image1.png"/></Relationships>
</file>

<file path=ppt/slides/_rels/slide20.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12.png"/><Relationship Id="rId2" Type="http://schemas.openxmlformats.org/officeDocument/2006/relationships/image" Target="../media/image2.png"/><Relationship Id="rId1" Type="http://schemas.openxmlformats.org/officeDocument/2006/relationships/image" Target="../media/image1.png"/></Relationships>
</file>

<file path=ppt/slides/_rels/slide21.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13.png"/><Relationship Id="rId2" Type="http://schemas.openxmlformats.org/officeDocument/2006/relationships/image" Target="../media/image2.png"/><Relationship Id="rId1" Type="http://schemas.openxmlformats.org/officeDocument/2006/relationships/image" Target="../media/image1.png"/></Relationships>
</file>

<file path=ppt/slides/_rels/slide22.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14.png"/><Relationship Id="rId2" Type="http://schemas.openxmlformats.org/officeDocument/2006/relationships/image" Target="../media/image2.png"/><Relationship Id="rId1" Type="http://schemas.openxmlformats.org/officeDocument/2006/relationships/image" Target="../media/image1.png"/></Relationships>
</file>

<file path=ppt/slides/_rels/slide23.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15.png"/><Relationship Id="rId2" Type="http://schemas.openxmlformats.org/officeDocument/2006/relationships/image" Target="../media/image2.png"/><Relationship Id="rId1" Type="http://schemas.openxmlformats.org/officeDocument/2006/relationships/image" Target="../media/image1.png"/></Relationships>
</file>

<file path=ppt/slides/_rels/slide24.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2.png"/><Relationship Id="rId1" Type="http://schemas.openxmlformats.org/officeDocument/2006/relationships/image" Target="../media/image1.png"/></Relationships>
</file>

<file path=ppt/slides/_rels/slide25.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16.png"/><Relationship Id="rId2" Type="http://schemas.openxmlformats.org/officeDocument/2006/relationships/image" Target="../media/image2.png"/><Relationship Id="rId1" Type="http://schemas.openxmlformats.org/officeDocument/2006/relationships/image" Target="../media/image1.png"/></Relationships>
</file>

<file path=ppt/slides/_rels/slide26.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17.png"/><Relationship Id="rId2" Type="http://schemas.openxmlformats.org/officeDocument/2006/relationships/image" Target="../media/image2.png"/><Relationship Id="rId1" Type="http://schemas.openxmlformats.org/officeDocument/2006/relationships/image" Target="../media/image1.png"/></Relationships>
</file>

<file path=ppt/slides/_rels/slide27.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2.png"/><Relationship Id="rId1" Type="http://schemas.openxmlformats.org/officeDocument/2006/relationships/image" Target="../media/image1.png"/></Relationships>
</file>

<file path=ppt/slides/_rels/slide28.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2.png"/><Relationship Id="rId1" Type="http://schemas.openxmlformats.org/officeDocument/2006/relationships/image" Target="../media/image1.png"/></Relationships>
</file>

<file path=ppt/slides/_rels/slide29.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2.png"/><Relationship Id="rId1" Type="http://schemas.openxmlformats.org/officeDocument/2006/relationships/image" Target="../media/image1.png"/></Relationships>
</file>

<file path=ppt/slides/_rels/slide30.xml.rels><?xml version="1.0" encoding="UTF-8" standalone="yes"?>
<Relationships xmlns="http://schemas.openxmlformats.org/package/2006/relationships"><Relationship Id="rId6" Type="http://schemas.openxmlformats.org/officeDocument/2006/relationships/vmlDrawing" Target="../drawings/vmlDrawing2.vml"/><Relationship Id="rId5" Type="http://schemas.openxmlformats.org/officeDocument/2006/relationships/slideLayout" Target="../slideLayouts/slideLayout1.xml"/><Relationship Id="rId4" Type="http://schemas.openxmlformats.org/officeDocument/2006/relationships/image" Target="../media/image18.wmf"/><Relationship Id="rId3" Type="http://schemas.openxmlformats.org/officeDocument/2006/relationships/oleObject" Target="../embeddings/oleObject2.bin"/><Relationship Id="rId2" Type="http://schemas.openxmlformats.org/officeDocument/2006/relationships/image" Target="../media/image2.png"/><Relationship Id="rId1" Type="http://schemas.openxmlformats.org/officeDocument/2006/relationships/image" Target="../media/image1.png"/></Relationships>
</file>

<file path=ppt/slides/_rels/slide31.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19.png"/><Relationship Id="rId2" Type="http://schemas.openxmlformats.org/officeDocument/2006/relationships/image" Target="../media/image2.png"/><Relationship Id="rId1" Type="http://schemas.openxmlformats.org/officeDocument/2006/relationships/image" Target="../media/image1.png"/></Relationships>
</file>

<file path=ppt/slides/_rels/slide32.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2.png"/><Relationship Id="rId1" Type="http://schemas.openxmlformats.org/officeDocument/2006/relationships/image" Target="../media/image1.png"/></Relationships>
</file>

<file path=ppt/slides/_rels/slide33.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20.png"/><Relationship Id="rId2" Type="http://schemas.openxmlformats.org/officeDocument/2006/relationships/image" Target="../media/image2.png"/><Relationship Id="rId1" Type="http://schemas.openxmlformats.org/officeDocument/2006/relationships/image" Target="../media/image1.png"/></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30" name="Picture 6" descr="SRKR"/>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6377" y="228600"/>
            <a:ext cx="3429000" cy="838201"/>
          </a:xfrm>
          <a:prstGeom prst="rect">
            <a:avLst/>
          </a:prstGeom>
          <a:noFill/>
          <a:extLst>
            <a:ext uri="{909E8E84-426E-40DD-AFC4-6F175D3DCCD1}">
              <a14:hiddenFill xmlns:a14="http://schemas.microsoft.com/office/drawing/2010/main">
                <a:solidFill>
                  <a:srgbClr val="FFFFFF"/>
                </a:solidFill>
              </a14:hiddenFill>
            </a:ext>
          </a:extLst>
        </p:spPr>
      </p:pic>
      <p:sp>
        <p:nvSpPr>
          <p:cNvPr id="11" name="Subtitle 2"/>
          <p:cNvSpPr>
            <a:spLocks noGrp="1"/>
          </p:cNvSpPr>
          <p:nvPr>
            <p:ph type="subTitle" idx="1"/>
          </p:nvPr>
        </p:nvSpPr>
        <p:spPr>
          <a:xfrm>
            <a:off x="1295400" y="2133600"/>
            <a:ext cx="6400800" cy="609600"/>
          </a:xfrm>
        </p:spPr>
        <p:txBody>
          <a:bodyPr/>
          <a:lstStyle/>
          <a:p>
            <a:r>
              <a:rPr lang="en-IN" sz="4300" b="1" dirty="0">
                <a:solidFill>
                  <a:srgbClr val="FF0000"/>
                </a:solidFill>
                <a:latin typeface="Times New Roman" panose="02020603050405020304" pitchFamily="18" charset="0"/>
                <a:ea typeface="+mj-ea"/>
                <a:cs typeface="Times New Roman" panose="02020603050405020304" pitchFamily="18" charset="0"/>
              </a:rPr>
              <a:t>MACHINE LEARNING</a:t>
            </a:r>
            <a:endParaRPr lang="en-IN" sz="4300" b="1" dirty="0">
              <a:solidFill>
                <a:srgbClr val="FF0000"/>
              </a:solidFill>
              <a:latin typeface="Times New Roman" panose="02020603050405020304" pitchFamily="18" charset="0"/>
              <a:ea typeface="+mj-ea"/>
              <a:cs typeface="Times New Roman" panose="02020603050405020304" pitchFamily="18" charset="0"/>
            </a:endParaRPr>
          </a:p>
        </p:txBody>
      </p:sp>
      <p:sp>
        <p:nvSpPr>
          <p:cNvPr id="7" name="Rectangle 6"/>
          <p:cNvSpPr/>
          <p:nvPr/>
        </p:nvSpPr>
        <p:spPr>
          <a:xfrm>
            <a:off x="304800" y="3222094"/>
            <a:ext cx="8382000" cy="2519680"/>
          </a:xfrm>
          <a:prstGeom prst="rect">
            <a:avLst/>
          </a:prstGeom>
        </p:spPr>
        <p:txBody>
          <a:bodyPr wrap="square">
            <a:spAutoFit/>
          </a:bodyPr>
          <a:lstStyle/>
          <a:p>
            <a:pPr algn="ctr">
              <a:lnSpc>
                <a:spcPct val="107000"/>
              </a:lnSpc>
              <a:spcAft>
                <a:spcPts val="800"/>
              </a:spcAft>
            </a:pPr>
            <a:r>
              <a:rPr lang="en-IN" sz="3600" b="1" dirty="0" smtClean="0">
                <a:solidFill>
                  <a:srgbClr val="00B050"/>
                </a:solidFill>
                <a:latin typeface="Calibri" panose="020F0502020204030204" pitchFamily="34" charset="0"/>
                <a:ea typeface="Calibri" panose="020F0502020204030204" pitchFamily="34" charset="0"/>
                <a:cs typeface="Times New Roman" panose="02020603050405020304" pitchFamily="18" charset="0"/>
              </a:rPr>
              <a:t>I</a:t>
            </a:r>
            <a:r>
              <a:rPr lang="en-US" altLang="en-IN" sz="3600" b="1" dirty="0" smtClean="0">
                <a:solidFill>
                  <a:srgbClr val="00B050"/>
                </a:solidFill>
                <a:latin typeface="Calibri" panose="020F0502020204030204" pitchFamily="34" charset="0"/>
                <a:ea typeface="Calibri" panose="020F0502020204030204" pitchFamily="34" charset="0"/>
                <a:cs typeface="Times New Roman" panose="02020603050405020304" pitchFamily="18" charset="0"/>
              </a:rPr>
              <a:t>II</a:t>
            </a:r>
            <a:r>
              <a:rPr lang="en-IN" sz="4000" b="1" dirty="0" smtClean="0">
                <a:solidFill>
                  <a:srgbClr val="00B050"/>
                </a:solidFill>
                <a:latin typeface="Calibri" panose="020F0502020204030204" pitchFamily="34" charset="0"/>
                <a:ea typeface="Calibri" panose="020F0502020204030204" pitchFamily="34" charset="0"/>
                <a:cs typeface="Times New Roman" panose="02020603050405020304" pitchFamily="18" charset="0"/>
              </a:rPr>
              <a:t>-I  </a:t>
            </a:r>
            <a:r>
              <a:rPr lang="en-US" sz="4000" b="1" dirty="0" smtClean="0">
                <a:solidFill>
                  <a:srgbClr val="00B050"/>
                </a:solidFill>
                <a:effectLst/>
                <a:latin typeface="Calibri" panose="020F0502020204030204" pitchFamily="34" charset="0"/>
                <a:ea typeface="Calibri" panose="020F0502020204030204" pitchFamily="34" charset="0"/>
                <a:cs typeface="Times New Roman" panose="02020603050405020304" pitchFamily="18" charset="0"/>
              </a:rPr>
              <a:t>CIC</a:t>
            </a:r>
            <a:endParaRPr lang="en-US" sz="4000" b="1" dirty="0" smtClean="0">
              <a:solidFill>
                <a:srgbClr val="00B050"/>
              </a:solidFill>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7000"/>
              </a:lnSpc>
              <a:spcAft>
                <a:spcPts val="800"/>
              </a:spcAft>
            </a:pPr>
            <a:r>
              <a:rPr lang="en-US" sz="2400" b="1" dirty="0" smtClean="0">
                <a:solidFill>
                  <a:srgbClr val="00B050"/>
                </a:solidFill>
                <a:latin typeface="Calibri" panose="020F0502020204030204" pitchFamily="34" charset="0"/>
                <a:ea typeface="Calibri" panose="020F0502020204030204" pitchFamily="34" charset="0"/>
                <a:cs typeface="Times New Roman" panose="02020603050405020304" pitchFamily="18" charset="0"/>
              </a:rPr>
              <a:t>BY</a:t>
            </a:r>
            <a:endParaRPr lang="en-US" sz="2400" b="1" dirty="0" smtClean="0">
              <a:solidFill>
                <a:srgbClr val="00B050"/>
              </a:solidFill>
              <a:latin typeface="Calibri" panose="020F0502020204030204" pitchFamily="34" charset="0"/>
              <a:ea typeface="Calibri" panose="020F0502020204030204" pitchFamily="34" charset="0"/>
              <a:cs typeface="Times New Roman" panose="02020603050405020304" pitchFamily="18" charset="0"/>
            </a:endParaRPr>
          </a:p>
          <a:p>
            <a:pPr algn="ctr">
              <a:spcAft>
                <a:spcPts val="0"/>
              </a:spcAft>
            </a:pPr>
            <a:r>
              <a:rPr lang="en-US" sz="3600" b="1" dirty="0" err="1" smtClean="0">
                <a:solidFill>
                  <a:srgbClr val="FF33CC"/>
                </a:solidFill>
                <a:effectLst/>
                <a:latin typeface="Calibri" panose="020F0502020204030204" pitchFamily="34" charset="0"/>
                <a:ea typeface="Calibri" panose="020F0502020204030204" pitchFamily="34" charset="0"/>
                <a:cs typeface="Times New Roman" panose="02020603050405020304" pitchFamily="18" charset="0"/>
              </a:rPr>
              <a:t>Dr</a:t>
            </a:r>
            <a:r>
              <a:rPr lang="en-US" sz="3600" b="1" dirty="0" smtClean="0">
                <a:solidFill>
                  <a:srgbClr val="FF33CC"/>
                </a:solidFill>
                <a:effectLst/>
                <a:latin typeface="Calibri" panose="020F0502020204030204" pitchFamily="34" charset="0"/>
                <a:ea typeface="Calibri" panose="020F0502020204030204" pitchFamily="34" charset="0"/>
                <a:cs typeface="Times New Roman" panose="02020603050405020304" pitchFamily="18" charset="0"/>
              </a:rPr>
              <a:t> K </a:t>
            </a:r>
            <a:r>
              <a:rPr lang="en-US" sz="3600" b="1" dirty="0" err="1" smtClean="0">
                <a:solidFill>
                  <a:srgbClr val="FF33CC"/>
                </a:solidFill>
                <a:effectLst/>
                <a:latin typeface="Calibri" panose="020F0502020204030204" pitchFamily="34" charset="0"/>
                <a:ea typeface="Calibri" panose="020F0502020204030204" pitchFamily="34" charset="0"/>
                <a:cs typeface="Times New Roman" panose="02020603050405020304" pitchFamily="18" charset="0"/>
              </a:rPr>
              <a:t>Venkata</a:t>
            </a:r>
            <a:r>
              <a:rPr lang="en-US" sz="3600" b="1" dirty="0" smtClean="0">
                <a:solidFill>
                  <a:srgbClr val="FF33CC"/>
                </a:solidFill>
                <a:effectLst/>
                <a:latin typeface="Calibri" panose="020F0502020204030204" pitchFamily="34" charset="0"/>
                <a:ea typeface="Calibri" panose="020F0502020204030204" pitchFamily="34" charset="0"/>
                <a:cs typeface="Times New Roman" panose="02020603050405020304" pitchFamily="18" charset="0"/>
              </a:rPr>
              <a:t> </a:t>
            </a:r>
            <a:r>
              <a:rPr lang="en-US" sz="3600" b="1" dirty="0" err="1" smtClean="0">
                <a:solidFill>
                  <a:srgbClr val="FF33CC"/>
                </a:solidFill>
                <a:effectLst/>
                <a:latin typeface="Calibri" panose="020F0502020204030204" pitchFamily="34" charset="0"/>
                <a:ea typeface="Calibri" panose="020F0502020204030204" pitchFamily="34" charset="0"/>
                <a:cs typeface="Times New Roman" panose="02020603050405020304" pitchFamily="18" charset="0"/>
              </a:rPr>
              <a:t>Nagendra</a:t>
            </a:r>
            <a:r>
              <a:rPr lang="en-US" sz="3600" b="1" dirty="0" smtClean="0">
                <a:solidFill>
                  <a:srgbClr val="FF33CC"/>
                </a:solidFill>
                <a:effectLst/>
                <a:latin typeface="Calibri" panose="020F0502020204030204" pitchFamily="34" charset="0"/>
                <a:ea typeface="Calibri" panose="020F0502020204030204" pitchFamily="34" charset="0"/>
                <a:cs typeface="Times New Roman" panose="02020603050405020304" pitchFamily="18" charset="0"/>
              </a:rPr>
              <a:t>,</a:t>
            </a:r>
            <a:endParaRPr lang="en-US" sz="3600" b="1" dirty="0" smtClean="0">
              <a:solidFill>
                <a:srgbClr val="FF33CC"/>
              </a:solidFill>
              <a:effectLst/>
              <a:latin typeface="Calibri" panose="020F0502020204030204" pitchFamily="34" charset="0"/>
              <a:ea typeface="Calibri" panose="020F0502020204030204" pitchFamily="34" charset="0"/>
              <a:cs typeface="Times New Roman" panose="02020603050405020304" pitchFamily="18" charset="0"/>
            </a:endParaRPr>
          </a:p>
          <a:p>
            <a:pPr algn="ctr">
              <a:spcAft>
                <a:spcPts val="0"/>
              </a:spcAft>
            </a:pPr>
            <a:r>
              <a:rPr lang="en-US" sz="2400" b="1" dirty="0">
                <a:solidFill>
                  <a:srgbClr val="00B050"/>
                </a:solidFill>
                <a:latin typeface="Calibri" panose="020F0502020204030204" pitchFamily="34" charset="0"/>
                <a:ea typeface="Calibri" panose="020F0502020204030204" pitchFamily="34" charset="0"/>
                <a:cs typeface="Times New Roman" panose="02020603050405020304" pitchFamily="18" charset="0"/>
              </a:rPr>
              <a:t> </a:t>
            </a:r>
            <a:r>
              <a:rPr lang="en-US" sz="2400" b="1" dirty="0" smtClean="0">
                <a:solidFill>
                  <a:srgbClr val="00B050"/>
                </a:solidFill>
                <a:latin typeface="Calibri" panose="020F0502020204030204" pitchFamily="34" charset="0"/>
                <a:ea typeface="Calibri" panose="020F0502020204030204" pitchFamily="34" charset="0"/>
                <a:cs typeface="Times New Roman" panose="02020603050405020304" pitchFamily="18" charset="0"/>
              </a:rPr>
              <a:t>                                                         </a:t>
            </a:r>
            <a:r>
              <a:rPr lang="en-US" sz="1600" b="1" dirty="0" err="1" smtClean="0">
                <a:solidFill>
                  <a:srgbClr val="00B050"/>
                </a:solidFill>
                <a:latin typeface="Calibri" panose="020F0502020204030204" pitchFamily="34" charset="0"/>
                <a:ea typeface="Calibri" panose="020F0502020204030204" pitchFamily="34" charset="0"/>
                <a:cs typeface="Times New Roman" panose="02020603050405020304" pitchFamily="18" charset="0"/>
              </a:rPr>
              <a:t>M.Tech</a:t>
            </a:r>
            <a:r>
              <a:rPr lang="en-US" sz="1600" b="1" dirty="0" smtClean="0">
                <a:solidFill>
                  <a:srgbClr val="00B050"/>
                </a:solidFill>
                <a:latin typeface="Calibri" panose="020F0502020204030204" pitchFamily="34" charset="0"/>
                <a:ea typeface="Calibri" panose="020F0502020204030204" pitchFamily="34" charset="0"/>
                <a:cs typeface="Times New Roman" panose="02020603050405020304" pitchFamily="18" charset="0"/>
              </a:rPr>
              <a:t>, </a:t>
            </a:r>
            <a:r>
              <a:rPr lang="en-US" sz="1600" b="1" dirty="0" err="1" smtClean="0">
                <a:solidFill>
                  <a:srgbClr val="00B050"/>
                </a:solidFill>
                <a:latin typeface="Calibri" panose="020F0502020204030204" pitchFamily="34" charset="0"/>
                <a:ea typeface="Calibri" panose="020F0502020204030204" pitchFamily="34" charset="0"/>
                <a:cs typeface="Times New Roman" panose="02020603050405020304" pitchFamily="18" charset="0"/>
              </a:rPr>
              <a:t>Ph.D</a:t>
            </a:r>
            <a:r>
              <a:rPr lang="en-US" sz="1600" b="1" dirty="0" smtClean="0">
                <a:solidFill>
                  <a:srgbClr val="00B050"/>
                </a:solidFill>
                <a:latin typeface="Calibri" panose="020F0502020204030204" pitchFamily="34" charset="0"/>
                <a:ea typeface="Calibri" panose="020F0502020204030204" pitchFamily="34" charset="0"/>
                <a:cs typeface="Times New Roman" panose="02020603050405020304" pitchFamily="18" charset="0"/>
              </a:rPr>
              <a:t>, PDF.</a:t>
            </a:r>
            <a:endParaRPr lang="en-US" sz="1600" b="1" dirty="0" smtClean="0">
              <a:solidFill>
                <a:srgbClr val="00B050"/>
              </a:solidFill>
              <a:latin typeface="Calibri" panose="020F0502020204030204" pitchFamily="34" charset="0"/>
              <a:ea typeface="Calibri" panose="020F0502020204030204" pitchFamily="34" charset="0"/>
              <a:cs typeface="Times New Roman" panose="02020603050405020304" pitchFamily="18" charset="0"/>
            </a:endParaRPr>
          </a:p>
          <a:p>
            <a:pPr algn="ctr">
              <a:spcAft>
                <a:spcPts val="0"/>
              </a:spcAft>
            </a:pPr>
            <a:r>
              <a:rPr lang="en-US" sz="1600" b="1" dirty="0" smtClean="0">
                <a:effectLst/>
                <a:latin typeface="Calibri" panose="020F0502020204030204" pitchFamily="34" charset="0"/>
                <a:ea typeface="Calibri" panose="020F0502020204030204" pitchFamily="34" charset="0"/>
                <a:cs typeface="Times New Roman" panose="02020603050405020304" pitchFamily="18" charset="0"/>
              </a:rPr>
              <a:t>Associate Professor,  </a:t>
            </a:r>
            <a:r>
              <a:rPr lang="en-US" sz="1600" b="1" dirty="0" err="1" smtClean="0">
                <a:effectLst/>
                <a:latin typeface="Calibri" panose="020F0502020204030204" pitchFamily="34" charset="0"/>
                <a:ea typeface="Calibri" panose="020F0502020204030204" pitchFamily="34" charset="0"/>
                <a:cs typeface="Times New Roman" panose="02020603050405020304" pitchFamily="18" charset="0"/>
              </a:rPr>
              <a:t>Dept.of</a:t>
            </a:r>
            <a:r>
              <a:rPr lang="en-US" sz="1600" b="1" dirty="0" smtClean="0">
                <a:effectLst/>
                <a:latin typeface="Calibri" panose="020F0502020204030204" pitchFamily="34" charset="0"/>
                <a:ea typeface="Calibri" panose="020F0502020204030204" pitchFamily="34" charset="0"/>
                <a:cs typeface="Times New Roman" panose="02020603050405020304" pitchFamily="18" charset="0"/>
              </a:rPr>
              <a:t> CSE.</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8" name="Picture 7"/>
          <p:cNvPicPr>
            <a:picLocks noChangeAspect="1"/>
          </p:cNvPicPr>
          <p:nvPr/>
        </p:nvPicPr>
        <p:blipFill>
          <a:blip r:embed="rId2"/>
          <a:stretch>
            <a:fillRect/>
          </a:stretch>
        </p:blipFill>
        <p:spPr>
          <a:xfrm>
            <a:off x="4038600" y="304800"/>
            <a:ext cx="4267200" cy="762001"/>
          </a:xfrm>
          <a:prstGeom prst="rect">
            <a:avLst/>
          </a:prstGeom>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30" name="Picture 6" descr="SRKR"/>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6377" y="228600"/>
            <a:ext cx="3429000" cy="838201"/>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p:cNvPicPr>
            <a:picLocks noChangeAspect="1"/>
          </p:cNvPicPr>
          <p:nvPr/>
        </p:nvPicPr>
        <p:blipFill>
          <a:blip r:embed="rId2"/>
          <a:stretch>
            <a:fillRect/>
          </a:stretch>
        </p:blipFill>
        <p:spPr>
          <a:xfrm>
            <a:off x="4038600" y="304800"/>
            <a:ext cx="4267200" cy="762001"/>
          </a:xfrm>
          <a:prstGeom prst="rect">
            <a:avLst/>
          </a:prstGeom>
        </p:spPr>
      </p:pic>
      <p:sp>
        <p:nvSpPr>
          <p:cNvPr id="2" name="Rectangle 1"/>
          <p:cNvSpPr/>
          <p:nvPr/>
        </p:nvSpPr>
        <p:spPr>
          <a:xfrm>
            <a:off x="304800" y="1600274"/>
            <a:ext cx="8382000" cy="981487"/>
          </a:xfrm>
          <a:prstGeom prst="rect">
            <a:avLst/>
          </a:prstGeom>
        </p:spPr>
        <p:txBody>
          <a:bodyPr wrap="square">
            <a:spAutoFit/>
          </a:bodyPr>
          <a:lstStyle/>
          <a:p>
            <a:pPr algn="ctr">
              <a:lnSpc>
                <a:spcPct val="107000"/>
              </a:lnSpc>
              <a:spcAft>
                <a:spcPts val="0"/>
              </a:spcAft>
            </a:pPr>
            <a:r>
              <a:rPr lang="en-IN" sz="3600" b="1" dirty="0" smtClean="0">
                <a:solidFill>
                  <a:srgbClr val="00B0F0"/>
                </a:solidFill>
                <a:latin typeface="Times New Roman" panose="02020603050405020304" pitchFamily="18" charset="0"/>
                <a:ea typeface="Calibri" panose="020F0502020204030204" pitchFamily="34" charset="0"/>
                <a:cs typeface="Times New Roman" panose="02020603050405020304" pitchFamily="18" charset="0"/>
              </a:rPr>
              <a:t>UNIT-IV  </a:t>
            </a:r>
            <a:endParaRPr lang="en-IN" sz="3200" dirty="0">
              <a:solidFill>
                <a:srgbClr val="00B0F0"/>
              </a:solidFill>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07000"/>
              </a:lnSpc>
              <a:spcAft>
                <a:spcPts val="0"/>
              </a:spcAft>
            </a:pPr>
            <a:r>
              <a:rPr lang="en-IN" dirty="0">
                <a:solidFill>
                  <a:srgbClr val="FF0000"/>
                </a:solidFill>
                <a:latin typeface="Times New Roman" panose="02020603050405020304" pitchFamily="18" charset="0"/>
                <a:ea typeface="Calibri" panose="020F0502020204030204" pitchFamily="34" charset="0"/>
                <a:cs typeface="Times New Roman" panose="02020603050405020304" pitchFamily="18" charset="0"/>
              </a:rPr>
              <a:t> </a:t>
            </a:r>
            <a:endParaRPr lang="en-IN" sz="1600" dirty="0">
              <a:solidFill>
                <a:srgbClr val="FF0000"/>
              </a:solidFill>
              <a:latin typeface="Times New Roman" panose="02020603050405020304" pitchFamily="18" charset="0"/>
              <a:ea typeface="Calibri" panose="020F0502020204030204" pitchFamily="34" charset="0"/>
              <a:cs typeface="Times New Roman" panose="02020603050405020304" pitchFamily="18" charset="0"/>
            </a:endParaRPr>
          </a:p>
        </p:txBody>
      </p:sp>
      <p:sp>
        <p:nvSpPr>
          <p:cNvPr id="7" name="Footer Placeholder 3"/>
          <p:cNvSpPr>
            <a:spLocks noGrp="1"/>
          </p:cNvSpPr>
          <p:nvPr>
            <p:ph type="ftr" sz="quarter" idx="11"/>
          </p:nvPr>
        </p:nvSpPr>
        <p:spPr>
          <a:xfrm>
            <a:off x="1905000" y="6400800"/>
            <a:ext cx="5486400" cy="365125"/>
          </a:xfrm>
        </p:spPr>
        <p:txBody>
          <a:bodyPr/>
          <a:lstStyle/>
          <a:p>
            <a:pPr>
              <a:defRPr/>
            </a:pPr>
            <a:r>
              <a:rPr lang="en-US" sz="1600" b="1" dirty="0" err="1" smtClean="0">
                <a:solidFill>
                  <a:srgbClr val="7030A0"/>
                </a:solidFill>
              </a:rPr>
              <a:t>Dr.K.Venkata</a:t>
            </a:r>
            <a:r>
              <a:rPr lang="en-US" sz="1600" b="1" dirty="0" smtClean="0">
                <a:solidFill>
                  <a:srgbClr val="7030A0"/>
                </a:solidFill>
              </a:rPr>
              <a:t> </a:t>
            </a:r>
            <a:r>
              <a:rPr lang="en-US" sz="1600" b="1" dirty="0" err="1" smtClean="0">
                <a:solidFill>
                  <a:srgbClr val="7030A0"/>
                </a:solidFill>
              </a:rPr>
              <a:t>Nagendra</a:t>
            </a:r>
            <a:r>
              <a:rPr lang="en-US" b="1" dirty="0" smtClean="0"/>
              <a:t>, </a:t>
            </a:r>
            <a:r>
              <a:rPr lang="en-US" b="1" dirty="0" err="1" smtClean="0">
                <a:solidFill>
                  <a:schemeClr val="tx1"/>
                </a:solidFill>
              </a:rPr>
              <a:t>M.Tech,Ph.D</a:t>
            </a:r>
            <a:r>
              <a:rPr lang="en-US" b="1" dirty="0" smtClean="0">
                <a:solidFill>
                  <a:schemeClr val="tx1"/>
                </a:solidFill>
              </a:rPr>
              <a:t>, PDF. Associate Professor, </a:t>
            </a:r>
            <a:r>
              <a:rPr lang="en-US" b="1" dirty="0" err="1" smtClean="0">
                <a:solidFill>
                  <a:schemeClr val="tx1"/>
                </a:solidFill>
              </a:rPr>
              <a:t>Dept</a:t>
            </a:r>
            <a:r>
              <a:rPr lang="en-US" b="1" dirty="0" smtClean="0">
                <a:solidFill>
                  <a:schemeClr val="tx1"/>
                </a:solidFill>
              </a:rPr>
              <a:t> of CSE.</a:t>
            </a:r>
            <a:endParaRPr lang="en-US" b="1" dirty="0">
              <a:solidFill>
                <a:schemeClr val="tx1"/>
              </a:solidFill>
            </a:endParaRPr>
          </a:p>
        </p:txBody>
      </p:sp>
      <p:sp>
        <p:nvSpPr>
          <p:cNvPr id="4" name="Rectangle 2"/>
          <p:cNvSpPr/>
          <p:nvPr/>
        </p:nvSpPr>
        <p:spPr>
          <a:xfrm>
            <a:off x="304800" y="2378710"/>
            <a:ext cx="8534400" cy="2434590"/>
          </a:xfrm>
          <a:prstGeom prst="rect">
            <a:avLst/>
          </a:prstGeom>
        </p:spPr>
        <p:txBody>
          <a:bodyPr wrap="square">
            <a:noAutofit/>
          </a:bodyPr>
          <a:lstStyle/>
          <a:p>
            <a:pPr indent="457200" algn="just">
              <a:lnSpc>
                <a:spcPct val="150000"/>
              </a:lnSpc>
              <a:spcAft>
                <a:spcPts val="0"/>
              </a:spcAft>
            </a:pPr>
            <a:r>
              <a:rPr lang="en-US" altLang="en-US" sz="2000" b="1" dirty="0">
                <a:effectLst/>
                <a:latin typeface="Calibri" panose="020F0502020204030204" pitchFamily="34" charset="0"/>
                <a:ea typeface="Calibri" panose="020F0502020204030204" pitchFamily="34" charset="0"/>
                <a:cs typeface="Times New Roman" panose="02020603050405020304" pitchFamily="18" charset="0"/>
              </a:rPr>
              <a:t>Linear Discriminants for Machine Learning:</a:t>
            </a:r>
            <a:r>
              <a:rPr lang="en-US" altLang="en-US" sz="2000" dirty="0">
                <a:effectLst/>
                <a:latin typeface="Calibri" panose="020F0502020204030204" pitchFamily="34" charset="0"/>
                <a:ea typeface="Calibri" panose="020F0502020204030204" pitchFamily="34" charset="0"/>
                <a:cs typeface="Times New Roman" panose="02020603050405020304" pitchFamily="18" charset="0"/>
              </a:rPr>
              <a:t> </a:t>
            </a:r>
            <a:endParaRPr lang="en-US" altLang="en-US" sz="2000" dirty="0">
              <a:effectLst/>
              <a:latin typeface="Calibri" panose="020F0502020204030204" pitchFamily="34" charset="0"/>
              <a:ea typeface="Calibri" panose="020F0502020204030204" pitchFamily="34" charset="0"/>
              <a:cs typeface="Times New Roman" panose="02020603050405020304" pitchFamily="18" charset="0"/>
            </a:endParaRPr>
          </a:p>
          <a:p>
            <a:pPr indent="457200" algn="just">
              <a:lnSpc>
                <a:spcPct val="150000"/>
              </a:lnSpc>
              <a:spcAft>
                <a:spcPts val="0"/>
              </a:spcAft>
            </a:pPr>
            <a:r>
              <a:rPr lang="en-US" altLang="en-US" sz="2000" dirty="0">
                <a:effectLst/>
                <a:latin typeface="Times New Roman" panose="02020603050405020304" pitchFamily="18" charset="0"/>
                <a:ea typeface="Calibri" panose="020F0502020204030204" pitchFamily="34" charset="0"/>
                <a:cs typeface="Times New Roman" panose="02020603050405020304" pitchFamily="18" charset="0"/>
              </a:rPr>
              <a:t>Introduction to Linear Discriminants, Linear Discriminants for Classification, Perceptron Classifier, Perceptron Learning Algorithm, </a:t>
            </a:r>
            <a:r>
              <a:rPr lang="en-US" altLang="en-US" sz="2000" b="1" dirty="0">
                <a:effectLst/>
                <a:latin typeface="Times New Roman" panose="02020603050405020304" pitchFamily="18" charset="0"/>
                <a:ea typeface="Calibri" panose="020F0502020204030204" pitchFamily="34" charset="0"/>
                <a:cs typeface="Times New Roman" panose="02020603050405020304" pitchFamily="18" charset="0"/>
              </a:rPr>
              <a:t>S</a:t>
            </a:r>
            <a:r>
              <a:rPr lang="en-US" altLang="en-US" sz="2000" dirty="0">
                <a:effectLst/>
                <a:latin typeface="Times New Roman" panose="02020603050405020304" pitchFamily="18" charset="0"/>
                <a:ea typeface="Calibri" panose="020F0502020204030204" pitchFamily="34" charset="0"/>
                <a:cs typeface="Times New Roman" panose="02020603050405020304" pitchFamily="18" charset="0"/>
              </a:rPr>
              <a:t>upport </a:t>
            </a:r>
            <a:r>
              <a:rPr lang="en-US" altLang="en-US" sz="2000" b="1" dirty="0">
                <a:effectLst/>
                <a:latin typeface="Times New Roman" panose="02020603050405020304" pitchFamily="18" charset="0"/>
                <a:ea typeface="Calibri" panose="020F0502020204030204" pitchFamily="34" charset="0"/>
                <a:cs typeface="Times New Roman" panose="02020603050405020304" pitchFamily="18" charset="0"/>
              </a:rPr>
              <a:t>V</a:t>
            </a:r>
            <a:r>
              <a:rPr lang="en-US" altLang="en-US" sz="2000" dirty="0">
                <a:effectLst/>
                <a:latin typeface="Times New Roman" panose="02020603050405020304" pitchFamily="18" charset="0"/>
                <a:ea typeface="Calibri" panose="020F0502020204030204" pitchFamily="34" charset="0"/>
                <a:cs typeface="Times New Roman" panose="02020603050405020304" pitchFamily="18" charset="0"/>
              </a:rPr>
              <a:t>ector </a:t>
            </a:r>
            <a:r>
              <a:rPr lang="en-US" altLang="en-US" sz="2000" b="1" dirty="0">
                <a:effectLst/>
                <a:latin typeface="Times New Roman" panose="02020603050405020304" pitchFamily="18" charset="0"/>
                <a:ea typeface="Calibri" panose="020F0502020204030204" pitchFamily="34" charset="0"/>
                <a:cs typeface="Times New Roman" panose="02020603050405020304" pitchFamily="18" charset="0"/>
              </a:rPr>
              <a:t>M</a:t>
            </a:r>
            <a:r>
              <a:rPr lang="en-US" altLang="en-US" sz="2000" dirty="0">
                <a:effectLst/>
                <a:latin typeface="Times New Roman" panose="02020603050405020304" pitchFamily="18" charset="0"/>
                <a:ea typeface="Calibri" panose="020F0502020204030204" pitchFamily="34" charset="0"/>
                <a:cs typeface="Times New Roman" panose="02020603050405020304" pitchFamily="18" charset="0"/>
              </a:rPr>
              <a:t>achines, Logistic Regression, Linear Regression, Multi-Layer Perceptrons (MLPs), Backpropagation for Training an MLP.</a:t>
            </a:r>
            <a:endParaRPr lang="en-US" altLang="en-US" sz="2000" dirty="0">
              <a:effectLst/>
              <a:latin typeface="Times New Roman" panose="02020603050405020304" pitchFamily="18" charset="0"/>
              <a:ea typeface="Calibri" panose="020F0502020204030204" pitchFamily="34" charset="0"/>
              <a:cs typeface="Times New Roman" panose="02020603050405020304" pitchFamily="18" charset="0"/>
            </a:endParaRPr>
          </a:p>
          <a:p>
            <a:pPr indent="457200" algn="just">
              <a:lnSpc>
                <a:spcPct val="150000"/>
              </a:lnSpc>
              <a:spcAft>
                <a:spcPts val="0"/>
              </a:spcAft>
            </a:pPr>
            <a:endParaRPr lang="en-US" altLang="en-US" sz="20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3"/>
          <p:cNvSpPr>
            <a:spLocks noGrp="1"/>
          </p:cNvSpPr>
          <p:nvPr>
            <p:ph type="ftr" sz="quarter" idx="11"/>
          </p:nvPr>
        </p:nvSpPr>
        <p:spPr>
          <a:xfrm>
            <a:off x="1905000" y="6400800"/>
            <a:ext cx="5486400" cy="365125"/>
          </a:xfrm>
        </p:spPr>
        <p:txBody>
          <a:bodyPr/>
          <a:lstStyle/>
          <a:p>
            <a:pPr>
              <a:defRPr/>
            </a:pPr>
            <a:r>
              <a:rPr lang="en-US" sz="1600" b="1" dirty="0" err="1" smtClean="0">
                <a:solidFill>
                  <a:srgbClr val="7030A0"/>
                </a:solidFill>
              </a:rPr>
              <a:t>Dr.K.Venkata</a:t>
            </a:r>
            <a:r>
              <a:rPr lang="en-US" sz="1600" b="1" dirty="0" smtClean="0">
                <a:solidFill>
                  <a:srgbClr val="7030A0"/>
                </a:solidFill>
              </a:rPr>
              <a:t> </a:t>
            </a:r>
            <a:r>
              <a:rPr lang="en-US" sz="1600" b="1" dirty="0" err="1" smtClean="0">
                <a:solidFill>
                  <a:srgbClr val="7030A0"/>
                </a:solidFill>
              </a:rPr>
              <a:t>Nagendra</a:t>
            </a:r>
            <a:r>
              <a:rPr lang="en-US" b="1" dirty="0" smtClean="0"/>
              <a:t>, </a:t>
            </a:r>
            <a:r>
              <a:rPr lang="en-US" b="1" dirty="0" err="1" smtClean="0">
                <a:solidFill>
                  <a:schemeClr val="tx1"/>
                </a:solidFill>
              </a:rPr>
              <a:t>M.Tech,Ph.D</a:t>
            </a:r>
            <a:r>
              <a:rPr lang="en-US" b="1" dirty="0" smtClean="0">
                <a:solidFill>
                  <a:schemeClr val="tx1"/>
                </a:solidFill>
              </a:rPr>
              <a:t>, PDF. Associate Professor, </a:t>
            </a:r>
            <a:r>
              <a:rPr lang="en-US" b="1" dirty="0" err="1" smtClean="0">
                <a:solidFill>
                  <a:schemeClr val="tx1"/>
                </a:solidFill>
              </a:rPr>
              <a:t>Dept</a:t>
            </a:r>
            <a:r>
              <a:rPr lang="en-US" b="1" dirty="0" smtClean="0">
                <a:solidFill>
                  <a:schemeClr val="tx1"/>
                </a:solidFill>
              </a:rPr>
              <a:t> of CSE.</a:t>
            </a:r>
            <a:endParaRPr lang="en-US" b="1" dirty="0">
              <a:solidFill>
                <a:schemeClr val="tx1"/>
              </a:solidFill>
            </a:endParaRPr>
          </a:p>
        </p:txBody>
      </p:sp>
      <p:pic>
        <p:nvPicPr>
          <p:cNvPr id="1030" name="Picture 6" descr="SRKR"/>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6377" y="228600"/>
            <a:ext cx="3429000" cy="838201"/>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p:cNvPicPr>
            <a:picLocks noChangeAspect="1"/>
          </p:cNvPicPr>
          <p:nvPr/>
        </p:nvPicPr>
        <p:blipFill>
          <a:blip r:embed="rId2"/>
          <a:stretch>
            <a:fillRect/>
          </a:stretch>
        </p:blipFill>
        <p:spPr>
          <a:xfrm>
            <a:off x="4038600" y="304800"/>
            <a:ext cx="4267200" cy="762001"/>
          </a:xfrm>
          <a:prstGeom prst="rect">
            <a:avLst/>
          </a:prstGeom>
        </p:spPr>
      </p:pic>
      <p:sp>
        <p:nvSpPr>
          <p:cNvPr id="3" name="Rectangle 2"/>
          <p:cNvSpPr/>
          <p:nvPr/>
        </p:nvSpPr>
        <p:spPr>
          <a:xfrm>
            <a:off x="381000" y="1295514"/>
            <a:ext cx="8534400" cy="552450"/>
          </a:xfrm>
          <a:prstGeom prst="rect">
            <a:avLst/>
          </a:prstGeom>
        </p:spPr>
        <p:txBody>
          <a:bodyPr wrap="square">
            <a:spAutoFit/>
          </a:bodyPr>
          <a:lstStyle/>
          <a:p>
            <a:pPr algn="ctr">
              <a:lnSpc>
                <a:spcPct val="107000"/>
              </a:lnSpc>
              <a:spcAft>
                <a:spcPts val="0"/>
              </a:spcAft>
            </a:pPr>
            <a:r>
              <a:rPr lang="en-IN" sz="2800" b="1" dirty="0">
                <a:solidFill>
                  <a:srgbClr val="FF0000"/>
                </a:solidFill>
                <a:latin typeface="Calibri" panose="020F0502020204030204" pitchFamily="34" charset="0"/>
                <a:ea typeface="Calibri" panose="020F0502020204030204" pitchFamily="34" charset="0"/>
                <a:cs typeface="Times New Roman" panose="02020603050405020304" pitchFamily="18" charset="0"/>
                <a:sym typeface="+mn-ea"/>
              </a:rPr>
              <a:t>Introduction to Linear Discriminants</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2" name="Text Box 1"/>
          <p:cNvSpPr txBox="1"/>
          <p:nvPr/>
        </p:nvSpPr>
        <p:spPr>
          <a:xfrm>
            <a:off x="307975" y="1607185"/>
            <a:ext cx="8552180" cy="2641600"/>
          </a:xfrm>
          <a:prstGeom prst="rect">
            <a:avLst/>
          </a:prstGeom>
        </p:spPr>
        <p:txBody>
          <a:bodyPr wrap="square">
            <a:noAutofit/>
          </a:bodyPr>
          <a:p>
            <a:pPr algn="just" defTabSz="266700">
              <a:lnSpc>
                <a:spcPct val="150000"/>
              </a:lnSpc>
              <a:spcAft>
                <a:spcPts val="1000"/>
              </a:spcAft>
            </a:pPr>
            <a:r>
              <a:rPr lang="en-IN" sz="2000">
                <a:latin typeface="Calibri" panose="020F0502020204030204" pitchFamily="34" charset="0"/>
                <a:ea typeface="Times New Roman" panose="02020603050405020304"/>
                <a:cs typeface="Calibri" panose="020F0502020204030204" pitchFamily="34" charset="0"/>
              </a:rPr>
              <a:t>                </a:t>
            </a:r>
            <a:r>
              <a:rPr sz="2000">
                <a:latin typeface="Calibri" panose="020F0502020204030204" pitchFamily="34" charset="0"/>
                <a:ea typeface="Times New Roman" panose="02020603050405020304"/>
                <a:cs typeface="Calibri" panose="020F0502020204030204" pitchFamily="34" charset="0"/>
              </a:rPr>
              <a:t>In </a:t>
            </a:r>
            <a:r>
              <a:rPr lang="en-IN" sz="2000">
                <a:latin typeface="Calibri" panose="020F0502020204030204" pitchFamily="34" charset="0"/>
                <a:ea typeface="Times New Roman" panose="02020603050405020304"/>
                <a:cs typeface="Calibri" panose="020F0502020204030204" pitchFamily="34" charset="0"/>
              </a:rPr>
              <a:t>ML</a:t>
            </a:r>
            <a:r>
              <a:rPr sz="2000">
                <a:latin typeface="Calibri" panose="020F0502020204030204" pitchFamily="34" charset="0"/>
                <a:ea typeface="Times New Roman" panose="02020603050405020304"/>
                <a:cs typeface="Calibri" panose="020F0502020204030204" pitchFamily="34" charset="0"/>
              </a:rPr>
              <a:t>, </a:t>
            </a:r>
            <a:r>
              <a:rPr sz="2000" b="1">
                <a:latin typeface="Calibri" panose="020F0502020204030204" pitchFamily="34" charset="0"/>
                <a:ea typeface="Times New Roman" panose="02020603050405020304"/>
                <a:cs typeface="Calibri" panose="020F0502020204030204" pitchFamily="34" charset="0"/>
              </a:rPr>
              <a:t>Linear Discriminants</a:t>
            </a:r>
            <a:r>
              <a:rPr sz="2000">
                <a:latin typeface="Calibri" panose="020F0502020204030204" pitchFamily="34" charset="0"/>
                <a:ea typeface="Times New Roman" panose="02020603050405020304"/>
                <a:cs typeface="Calibri" panose="020F0502020204030204" pitchFamily="34" charset="0"/>
              </a:rPr>
              <a:t> are used to solve classification problems by finding a linear decision boundary that separates different classes.</a:t>
            </a:r>
            <a:r>
              <a:rPr sz="2000">
                <a:latin typeface="Calibri" panose="020F0502020204030204" pitchFamily="34" charset="0"/>
                <a:ea typeface="Times New Roman" panose="02020603050405020304"/>
                <a:cs typeface="Calibri" panose="020F0502020204030204" pitchFamily="34" charset="0"/>
                <a:sym typeface="+mn-ea"/>
              </a:rPr>
              <a:t>A </a:t>
            </a:r>
            <a:r>
              <a:rPr sz="2000" b="1">
                <a:latin typeface="Calibri" panose="020F0502020204030204" pitchFamily="34" charset="0"/>
                <a:ea typeface="Times New Roman" panose="02020603050405020304"/>
                <a:cs typeface="Calibri" panose="020F0502020204030204" pitchFamily="34" charset="0"/>
                <a:sym typeface="+mn-ea"/>
              </a:rPr>
              <a:t>linear discriminant</a:t>
            </a:r>
            <a:r>
              <a:rPr sz="2000">
                <a:latin typeface="Calibri" panose="020F0502020204030204" pitchFamily="34" charset="0"/>
                <a:ea typeface="Times New Roman" panose="02020603050405020304"/>
                <a:cs typeface="Calibri" panose="020F0502020204030204" pitchFamily="34" charset="0"/>
                <a:sym typeface="+mn-ea"/>
              </a:rPr>
              <a:t> is a function that attempts to classify data by creating a decision rule based on a linear combination of the features. </a:t>
            </a:r>
            <a:endParaRPr sz="2000">
              <a:latin typeface="Calibri" panose="020F0502020204030204" pitchFamily="34" charset="0"/>
              <a:ea typeface="Times New Roman" panose="02020603050405020304"/>
              <a:cs typeface="Calibri" panose="020F0502020204030204" pitchFamily="34" charset="0"/>
              <a:sym typeface="+mn-ea"/>
            </a:endParaRPr>
          </a:p>
          <a:p>
            <a:pPr indent="457200" algn="just" defTabSz="266700">
              <a:lnSpc>
                <a:spcPct val="150000"/>
              </a:lnSpc>
              <a:spcAft>
                <a:spcPts val="1000"/>
              </a:spcAft>
            </a:pPr>
            <a:r>
              <a:rPr sz="2000">
                <a:latin typeface="Calibri" panose="020F0502020204030204" pitchFamily="34" charset="0"/>
                <a:ea typeface="Times New Roman" panose="02020603050405020304"/>
                <a:cs typeface="Calibri" panose="020F0502020204030204" pitchFamily="34" charset="0"/>
                <a:sym typeface="+mn-ea"/>
              </a:rPr>
              <a:t>In other words, it finds a </a:t>
            </a:r>
            <a:r>
              <a:rPr sz="2000" b="1">
                <a:latin typeface="Calibri" panose="020F0502020204030204" pitchFamily="34" charset="0"/>
                <a:ea typeface="Times New Roman" panose="02020603050405020304"/>
                <a:cs typeface="Calibri" panose="020F0502020204030204" pitchFamily="34" charset="0"/>
                <a:sym typeface="+mn-ea"/>
              </a:rPr>
              <a:t>hyperplane</a:t>
            </a:r>
            <a:r>
              <a:rPr sz="2000">
                <a:latin typeface="Calibri" panose="020F0502020204030204" pitchFamily="34" charset="0"/>
                <a:ea typeface="Times New Roman" panose="02020603050405020304"/>
                <a:cs typeface="Calibri" panose="020F0502020204030204" pitchFamily="34" charset="0"/>
                <a:sym typeface="+mn-ea"/>
              </a:rPr>
              <a:t> (a linear boundary) that can divide the data into different classes. The general form of a </a:t>
            </a:r>
            <a:r>
              <a:rPr sz="2000" b="1">
                <a:latin typeface="Calibri" panose="020F0502020204030204" pitchFamily="34" charset="0"/>
                <a:ea typeface="Times New Roman" panose="02020603050405020304"/>
                <a:cs typeface="Calibri" panose="020F0502020204030204" pitchFamily="34" charset="0"/>
                <a:sym typeface="+mn-ea"/>
              </a:rPr>
              <a:t>linear discriminant function</a:t>
            </a:r>
            <a:r>
              <a:rPr sz="2000">
                <a:latin typeface="Calibri" panose="020F0502020204030204" pitchFamily="34" charset="0"/>
                <a:ea typeface="Times New Roman" panose="02020603050405020304"/>
                <a:cs typeface="Calibri" panose="020F0502020204030204" pitchFamily="34" charset="0"/>
                <a:sym typeface="+mn-ea"/>
              </a:rPr>
              <a:t> for classification is:</a:t>
            </a:r>
            <a:endParaRPr sz="2000">
              <a:latin typeface="Calibri" panose="020F0502020204030204" pitchFamily="34" charset="0"/>
              <a:ea typeface="Times New Roman" panose="02020603050405020304"/>
              <a:cs typeface="Calibri" panose="020F0502020204030204" pitchFamily="34" charset="0"/>
            </a:endParaRPr>
          </a:p>
          <a:p>
            <a:pPr algn="just" defTabSz="266700">
              <a:lnSpc>
                <a:spcPct val="114000"/>
              </a:lnSpc>
              <a:spcAft>
                <a:spcPts val="1000"/>
              </a:spcAft>
            </a:pPr>
            <a:endParaRPr sz="2000">
              <a:latin typeface="Calibri" panose="020F0502020204030204" pitchFamily="34" charset="0"/>
              <a:ea typeface="Times New Roman" panose="02020603050405020304"/>
              <a:cs typeface="Calibri" panose="020F0502020204030204" pitchFamily="34" charset="0"/>
            </a:endParaRPr>
          </a:p>
        </p:txBody>
      </p:sp>
      <p:pic>
        <p:nvPicPr>
          <p:cNvPr id="4114" name="Picture 4114"/>
          <p:cNvPicPr>
            <a:picLocks noChangeAspect="1"/>
          </p:cNvPicPr>
          <p:nvPr/>
        </p:nvPicPr>
        <p:blipFill>
          <a:blip r:embed="rId3"/>
          <a:stretch>
            <a:fillRect/>
          </a:stretch>
        </p:blipFill>
        <p:spPr>
          <a:xfrm>
            <a:off x="3124200" y="4495800"/>
            <a:ext cx="2514600" cy="681355"/>
          </a:xfrm>
          <a:prstGeom prst="rect">
            <a:avLst/>
          </a:prstGeom>
        </p:spPr>
      </p:pic>
      <p:sp>
        <p:nvSpPr>
          <p:cNvPr id="7" name="Text Box 6"/>
          <p:cNvSpPr txBox="1"/>
          <p:nvPr/>
        </p:nvSpPr>
        <p:spPr>
          <a:xfrm>
            <a:off x="381000" y="5257800"/>
            <a:ext cx="6423025" cy="795655"/>
          </a:xfrm>
          <a:prstGeom prst="rect">
            <a:avLst/>
          </a:prstGeom>
          <a:noFill/>
        </p:spPr>
        <p:txBody>
          <a:bodyPr wrap="square" rtlCol="0">
            <a:noAutofit/>
          </a:bodyPr>
          <a:p>
            <a:r>
              <a:rPr lang="en-IN" altLang="en-US" b="1"/>
              <a:t>Where</a:t>
            </a:r>
            <a:r>
              <a:rPr lang="en-IN" altLang="en-US"/>
              <a:t> </a:t>
            </a:r>
            <a:endParaRPr lang="en-IN" altLang="en-US"/>
          </a:p>
          <a:p>
            <a:r>
              <a:rPr lang="en-IN" altLang="en-US">
                <a:latin typeface="Calibri" panose="020F0502020204030204" pitchFamily="34" charset="0"/>
                <a:cs typeface="Calibri" panose="020F0502020204030204" pitchFamily="34" charset="0"/>
              </a:rPr>
              <a:t>y(x) is </a:t>
            </a:r>
            <a:r>
              <a:rPr lang="en-US" altLang="en-US">
                <a:latin typeface="Calibri" panose="020F0502020204030204" pitchFamily="34" charset="0"/>
                <a:cs typeface="Calibri" panose="020F0502020204030204" pitchFamily="34" charset="0"/>
              </a:rPr>
              <a:t>The Discriminant Score</a:t>
            </a:r>
            <a:r>
              <a:rPr lang="en-IN" altLang="en-US">
                <a:latin typeface="Calibri" panose="020F0502020204030204" pitchFamily="34" charset="0"/>
                <a:cs typeface="Calibri" panose="020F0502020204030204" pitchFamily="34" charset="0"/>
              </a:rPr>
              <a:t>.</a:t>
            </a:r>
            <a:r>
              <a:rPr lang="en-IN" altLang="en-US" b="1">
                <a:latin typeface="Calibri" panose="020F0502020204030204" pitchFamily="34" charset="0"/>
                <a:cs typeface="Calibri" panose="020F0502020204030204" pitchFamily="34" charset="0"/>
              </a:rPr>
              <a:t> x-</a:t>
            </a:r>
            <a:r>
              <a:rPr lang="en-US" altLang="en-US">
                <a:latin typeface="Calibri" panose="020F0502020204030204" pitchFamily="34" charset="0"/>
                <a:cs typeface="Calibri" panose="020F0502020204030204" pitchFamily="34" charset="0"/>
              </a:rPr>
              <a:t>The Input Vector</a:t>
            </a:r>
            <a:r>
              <a:rPr lang="en-IN" altLang="en-US">
                <a:latin typeface="Calibri" panose="020F0502020204030204" pitchFamily="34" charset="0"/>
                <a:cs typeface="Calibri" panose="020F0502020204030204" pitchFamily="34" charset="0"/>
              </a:rPr>
              <a:t>, </a:t>
            </a:r>
            <a:endParaRPr lang="en-IN" altLang="en-US">
              <a:latin typeface="Calibri" panose="020F0502020204030204" pitchFamily="34" charset="0"/>
              <a:cs typeface="Calibri" panose="020F0502020204030204" pitchFamily="34" charset="0"/>
            </a:endParaRPr>
          </a:p>
          <a:p>
            <a:r>
              <a:rPr lang="en-IN" altLang="en-US">
                <a:latin typeface="Calibri" panose="020F0502020204030204" pitchFamily="34" charset="0"/>
                <a:cs typeface="Calibri" panose="020F0502020204030204" pitchFamily="34" charset="0"/>
              </a:rPr>
              <a:t>W</a:t>
            </a:r>
            <a:r>
              <a:rPr lang="en-IN" altLang="en-US" baseline="30000">
                <a:latin typeface="Calibri" panose="020F0502020204030204" pitchFamily="34" charset="0"/>
                <a:cs typeface="Calibri" panose="020F0502020204030204" pitchFamily="34" charset="0"/>
              </a:rPr>
              <a:t>T </a:t>
            </a:r>
            <a:r>
              <a:rPr lang="en-IN" altLang="en-US">
                <a:latin typeface="Calibri" panose="020F0502020204030204" pitchFamily="34" charset="0"/>
                <a:cs typeface="Calibri" panose="020F0502020204030204" pitchFamily="34" charset="0"/>
              </a:rPr>
              <a:t>-T</a:t>
            </a:r>
            <a:r>
              <a:rPr lang="en-US" altLang="en-US">
                <a:latin typeface="Calibri" panose="020F0502020204030204" pitchFamily="34" charset="0"/>
                <a:cs typeface="Calibri" panose="020F0502020204030204" pitchFamily="34" charset="0"/>
              </a:rPr>
              <a:t>he Weight Vector / Coefficients</a:t>
            </a:r>
            <a:r>
              <a:rPr lang="en-IN" altLang="en-US">
                <a:latin typeface="Calibri" panose="020F0502020204030204" pitchFamily="34" charset="0"/>
                <a:cs typeface="Calibri" panose="020F0502020204030204" pitchFamily="34" charset="0"/>
              </a:rPr>
              <a:t>, W</a:t>
            </a:r>
            <a:r>
              <a:rPr lang="en-IN" altLang="en-US" baseline="-25000">
                <a:latin typeface="Calibri" panose="020F0502020204030204" pitchFamily="34" charset="0"/>
                <a:cs typeface="Calibri" panose="020F0502020204030204" pitchFamily="34" charset="0"/>
              </a:rPr>
              <a:t>0</a:t>
            </a:r>
            <a:r>
              <a:rPr lang="en-IN" altLang="en-US">
                <a:latin typeface="Calibri" panose="020F0502020204030204" pitchFamily="34" charset="0"/>
                <a:cs typeface="Calibri" panose="020F0502020204030204" pitchFamily="34" charset="0"/>
              </a:rPr>
              <a:t>- </a:t>
            </a:r>
            <a:r>
              <a:rPr lang="en-US" altLang="en-US">
                <a:latin typeface="Calibri" panose="020F0502020204030204" pitchFamily="34" charset="0"/>
                <a:cs typeface="Calibri" panose="020F0502020204030204" pitchFamily="34" charset="0"/>
              </a:rPr>
              <a:t>The Bias or Threshold</a:t>
            </a:r>
            <a:endParaRPr lang="en-US" altLang="en-US">
              <a:latin typeface="Calibri" panose="020F0502020204030204" pitchFamily="34" charset="0"/>
              <a:cs typeface="Calibri" panose="020F0502020204030204" pitchFamily="34" charset="0"/>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3"/>
          <p:cNvSpPr>
            <a:spLocks noGrp="1"/>
          </p:cNvSpPr>
          <p:nvPr>
            <p:ph type="ftr" sz="quarter" idx="11"/>
          </p:nvPr>
        </p:nvSpPr>
        <p:spPr>
          <a:xfrm>
            <a:off x="1905000" y="6400800"/>
            <a:ext cx="5486400" cy="365125"/>
          </a:xfrm>
        </p:spPr>
        <p:txBody>
          <a:bodyPr/>
          <a:lstStyle/>
          <a:p>
            <a:pPr>
              <a:defRPr/>
            </a:pPr>
            <a:r>
              <a:rPr lang="en-US" sz="1600" b="1" dirty="0" err="1" smtClean="0">
                <a:solidFill>
                  <a:srgbClr val="7030A0"/>
                </a:solidFill>
              </a:rPr>
              <a:t>Dr.K.Venkata</a:t>
            </a:r>
            <a:r>
              <a:rPr lang="en-US" sz="1600" b="1" dirty="0" smtClean="0">
                <a:solidFill>
                  <a:srgbClr val="7030A0"/>
                </a:solidFill>
              </a:rPr>
              <a:t> </a:t>
            </a:r>
            <a:r>
              <a:rPr lang="en-US" sz="1600" b="1" dirty="0" err="1" smtClean="0">
                <a:solidFill>
                  <a:srgbClr val="7030A0"/>
                </a:solidFill>
              </a:rPr>
              <a:t>Nagendra</a:t>
            </a:r>
            <a:r>
              <a:rPr lang="en-US" b="1" dirty="0" smtClean="0"/>
              <a:t>, </a:t>
            </a:r>
            <a:r>
              <a:rPr lang="en-US" b="1" dirty="0" err="1" smtClean="0">
                <a:solidFill>
                  <a:schemeClr val="tx1"/>
                </a:solidFill>
              </a:rPr>
              <a:t>M.Tech,Ph.D</a:t>
            </a:r>
            <a:r>
              <a:rPr lang="en-US" b="1" dirty="0" smtClean="0">
                <a:solidFill>
                  <a:schemeClr val="tx1"/>
                </a:solidFill>
              </a:rPr>
              <a:t>, PDF. Associate Professor, </a:t>
            </a:r>
            <a:r>
              <a:rPr lang="en-US" b="1" dirty="0" err="1" smtClean="0">
                <a:solidFill>
                  <a:schemeClr val="tx1"/>
                </a:solidFill>
              </a:rPr>
              <a:t>Dept</a:t>
            </a:r>
            <a:r>
              <a:rPr lang="en-US" b="1" dirty="0" smtClean="0">
                <a:solidFill>
                  <a:schemeClr val="tx1"/>
                </a:solidFill>
              </a:rPr>
              <a:t> of CSE.</a:t>
            </a:r>
            <a:endParaRPr lang="en-US" b="1" dirty="0">
              <a:solidFill>
                <a:schemeClr val="tx1"/>
              </a:solidFill>
            </a:endParaRPr>
          </a:p>
        </p:txBody>
      </p:sp>
      <p:pic>
        <p:nvPicPr>
          <p:cNvPr id="1030" name="Picture 6" descr="SRKR"/>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6377" y="228600"/>
            <a:ext cx="3429000" cy="838201"/>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p:cNvPicPr>
            <a:picLocks noChangeAspect="1"/>
          </p:cNvPicPr>
          <p:nvPr/>
        </p:nvPicPr>
        <p:blipFill>
          <a:blip r:embed="rId2"/>
          <a:stretch>
            <a:fillRect/>
          </a:stretch>
        </p:blipFill>
        <p:spPr>
          <a:xfrm>
            <a:off x="4038600" y="304800"/>
            <a:ext cx="4267200" cy="762001"/>
          </a:xfrm>
          <a:prstGeom prst="rect">
            <a:avLst/>
          </a:prstGeom>
        </p:spPr>
      </p:pic>
      <p:sp>
        <p:nvSpPr>
          <p:cNvPr id="3" name="Rectangle 2"/>
          <p:cNvSpPr/>
          <p:nvPr/>
        </p:nvSpPr>
        <p:spPr>
          <a:xfrm>
            <a:off x="381000" y="1295514"/>
            <a:ext cx="8534400" cy="552450"/>
          </a:xfrm>
          <a:prstGeom prst="rect">
            <a:avLst/>
          </a:prstGeom>
        </p:spPr>
        <p:txBody>
          <a:bodyPr wrap="square">
            <a:spAutoFit/>
          </a:bodyPr>
          <a:lstStyle/>
          <a:p>
            <a:pPr algn="ctr">
              <a:lnSpc>
                <a:spcPct val="107000"/>
              </a:lnSpc>
              <a:spcAft>
                <a:spcPts val="0"/>
              </a:spcAft>
            </a:pPr>
            <a:r>
              <a:rPr lang="en-IN" sz="2800" b="1" dirty="0">
                <a:solidFill>
                  <a:srgbClr val="FF0000"/>
                </a:solidFill>
                <a:latin typeface="Calibri" panose="020F0502020204030204" pitchFamily="34" charset="0"/>
                <a:ea typeface="Calibri" panose="020F0502020204030204" pitchFamily="34" charset="0"/>
                <a:cs typeface="Times New Roman" panose="02020603050405020304" pitchFamily="18" charset="0"/>
                <a:sym typeface="+mn-ea"/>
              </a:rPr>
              <a:t>Introduction to Linear Discriminants</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p:txBody>
      </p:sp>
      <p:graphicFrame>
        <p:nvGraphicFramePr>
          <p:cNvPr id="7" name="Object 6"/>
          <p:cNvGraphicFramePr/>
          <p:nvPr/>
        </p:nvGraphicFramePr>
        <p:xfrm>
          <a:off x="651510" y="3505200"/>
          <a:ext cx="7654290" cy="2908935"/>
        </p:xfrm>
        <a:graphic>
          <a:graphicData uri="http://schemas.openxmlformats.org/presentationml/2006/ole">
            <mc:AlternateContent xmlns:mc="http://schemas.openxmlformats.org/markup-compatibility/2006">
              <mc:Choice xmlns:v="urn:schemas-microsoft-com:vml" Requires="v">
                <p:oleObj spid="_x0000_s10" name="" r:id="rId3" imgW="5852160" imgH="2552700" progId="Paint.Picture">
                  <p:embed/>
                </p:oleObj>
              </mc:Choice>
              <mc:Fallback>
                <p:oleObj name="" r:id="rId3" imgW="5852160" imgH="2552700" progId="Paint.Picture">
                  <p:embed/>
                  <p:pic>
                    <p:nvPicPr>
                      <p:cNvPr id="0" name="Picture 9"/>
                      <p:cNvPicPr/>
                      <p:nvPr/>
                    </p:nvPicPr>
                    <p:blipFill>
                      <a:blip r:embed="rId4"/>
                      <a:stretch>
                        <a:fillRect/>
                      </a:stretch>
                    </p:blipFill>
                    <p:spPr>
                      <a:xfrm>
                        <a:off x="651510" y="3505200"/>
                        <a:ext cx="7654290" cy="2908935"/>
                      </a:xfrm>
                      <a:prstGeom prst="rect">
                        <a:avLst/>
                      </a:prstGeom>
                    </p:spPr>
                  </p:pic>
                </p:oleObj>
              </mc:Fallback>
            </mc:AlternateContent>
          </a:graphicData>
        </a:graphic>
      </p:graphicFrame>
      <p:sp>
        <p:nvSpPr>
          <p:cNvPr id="11" name="Text Box 10"/>
          <p:cNvSpPr txBox="1"/>
          <p:nvPr/>
        </p:nvSpPr>
        <p:spPr>
          <a:xfrm>
            <a:off x="533400" y="1847850"/>
            <a:ext cx="8274050" cy="1476375"/>
          </a:xfrm>
          <a:prstGeom prst="rect">
            <a:avLst/>
          </a:prstGeom>
        </p:spPr>
        <p:txBody>
          <a:bodyPr wrap="square">
            <a:spAutoFit/>
          </a:bodyPr>
          <a:p>
            <a:pPr algn="just" defTabSz="266700">
              <a:lnSpc>
                <a:spcPct val="150000"/>
              </a:lnSpc>
              <a:spcAft>
                <a:spcPct val="0"/>
              </a:spcAft>
            </a:pPr>
            <a:r>
              <a:rPr sz="2000" b="1">
                <a:latin typeface="Times New Roman" panose="02020603050405020304"/>
                <a:ea typeface="Times New Roman" panose="02020603050405020304"/>
              </a:rPr>
              <a:t>The main goal of LDA is to: </a:t>
            </a:r>
            <a:endParaRPr sz="2000" b="1">
              <a:latin typeface="Times New Roman" panose="02020603050405020304"/>
              <a:ea typeface="Times New Roman" panose="02020603050405020304"/>
            </a:endParaRPr>
          </a:p>
          <a:p>
            <a:pPr marL="914400" indent="-228600" algn="just" defTabSz="266700">
              <a:lnSpc>
                <a:spcPct val="150000"/>
              </a:lnSpc>
              <a:spcAft>
                <a:spcPct val="0"/>
              </a:spcAft>
              <a:buFont typeface="Times New Roman" panose="02020603050405020304"/>
              <a:buAutoNum type="arabicPeriod"/>
              <a:tabLst>
                <a:tab pos="457200" algn="l"/>
              </a:tabLst>
            </a:pPr>
            <a:r>
              <a:rPr sz="2000">
                <a:latin typeface="Times New Roman" panose="02020603050405020304"/>
                <a:ea typeface="Times New Roman" panose="02020603050405020304"/>
              </a:rPr>
              <a:t>Maximize the separability between different classes</a:t>
            </a:r>
            <a:r>
              <a:rPr lang="en-IN" sz="2000">
                <a:latin typeface="Times New Roman" panose="02020603050405020304"/>
                <a:ea typeface="Times New Roman" panose="02020603050405020304"/>
              </a:rPr>
              <a:t>.</a:t>
            </a:r>
            <a:endParaRPr sz="2000">
              <a:latin typeface="Times New Roman" panose="02020603050405020304"/>
              <a:ea typeface="Times New Roman" panose="02020603050405020304"/>
            </a:endParaRPr>
          </a:p>
          <a:p>
            <a:pPr marL="914400" indent="-228600" algn="just" defTabSz="266700">
              <a:lnSpc>
                <a:spcPct val="150000"/>
              </a:lnSpc>
              <a:spcAft>
                <a:spcPct val="0"/>
              </a:spcAft>
              <a:buFont typeface="Times New Roman" panose="02020603050405020304"/>
              <a:buAutoNum type="arabicPeriod"/>
              <a:tabLst>
                <a:tab pos="457200" algn="l"/>
              </a:tabLst>
            </a:pPr>
            <a:r>
              <a:rPr sz="2000">
                <a:latin typeface="Times New Roman" panose="02020603050405020304"/>
                <a:ea typeface="Times New Roman" panose="02020603050405020304"/>
              </a:rPr>
              <a:t>Minimize the variance within each class</a:t>
            </a:r>
            <a:r>
              <a:rPr lang="en-IN" sz="2000">
                <a:latin typeface="Times New Roman" panose="02020603050405020304"/>
                <a:ea typeface="Times New Roman" panose="02020603050405020304"/>
              </a:rPr>
              <a:t>.</a:t>
            </a:r>
            <a:r>
              <a:rPr sz="2000">
                <a:latin typeface="Times New Roman" panose="02020603050405020304"/>
                <a:ea typeface="Times New Roman" panose="02020603050405020304"/>
              </a:rPr>
              <a:t> </a:t>
            </a:r>
            <a:endParaRPr sz="2000">
              <a:latin typeface="Times New Roman" panose="02020603050405020304"/>
              <a:ea typeface="Times New Roman" panose="02020603050405020304"/>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3"/>
          <p:cNvSpPr>
            <a:spLocks noGrp="1"/>
          </p:cNvSpPr>
          <p:nvPr>
            <p:ph type="ftr" sz="quarter" idx="11"/>
          </p:nvPr>
        </p:nvSpPr>
        <p:spPr>
          <a:xfrm>
            <a:off x="1905000" y="6400800"/>
            <a:ext cx="5486400" cy="365125"/>
          </a:xfrm>
        </p:spPr>
        <p:txBody>
          <a:bodyPr/>
          <a:lstStyle/>
          <a:p>
            <a:pPr>
              <a:defRPr/>
            </a:pPr>
            <a:r>
              <a:rPr lang="en-US" sz="1600" b="1" dirty="0" err="1" smtClean="0">
                <a:solidFill>
                  <a:srgbClr val="7030A0"/>
                </a:solidFill>
              </a:rPr>
              <a:t>Dr.K.Venkata</a:t>
            </a:r>
            <a:r>
              <a:rPr lang="en-US" sz="1600" b="1" dirty="0" smtClean="0">
                <a:solidFill>
                  <a:srgbClr val="7030A0"/>
                </a:solidFill>
              </a:rPr>
              <a:t> </a:t>
            </a:r>
            <a:r>
              <a:rPr lang="en-US" sz="1600" b="1" dirty="0" err="1" smtClean="0">
                <a:solidFill>
                  <a:srgbClr val="7030A0"/>
                </a:solidFill>
              </a:rPr>
              <a:t>Nagendra</a:t>
            </a:r>
            <a:r>
              <a:rPr lang="en-US" b="1" dirty="0" smtClean="0"/>
              <a:t>, </a:t>
            </a:r>
            <a:r>
              <a:rPr lang="en-US" b="1" dirty="0" err="1" smtClean="0">
                <a:solidFill>
                  <a:schemeClr val="tx1"/>
                </a:solidFill>
              </a:rPr>
              <a:t>M.Tech,Ph.D</a:t>
            </a:r>
            <a:r>
              <a:rPr lang="en-US" b="1" dirty="0" smtClean="0">
                <a:solidFill>
                  <a:schemeClr val="tx1"/>
                </a:solidFill>
              </a:rPr>
              <a:t>, PDF. Associate Professor, </a:t>
            </a:r>
            <a:r>
              <a:rPr lang="en-US" b="1" dirty="0" err="1" smtClean="0">
                <a:solidFill>
                  <a:schemeClr val="tx1"/>
                </a:solidFill>
              </a:rPr>
              <a:t>Dept</a:t>
            </a:r>
            <a:r>
              <a:rPr lang="en-US" b="1" dirty="0" smtClean="0">
                <a:solidFill>
                  <a:schemeClr val="tx1"/>
                </a:solidFill>
              </a:rPr>
              <a:t> of CSE.</a:t>
            </a:r>
            <a:endParaRPr lang="en-US" b="1" dirty="0">
              <a:solidFill>
                <a:schemeClr val="tx1"/>
              </a:solidFill>
            </a:endParaRPr>
          </a:p>
        </p:txBody>
      </p:sp>
      <p:pic>
        <p:nvPicPr>
          <p:cNvPr id="1030" name="Picture 6" descr="SRKR"/>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6377" y="228600"/>
            <a:ext cx="3429000" cy="838201"/>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p:cNvPicPr>
            <a:picLocks noChangeAspect="1"/>
          </p:cNvPicPr>
          <p:nvPr/>
        </p:nvPicPr>
        <p:blipFill>
          <a:blip r:embed="rId2"/>
          <a:stretch>
            <a:fillRect/>
          </a:stretch>
        </p:blipFill>
        <p:spPr>
          <a:xfrm>
            <a:off x="4038600" y="304800"/>
            <a:ext cx="4267200" cy="762001"/>
          </a:xfrm>
          <a:prstGeom prst="rect">
            <a:avLst/>
          </a:prstGeom>
        </p:spPr>
      </p:pic>
      <p:sp>
        <p:nvSpPr>
          <p:cNvPr id="2" name="Text Box 1"/>
          <p:cNvSpPr txBox="1"/>
          <p:nvPr/>
        </p:nvSpPr>
        <p:spPr>
          <a:xfrm>
            <a:off x="304800" y="1295400"/>
            <a:ext cx="8368030" cy="321945"/>
          </a:xfrm>
          <a:prstGeom prst="rect">
            <a:avLst/>
          </a:prstGeom>
        </p:spPr>
        <p:txBody>
          <a:bodyPr wrap="square">
            <a:spAutoFit/>
          </a:bodyPr>
          <a:p>
            <a:pPr algn="ctr" defTabSz="266700">
              <a:lnSpc>
                <a:spcPts val="1800"/>
              </a:lnSpc>
              <a:spcAft>
                <a:spcPts val="900"/>
              </a:spcAft>
            </a:pPr>
            <a:r>
              <a:rPr sz="2400" b="1">
                <a:solidFill>
                  <a:srgbClr val="FF0000"/>
                </a:solidFill>
                <a:latin typeface="Arial" panose="020B0604020202020204"/>
                <a:ea typeface="Times New Roman" panose="02020603050405020304"/>
              </a:rPr>
              <a:t>4.2. LINEAR DISCRIMINANTS FOR</a:t>
            </a:r>
            <a:r>
              <a:rPr lang="en-IN" sz="2400" b="1">
                <a:solidFill>
                  <a:srgbClr val="FF0000"/>
                </a:solidFill>
                <a:latin typeface="Arial" panose="020B0604020202020204"/>
                <a:ea typeface="Times New Roman" panose="02020603050405020304"/>
              </a:rPr>
              <a:t> </a:t>
            </a:r>
            <a:r>
              <a:rPr sz="2400" b="1">
                <a:solidFill>
                  <a:srgbClr val="FF0000"/>
                </a:solidFill>
                <a:latin typeface="Arial" panose="020B0604020202020204"/>
                <a:ea typeface="Times New Roman" panose="02020603050405020304"/>
              </a:rPr>
              <a:t>CLASSIFICATION</a:t>
            </a:r>
            <a:endParaRPr sz="2400" b="1">
              <a:solidFill>
                <a:srgbClr val="FF0000"/>
              </a:solidFill>
              <a:latin typeface="Arial" panose="020B0604020202020204"/>
              <a:ea typeface="Times New Roman" panose="02020603050405020304"/>
            </a:endParaRPr>
          </a:p>
        </p:txBody>
      </p:sp>
      <p:sp>
        <p:nvSpPr>
          <p:cNvPr id="4" name="Text Box 3"/>
          <p:cNvSpPr txBox="1"/>
          <p:nvPr/>
        </p:nvSpPr>
        <p:spPr>
          <a:xfrm>
            <a:off x="87630" y="1524000"/>
            <a:ext cx="8907780" cy="1938020"/>
          </a:xfrm>
          <a:prstGeom prst="rect">
            <a:avLst/>
          </a:prstGeom>
        </p:spPr>
        <p:txBody>
          <a:bodyPr wrap="square">
            <a:spAutoFit/>
          </a:bodyPr>
          <a:p>
            <a:pPr marL="0" indent="457200" algn="just" defTabSz="266700">
              <a:lnSpc>
                <a:spcPct val="150000"/>
              </a:lnSpc>
              <a:spcBef>
                <a:spcPct val="0"/>
              </a:spcBef>
              <a:spcAft>
                <a:spcPct val="0"/>
              </a:spcAft>
            </a:pPr>
            <a:r>
              <a:rPr sz="2000" b="1">
                <a:solidFill>
                  <a:srgbClr val="191919"/>
                </a:solidFill>
                <a:latin typeface="Times New Roman" panose="02020603050405020304"/>
                <a:ea typeface="Times New Roman" panose="02020603050405020304"/>
              </a:rPr>
              <a:t>Linear Discriminant Analysis (LDA)</a:t>
            </a:r>
            <a:r>
              <a:rPr sz="2000">
                <a:solidFill>
                  <a:srgbClr val="191919"/>
                </a:solidFill>
                <a:latin typeface="Times New Roman" panose="02020603050405020304"/>
                <a:ea typeface="Times New Roman" panose="02020603050405020304"/>
              </a:rPr>
              <a:t> is a supervised learning technique used for classification tasks. It helps distinguish between different classes by projecting data points onto a lower-dimensional space, maximizing the separation between those classes.</a:t>
            </a:r>
            <a:endParaRPr sz="2000">
              <a:solidFill>
                <a:srgbClr val="191919"/>
              </a:solidFill>
              <a:latin typeface="Times New Roman" panose="02020603050405020304"/>
              <a:ea typeface="Times New Roman" panose="02020603050405020304"/>
            </a:endParaRPr>
          </a:p>
        </p:txBody>
      </p:sp>
      <p:sp>
        <p:nvSpPr>
          <p:cNvPr id="6" name="Text Box 5"/>
          <p:cNvSpPr txBox="1"/>
          <p:nvPr/>
        </p:nvSpPr>
        <p:spPr>
          <a:xfrm>
            <a:off x="171450" y="3249295"/>
            <a:ext cx="8716645" cy="2861310"/>
          </a:xfrm>
          <a:prstGeom prst="rect">
            <a:avLst/>
          </a:prstGeom>
        </p:spPr>
        <p:txBody>
          <a:bodyPr wrap="square">
            <a:spAutoFit/>
          </a:bodyPr>
          <a:p>
            <a:pPr algn="just" defTabSz="266700" fontAlgn="base">
              <a:lnSpc>
                <a:spcPct val="150000"/>
              </a:lnSpc>
              <a:spcBef>
                <a:spcPct val="0"/>
              </a:spcBef>
              <a:spcAft>
                <a:spcPct val="0"/>
              </a:spcAft>
            </a:pPr>
            <a:r>
              <a:rPr sz="2000" b="1">
                <a:solidFill>
                  <a:srgbClr val="273239"/>
                </a:solidFill>
                <a:latin typeface="Times New Roman" panose="02020603050405020304"/>
                <a:ea typeface="SimSun" panose="02010600030101010101" pitchFamily="2" charset="-122"/>
              </a:rPr>
              <a:t>Key Assumptions of LDA</a:t>
            </a:r>
            <a:r>
              <a:rPr lang="en-IN" sz="2000" b="1">
                <a:solidFill>
                  <a:srgbClr val="273239"/>
                </a:solidFill>
                <a:latin typeface="Times New Roman" panose="02020603050405020304"/>
                <a:ea typeface="SimSun" panose="02010600030101010101" pitchFamily="2" charset="-122"/>
              </a:rPr>
              <a:t>: </a:t>
            </a:r>
            <a:endParaRPr lang="en-IN" sz="2000" b="1">
              <a:solidFill>
                <a:srgbClr val="273239"/>
              </a:solidFill>
              <a:latin typeface="Times New Roman" panose="02020603050405020304"/>
              <a:ea typeface="SimSun" panose="02010600030101010101" pitchFamily="2" charset="-122"/>
            </a:endParaRPr>
          </a:p>
          <a:p>
            <a:pPr algn="just" defTabSz="266700" fontAlgn="base">
              <a:lnSpc>
                <a:spcPct val="150000"/>
              </a:lnSpc>
              <a:spcBef>
                <a:spcPct val="0"/>
              </a:spcBef>
              <a:spcAft>
                <a:spcPct val="0"/>
              </a:spcAft>
            </a:pPr>
            <a:r>
              <a:rPr sz="2000">
                <a:solidFill>
                  <a:srgbClr val="273239"/>
                </a:solidFill>
                <a:latin typeface="Times New Roman" panose="02020603050405020304"/>
                <a:ea typeface="Times New Roman" panose="02020603050405020304"/>
              </a:rPr>
              <a:t>For LDA to perform effectively, certain assumptions are made:</a:t>
            </a:r>
            <a:endParaRPr sz="2000">
              <a:solidFill>
                <a:srgbClr val="273239"/>
              </a:solidFill>
              <a:latin typeface="Times New Roman" panose="02020603050405020304"/>
              <a:ea typeface="Times New Roman" panose="02020603050405020304"/>
            </a:endParaRPr>
          </a:p>
          <a:p>
            <a:pPr marL="0" indent="0" algn="just" defTabSz="266700" fontAlgn="base">
              <a:lnSpc>
                <a:spcPct val="150000"/>
              </a:lnSpc>
              <a:spcBef>
                <a:spcPct val="0"/>
              </a:spcBef>
              <a:spcAft>
                <a:spcPct val="0"/>
              </a:spcAft>
              <a:buFont typeface="Arial" panose="020B0604020202020204" pitchFamily="34" charset="0"/>
              <a:buNone/>
            </a:pPr>
            <a:r>
              <a:rPr sz="2000">
                <a:solidFill>
                  <a:schemeClr val="tx1"/>
                </a:solidFill>
                <a:latin typeface="Times New Roman" panose="02020603050405020304"/>
                <a:ea typeface="Times New Roman" panose="02020603050405020304"/>
                <a:hlinkClick r:id="rId3"/>
              </a:rPr>
              <a:t>Gaussian distribution</a:t>
            </a:r>
            <a:r>
              <a:rPr sz="2000">
                <a:solidFill>
                  <a:schemeClr val="tx1"/>
                </a:solidFill>
                <a:latin typeface="Times New Roman" panose="02020603050405020304"/>
                <a:ea typeface="Times New Roman" panose="02020603050405020304"/>
                <a:hlinkClick r:id="rId3"/>
              </a:rPr>
              <a:t>:</a:t>
            </a:r>
            <a:r>
              <a:rPr sz="2000">
                <a:solidFill>
                  <a:schemeClr val="tx1"/>
                </a:solidFill>
                <a:latin typeface="Times New Roman" panose="02020603050405020304"/>
                <a:ea typeface="Times New Roman" panose="02020603050405020304"/>
              </a:rPr>
              <a:t> The data in each class should follow a normal bell-shaped distribution.</a:t>
            </a:r>
            <a:endParaRPr sz="2000">
              <a:solidFill>
                <a:schemeClr val="tx1"/>
              </a:solidFill>
              <a:latin typeface="Times New Roman" panose="02020603050405020304"/>
              <a:ea typeface="Times New Roman" panose="02020603050405020304"/>
            </a:endParaRPr>
          </a:p>
          <a:p>
            <a:pPr marL="0" indent="0" algn="just" defTabSz="266700" fontAlgn="base">
              <a:lnSpc>
                <a:spcPct val="150000"/>
              </a:lnSpc>
              <a:spcBef>
                <a:spcPct val="0"/>
              </a:spcBef>
              <a:spcAft>
                <a:spcPct val="0"/>
              </a:spcAft>
              <a:buFont typeface="Arial" panose="020B0604020202020204" pitchFamily="34" charset="0"/>
              <a:buNone/>
            </a:pPr>
            <a:r>
              <a:rPr sz="2000">
                <a:solidFill>
                  <a:schemeClr val="tx1"/>
                </a:solidFill>
                <a:latin typeface="Times New Roman" panose="02020603050405020304"/>
                <a:ea typeface="SimSun" panose="02010600030101010101" pitchFamily="2" charset="-122"/>
                <a:hlinkClick r:id="rId4"/>
              </a:rPr>
              <a:t>Equal Covariance Matrices</a:t>
            </a:r>
            <a:r>
              <a:rPr sz="2000">
                <a:solidFill>
                  <a:schemeClr val="tx1"/>
                </a:solidFill>
                <a:latin typeface="Times New Roman" panose="02020603050405020304"/>
                <a:ea typeface="SimSun" panose="02010600030101010101" pitchFamily="2" charset="-122"/>
                <a:hlinkClick r:id="rId4"/>
              </a:rPr>
              <a:t>:</a:t>
            </a:r>
            <a:r>
              <a:rPr sz="2000">
                <a:solidFill>
                  <a:schemeClr val="tx1"/>
                </a:solidFill>
                <a:latin typeface="Times New Roman" panose="02020603050405020304"/>
                <a:ea typeface="SimSun" panose="02010600030101010101" pitchFamily="2" charset="-122"/>
              </a:rPr>
              <a:t> All classes should have the same covariance structure.</a:t>
            </a:r>
            <a:endParaRPr sz="2000">
              <a:solidFill>
                <a:schemeClr val="tx1"/>
              </a:solidFill>
              <a:latin typeface="Times New Roman" panose="02020603050405020304"/>
              <a:ea typeface="SimSun" panose="02010600030101010101" pitchFamily="2" charset="-122"/>
            </a:endParaRPr>
          </a:p>
          <a:p>
            <a:pPr marL="0" indent="0" algn="just" defTabSz="266700" fontAlgn="base">
              <a:lnSpc>
                <a:spcPct val="150000"/>
              </a:lnSpc>
              <a:spcBef>
                <a:spcPct val="0"/>
              </a:spcBef>
              <a:spcAft>
                <a:spcPct val="0"/>
              </a:spcAft>
              <a:buFont typeface="Arial" panose="020B0604020202020204" pitchFamily="34" charset="0"/>
              <a:buNone/>
            </a:pPr>
            <a:r>
              <a:rPr sz="2000">
                <a:solidFill>
                  <a:schemeClr val="tx1"/>
                </a:solidFill>
                <a:latin typeface="Times New Roman" panose="02020603050405020304"/>
                <a:ea typeface="SimSun" panose="02010600030101010101" pitchFamily="2" charset="-122"/>
                <a:hlinkClick r:id="rId5"/>
              </a:rPr>
              <a:t>Linear Separability</a:t>
            </a:r>
            <a:r>
              <a:rPr sz="2000">
                <a:solidFill>
                  <a:schemeClr val="tx1"/>
                </a:solidFill>
                <a:latin typeface="Times New Roman" panose="02020603050405020304"/>
                <a:ea typeface="SimSun" panose="02010600030101010101" pitchFamily="2" charset="-122"/>
                <a:hlinkClick r:id="rId5"/>
              </a:rPr>
              <a:t>:</a:t>
            </a:r>
            <a:r>
              <a:rPr sz="2000">
                <a:solidFill>
                  <a:schemeClr val="tx1"/>
                </a:solidFill>
                <a:latin typeface="Times New Roman" panose="02020603050405020304"/>
                <a:ea typeface="SimSun" panose="02010600030101010101" pitchFamily="2" charset="-122"/>
              </a:rPr>
              <a:t> T</a:t>
            </a:r>
            <a:r>
              <a:rPr sz="2000">
                <a:solidFill>
                  <a:srgbClr val="273239"/>
                </a:solidFill>
                <a:latin typeface="Times New Roman" panose="02020603050405020304"/>
                <a:ea typeface="SimSun" panose="02010600030101010101" pitchFamily="2" charset="-122"/>
              </a:rPr>
              <a:t>he data should be separable using a straight line or plane.</a:t>
            </a:r>
            <a:endParaRPr sz="2000">
              <a:solidFill>
                <a:srgbClr val="273239"/>
              </a:solidFill>
              <a:latin typeface="Times New Roman" panose="02020603050405020304"/>
              <a:ea typeface="SimSun" panose="02010600030101010101" pitchFamily="2" charset="-122"/>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3"/>
          <p:cNvSpPr>
            <a:spLocks noGrp="1"/>
          </p:cNvSpPr>
          <p:nvPr>
            <p:ph type="ftr" sz="quarter" idx="11"/>
          </p:nvPr>
        </p:nvSpPr>
        <p:spPr>
          <a:xfrm>
            <a:off x="1905000" y="6400800"/>
            <a:ext cx="5486400" cy="365125"/>
          </a:xfrm>
        </p:spPr>
        <p:txBody>
          <a:bodyPr/>
          <a:lstStyle/>
          <a:p>
            <a:pPr>
              <a:defRPr/>
            </a:pPr>
            <a:r>
              <a:rPr lang="en-US" sz="1600" b="1" dirty="0" err="1" smtClean="0">
                <a:solidFill>
                  <a:srgbClr val="7030A0"/>
                </a:solidFill>
              </a:rPr>
              <a:t>Dr.K.Venkata</a:t>
            </a:r>
            <a:r>
              <a:rPr lang="en-US" sz="1600" b="1" dirty="0" smtClean="0">
                <a:solidFill>
                  <a:srgbClr val="7030A0"/>
                </a:solidFill>
              </a:rPr>
              <a:t> </a:t>
            </a:r>
            <a:r>
              <a:rPr lang="en-US" sz="1600" b="1" dirty="0" err="1" smtClean="0">
                <a:solidFill>
                  <a:srgbClr val="7030A0"/>
                </a:solidFill>
              </a:rPr>
              <a:t>Nagendra</a:t>
            </a:r>
            <a:r>
              <a:rPr lang="en-US" b="1" dirty="0" smtClean="0"/>
              <a:t>, </a:t>
            </a:r>
            <a:r>
              <a:rPr lang="en-US" b="1" dirty="0" err="1" smtClean="0">
                <a:solidFill>
                  <a:schemeClr val="tx1"/>
                </a:solidFill>
              </a:rPr>
              <a:t>M.Tech,Ph.D</a:t>
            </a:r>
            <a:r>
              <a:rPr lang="en-US" b="1" dirty="0" smtClean="0">
                <a:solidFill>
                  <a:schemeClr val="tx1"/>
                </a:solidFill>
              </a:rPr>
              <a:t>, PDF. Associate Professor, </a:t>
            </a:r>
            <a:r>
              <a:rPr lang="en-US" b="1" dirty="0" err="1" smtClean="0">
                <a:solidFill>
                  <a:schemeClr val="tx1"/>
                </a:solidFill>
              </a:rPr>
              <a:t>Dept</a:t>
            </a:r>
            <a:r>
              <a:rPr lang="en-US" b="1" dirty="0" smtClean="0">
                <a:solidFill>
                  <a:schemeClr val="tx1"/>
                </a:solidFill>
              </a:rPr>
              <a:t> of CSE.</a:t>
            </a:r>
            <a:endParaRPr lang="en-US" b="1" dirty="0">
              <a:solidFill>
                <a:schemeClr val="tx1"/>
              </a:solidFill>
            </a:endParaRPr>
          </a:p>
        </p:txBody>
      </p:sp>
      <p:pic>
        <p:nvPicPr>
          <p:cNvPr id="1030" name="Picture 6" descr="SRKR"/>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6377" y="228600"/>
            <a:ext cx="3429000" cy="838201"/>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p:cNvPicPr>
            <a:picLocks noChangeAspect="1"/>
          </p:cNvPicPr>
          <p:nvPr/>
        </p:nvPicPr>
        <p:blipFill>
          <a:blip r:embed="rId2"/>
          <a:stretch>
            <a:fillRect/>
          </a:stretch>
        </p:blipFill>
        <p:spPr>
          <a:xfrm>
            <a:off x="4038600" y="304800"/>
            <a:ext cx="4267200" cy="762001"/>
          </a:xfrm>
          <a:prstGeom prst="rect">
            <a:avLst/>
          </a:prstGeom>
        </p:spPr>
      </p:pic>
      <p:sp>
        <p:nvSpPr>
          <p:cNvPr id="2" name="Text Box 1"/>
          <p:cNvSpPr txBox="1"/>
          <p:nvPr/>
        </p:nvSpPr>
        <p:spPr>
          <a:xfrm>
            <a:off x="142240" y="1295400"/>
            <a:ext cx="8719820" cy="2087880"/>
          </a:xfrm>
          <a:prstGeom prst="rect">
            <a:avLst/>
          </a:prstGeom>
        </p:spPr>
        <p:txBody>
          <a:bodyPr wrap="square">
            <a:noAutofit/>
          </a:bodyPr>
          <a:p>
            <a:pPr algn="just" defTabSz="266700">
              <a:lnSpc>
                <a:spcPct val="150000"/>
              </a:lnSpc>
              <a:spcBef>
                <a:spcPct val="0"/>
              </a:spcBef>
              <a:spcAft>
                <a:spcPct val="0"/>
              </a:spcAft>
            </a:pPr>
            <a:r>
              <a:rPr sz="1800" b="1">
                <a:solidFill>
                  <a:srgbClr val="191919"/>
                </a:solidFill>
                <a:latin typeface="Times New Roman" panose="02020603050405020304"/>
                <a:ea typeface="Times New Roman" panose="02020603050405020304"/>
              </a:rPr>
              <a:t>LDA performs two key roles:</a:t>
            </a:r>
            <a:endParaRPr sz="1800" b="1">
              <a:solidFill>
                <a:srgbClr val="191919"/>
              </a:solidFill>
              <a:latin typeface="Times New Roman" panose="02020603050405020304"/>
              <a:ea typeface="Times New Roman" panose="02020603050405020304"/>
            </a:endParaRPr>
          </a:p>
          <a:p>
            <a:pPr marL="285750" indent="-285750" algn="just" defTabSz="266700">
              <a:lnSpc>
                <a:spcPct val="150000"/>
              </a:lnSpc>
              <a:spcBef>
                <a:spcPct val="0"/>
              </a:spcBef>
              <a:spcAft>
                <a:spcPct val="0"/>
              </a:spcAft>
              <a:buFont typeface="Arial" panose="020B0604020202020204" pitchFamily="34" charset="0"/>
              <a:buChar char="•"/>
            </a:pPr>
            <a:r>
              <a:rPr sz="1800" b="1">
                <a:solidFill>
                  <a:srgbClr val="191919"/>
                </a:solidFill>
                <a:latin typeface="Times New Roman" panose="02020603050405020304"/>
                <a:ea typeface="SimSun" panose="02010600030101010101" pitchFamily="2" charset="-122"/>
              </a:rPr>
              <a:t>Classification</a:t>
            </a:r>
            <a:r>
              <a:rPr sz="1800">
                <a:solidFill>
                  <a:srgbClr val="191919"/>
                </a:solidFill>
                <a:latin typeface="Times New Roman" panose="02020603050405020304"/>
                <a:ea typeface="SimSun" panose="02010600030101010101" pitchFamily="2" charset="-122"/>
              </a:rPr>
              <a:t>: It finds a linear combination of features that best separates multiple classes.</a:t>
            </a:r>
            <a:endParaRPr sz="1800">
              <a:solidFill>
                <a:srgbClr val="191919"/>
              </a:solidFill>
              <a:latin typeface="Times New Roman" panose="02020603050405020304"/>
              <a:ea typeface="SimSun" panose="02010600030101010101" pitchFamily="2" charset="-122"/>
            </a:endParaRPr>
          </a:p>
          <a:p>
            <a:pPr marL="285750" indent="-285750" algn="just" defTabSz="266700">
              <a:lnSpc>
                <a:spcPct val="150000"/>
              </a:lnSpc>
              <a:spcBef>
                <a:spcPct val="0"/>
              </a:spcBef>
              <a:spcAft>
                <a:spcPct val="0"/>
              </a:spcAft>
              <a:buFont typeface="Arial" panose="020B0604020202020204" pitchFamily="34" charset="0"/>
              <a:buChar char="•"/>
            </a:pPr>
            <a:r>
              <a:rPr sz="1800" b="1">
                <a:solidFill>
                  <a:srgbClr val="191919"/>
                </a:solidFill>
                <a:latin typeface="Times New Roman" panose="02020603050405020304"/>
                <a:ea typeface="SimSun" panose="02010600030101010101" pitchFamily="2" charset="-122"/>
              </a:rPr>
              <a:t>Dimensionality Reduction</a:t>
            </a:r>
            <a:r>
              <a:rPr sz="1800">
                <a:solidFill>
                  <a:srgbClr val="191919"/>
                </a:solidFill>
                <a:latin typeface="Times New Roman" panose="02020603050405020304"/>
                <a:ea typeface="SimSun" panose="02010600030101010101" pitchFamily="2" charset="-122"/>
              </a:rPr>
              <a:t>: It reduces the number of input features while preserving the information necessary for classification.</a:t>
            </a:r>
            <a:endParaRPr sz="1800">
              <a:solidFill>
                <a:srgbClr val="191919"/>
              </a:solidFill>
              <a:latin typeface="Times New Roman" panose="02020603050405020304"/>
              <a:ea typeface="SimSun" panose="02010600030101010101" pitchFamily="2" charset="-122"/>
            </a:endParaRPr>
          </a:p>
        </p:txBody>
      </p:sp>
      <p:sp>
        <p:nvSpPr>
          <p:cNvPr id="4" name="Text Box 3"/>
          <p:cNvSpPr txBox="1"/>
          <p:nvPr/>
        </p:nvSpPr>
        <p:spPr>
          <a:xfrm>
            <a:off x="152400" y="3352800"/>
            <a:ext cx="8783320" cy="2621915"/>
          </a:xfrm>
          <a:prstGeom prst="rect">
            <a:avLst/>
          </a:prstGeom>
        </p:spPr>
        <p:txBody>
          <a:bodyPr wrap="square">
            <a:noAutofit/>
          </a:bodyPr>
          <a:p>
            <a:pPr algn="just" defTabSz="266700">
              <a:lnSpc>
                <a:spcPct val="150000"/>
              </a:lnSpc>
              <a:spcBef>
                <a:spcPct val="0"/>
              </a:spcBef>
              <a:spcAft>
                <a:spcPct val="0"/>
              </a:spcAft>
            </a:pPr>
            <a:r>
              <a:rPr sz="1800" b="1">
                <a:solidFill>
                  <a:srgbClr val="191919"/>
                </a:solidFill>
                <a:latin typeface="Times New Roman" panose="02020603050405020304"/>
                <a:ea typeface="SimSun" panose="02010600030101010101" pitchFamily="2" charset="-122"/>
              </a:rPr>
              <a:t>Working Mechanism:</a:t>
            </a:r>
            <a:endParaRPr sz="1800" b="1">
              <a:solidFill>
                <a:srgbClr val="191919"/>
              </a:solidFill>
              <a:latin typeface="Times New Roman" panose="02020603050405020304"/>
              <a:ea typeface="SimSun" panose="02010600030101010101" pitchFamily="2" charset="-122"/>
            </a:endParaRPr>
          </a:p>
          <a:p>
            <a:pPr algn="just" defTabSz="266700">
              <a:lnSpc>
                <a:spcPct val="150000"/>
              </a:lnSpc>
              <a:spcBef>
                <a:spcPct val="0"/>
              </a:spcBef>
              <a:spcAft>
                <a:spcPct val="0"/>
              </a:spcAft>
            </a:pPr>
            <a:r>
              <a:rPr sz="1800" b="1">
                <a:solidFill>
                  <a:srgbClr val="191919"/>
                </a:solidFill>
                <a:latin typeface="Times New Roman" panose="02020603050405020304"/>
                <a:ea typeface="SimSun" panose="02010600030101010101" pitchFamily="2" charset="-122"/>
              </a:rPr>
              <a:t>Step 1</a:t>
            </a:r>
            <a:r>
              <a:rPr sz="1800">
                <a:solidFill>
                  <a:srgbClr val="191919"/>
                </a:solidFill>
                <a:latin typeface="Times New Roman" panose="02020603050405020304"/>
                <a:ea typeface="SimSun" panose="02010600030101010101" pitchFamily="2" charset="-122"/>
              </a:rPr>
              <a:t>: Compute the mean vectors for each class.</a:t>
            </a:r>
            <a:endParaRPr sz="1800">
              <a:solidFill>
                <a:srgbClr val="191919"/>
              </a:solidFill>
              <a:latin typeface="Times New Roman" panose="02020603050405020304"/>
              <a:ea typeface="SimSun" panose="02010600030101010101" pitchFamily="2" charset="-122"/>
            </a:endParaRPr>
          </a:p>
          <a:p>
            <a:pPr algn="just" defTabSz="266700">
              <a:lnSpc>
                <a:spcPct val="150000"/>
              </a:lnSpc>
              <a:spcBef>
                <a:spcPct val="0"/>
              </a:spcBef>
              <a:spcAft>
                <a:spcPct val="0"/>
              </a:spcAft>
            </a:pPr>
            <a:r>
              <a:rPr sz="1800" b="1">
                <a:solidFill>
                  <a:srgbClr val="191919"/>
                </a:solidFill>
                <a:latin typeface="Times New Roman" panose="02020603050405020304"/>
                <a:ea typeface="SimSun" panose="02010600030101010101" pitchFamily="2" charset="-122"/>
              </a:rPr>
              <a:t>Step 2</a:t>
            </a:r>
            <a:r>
              <a:rPr sz="1800">
                <a:solidFill>
                  <a:srgbClr val="191919"/>
                </a:solidFill>
                <a:latin typeface="Times New Roman" panose="02020603050405020304"/>
                <a:ea typeface="SimSun" panose="02010600030101010101" pitchFamily="2" charset="-122"/>
              </a:rPr>
              <a:t>: Calculate the within-class and between-class scatter matrices.</a:t>
            </a:r>
            <a:endParaRPr sz="1800">
              <a:solidFill>
                <a:srgbClr val="191919"/>
              </a:solidFill>
              <a:latin typeface="Times New Roman" panose="02020603050405020304"/>
              <a:ea typeface="SimSun" panose="02010600030101010101" pitchFamily="2" charset="-122"/>
            </a:endParaRPr>
          </a:p>
          <a:p>
            <a:pPr algn="just" defTabSz="266700">
              <a:lnSpc>
                <a:spcPct val="150000"/>
              </a:lnSpc>
              <a:spcBef>
                <a:spcPct val="0"/>
              </a:spcBef>
              <a:spcAft>
                <a:spcPct val="0"/>
              </a:spcAft>
            </a:pPr>
            <a:r>
              <a:rPr sz="1800" b="1">
                <a:solidFill>
                  <a:srgbClr val="191919"/>
                </a:solidFill>
                <a:latin typeface="Times New Roman" panose="02020603050405020304"/>
                <a:ea typeface="SimSun" panose="02010600030101010101" pitchFamily="2" charset="-122"/>
              </a:rPr>
              <a:t>Step 3</a:t>
            </a:r>
            <a:r>
              <a:rPr sz="1800">
                <a:solidFill>
                  <a:srgbClr val="191919"/>
                </a:solidFill>
                <a:latin typeface="Times New Roman" panose="02020603050405020304"/>
                <a:ea typeface="SimSun" panose="02010600030101010101" pitchFamily="2" charset="-122"/>
              </a:rPr>
              <a:t>: Solve for the linear discriminants that maximize the ratio of between-class variance to within-class variance.</a:t>
            </a:r>
            <a:endParaRPr sz="1800">
              <a:solidFill>
                <a:srgbClr val="191919"/>
              </a:solidFill>
              <a:latin typeface="Times New Roman" panose="02020603050405020304"/>
              <a:ea typeface="SimSun" panose="02010600030101010101" pitchFamily="2" charset="-122"/>
            </a:endParaRPr>
          </a:p>
          <a:p>
            <a:pPr algn="just" defTabSz="266700">
              <a:lnSpc>
                <a:spcPct val="150000"/>
              </a:lnSpc>
              <a:spcBef>
                <a:spcPct val="0"/>
              </a:spcBef>
              <a:spcAft>
                <a:spcPct val="0"/>
              </a:spcAft>
            </a:pPr>
            <a:r>
              <a:rPr sz="1800" b="1">
                <a:solidFill>
                  <a:srgbClr val="191919"/>
                </a:solidFill>
                <a:latin typeface="Times New Roman" panose="02020603050405020304"/>
                <a:ea typeface="SimSun" panose="02010600030101010101" pitchFamily="2" charset="-122"/>
              </a:rPr>
              <a:t>Step 4</a:t>
            </a:r>
            <a:r>
              <a:rPr sz="1800">
                <a:solidFill>
                  <a:srgbClr val="191919"/>
                </a:solidFill>
                <a:latin typeface="Times New Roman" panose="02020603050405020304"/>
                <a:ea typeface="SimSun" panose="02010600030101010101" pitchFamily="2" charset="-122"/>
              </a:rPr>
              <a:t>: Project the data onto the new lower-dimensional space.</a:t>
            </a:r>
            <a:endParaRPr sz="1800">
              <a:solidFill>
                <a:srgbClr val="191919"/>
              </a:solidFill>
              <a:latin typeface="Times New Roman" panose="02020603050405020304"/>
              <a:ea typeface="SimSun" panose="02010600030101010101" pitchFamily="2" charset="-122"/>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3"/>
          <p:cNvSpPr>
            <a:spLocks noGrp="1"/>
          </p:cNvSpPr>
          <p:nvPr>
            <p:ph type="ftr" sz="quarter" idx="11"/>
          </p:nvPr>
        </p:nvSpPr>
        <p:spPr>
          <a:xfrm>
            <a:off x="1905000" y="6400800"/>
            <a:ext cx="5486400" cy="365125"/>
          </a:xfrm>
        </p:spPr>
        <p:txBody>
          <a:bodyPr/>
          <a:lstStyle/>
          <a:p>
            <a:pPr>
              <a:defRPr/>
            </a:pPr>
            <a:r>
              <a:rPr lang="en-US" sz="1600" b="1" dirty="0" err="1" smtClean="0">
                <a:solidFill>
                  <a:srgbClr val="7030A0"/>
                </a:solidFill>
              </a:rPr>
              <a:t>Dr.K.Venkata</a:t>
            </a:r>
            <a:r>
              <a:rPr lang="en-US" sz="1600" b="1" dirty="0" smtClean="0">
                <a:solidFill>
                  <a:srgbClr val="7030A0"/>
                </a:solidFill>
              </a:rPr>
              <a:t> </a:t>
            </a:r>
            <a:r>
              <a:rPr lang="en-US" sz="1600" b="1" dirty="0" err="1" smtClean="0">
                <a:solidFill>
                  <a:srgbClr val="7030A0"/>
                </a:solidFill>
              </a:rPr>
              <a:t>Nagendra</a:t>
            </a:r>
            <a:r>
              <a:rPr lang="en-US" b="1" dirty="0" smtClean="0"/>
              <a:t>, </a:t>
            </a:r>
            <a:r>
              <a:rPr lang="en-US" b="1" dirty="0" err="1" smtClean="0">
                <a:solidFill>
                  <a:schemeClr val="tx1"/>
                </a:solidFill>
              </a:rPr>
              <a:t>M.Tech,Ph.D</a:t>
            </a:r>
            <a:r>
              <a:rPr lang="en-US" b="1" dirty="0" smtClean="0">
                <a:solidFill>
                  <a:schemeClr val="tx1"/>
                </a:solidFill>
              </a:rPr>
              <a:t>, PDF. Associate Professor, </a:t>
            </a:r>
            <a:r>
              <a:rPr lang="en-US" b="1" dirty="0" err="1" smtClean="0">
                <a:solidFill>
                  <a:schemeClr val="tx1"/>
                </a:solidFill>
              </a:rPr>
              <a:t>Dept</a:t>
            </a:r>
            <a:r>
              <a:rPr lang="en-US" b="1" dirty="0" smtClean="0">
                <a:solidFill>
                  <a:schemeClr val="tx1"/>
                </a:solidFill>
              </a:rPr>
              <a:t> of CSE.</a:t>
            </a:r>
            <a:endParaRPr lang="en-US" b="1" dirty="0">
              <a:solidFill>
                <a:schemeClr val="tx1"/>
              </a:solidFill>
            </a:endParaRPr>
          </a:p>
        </p:txBody>
      </p:sp>
      <p:pic>
        <p:nvPicPr>
          <p:cNvPr id="1030" name="Picture 6" descr="SRKR"/>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6377" y="228600"/>
            <a:ext cx="3429000" cy="838201"/>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p:cNvPicPr>
            <a:picLocks noChangeAspect="1"/>
          </p:cNvPicPr>
          <p:nvPr/>
        </p:nvPicPr>
        <p:blipFill>
          <a:blip r:embed="rId2"/>
          <a:stretch>
            <a:fillRect/>
          </a:stretch>
        </p:blipFill>
        <p:spPr>
          <a:xfrm>
            <a:off x="4038600" y="304800"/>
            <a:ext cx="4267200" cy="762001"/>
          </a:xfrm>
          <a:prstGeom prst="rect">
            <a:avLst/>
          </a:prstGeom>
        </p:spPr>
      </p:pic>
      <p:sp>
        <p:nvSpPr>
          <p:cNvPr id="6" name="Text Box 5"/>
          <p:cNvSpPr txBox="1"/>
          <p:nvPr/>
        </p:nvSpPr>
        <p:spPr>
          <a:xfrm>
            <a:off x="609600" y="1600200"/>
            <a:ext cx="4260215" cy="1938020"/>
          </a:xfrm>
          <a:prstGeom prst="rect">
            <a:avLst/>
          </a:prstGeom>
        </p:spPr>
        <p:txBody>
          <a:bodyPr wrap="square">
            <a:spAutoFit/>
          </a:bodyPr>
          <a:p>
            <a:pPr defTabSz="266700">
              <a:lnSpc>
                <a:spcPct val="150000"/>
              </a:lnSpc>
              <a:spcAft>
                <a:spcPct val="0"/>
              </a:spcAft>
            </a:pPr>
            <a:r>
              <a:rPr sz="2000" b="1">
                <a:solidFill>
                  <a:srgbClr val="0A0A0A"/>
                </a:solidFill>
                <a:latin typeface="Times New Roman" panose="02020603050405020304"/>
                <a:ea typeface="Times New Roman" panose="02020603050405020304"/>
              </a:rPr>
              <a:t>Advantages of LDA:</a:t>
            </a:r>
            <a:endParaRPr sz="2000" b="1">
              <a:solidFill>
                <a:srgbClr val="0A0A0A"/>
              </a:solidFill>
              <a:latin typeface="Times New Roman" panose="02020603050405020304"/>
              <a:ea typeface="Times New Roman" panose="02020603050405020304"/>
            </a:endParaRPr>
          </a:p>
          <a:p>
            <a:pPr marL="914400" indent="-228600" defTabSz="266700">
              <a:lnSpc>
                <a:spcPct val="150000"/>
              </a:lnSpc>
              <a:spcAft>
                <a:spcPct val="0"/>
              </a:spcAft>
              <a:buFont typeface="Symbol" panose="05050102010706020507"/>
              <a:buChar char=""/>
              <a:tabLst>
                <a:tab pos="457200" algn="l"/>
              </a:tabLst>
            </a:pPr>
            <a:r>
              <a:rPr sz="2000">
                <a:solidFill>
                  <a:srgbClr val="0A0A0A"/>
                </a:solidFill>
                <a:latin typeface="Times New Roman" panose="02020603050405020304"/>
                <a:ea typeface="Times New Roman" panose="02020603050405020304"/>
              </a:rPr>
              <a:t>Efficient </a:t>
            </a:r>
            <a:endParaRPr sz="2000">
              <a:solidFill>
                <a:srgbClr val="0A0A0A"/>
              </a:solidFill>
              <a:latin typeface="Times New Roman" panose="02020603050405020304"/>
              <a:ea typeface="Times New Roman" panose="02020603050405020304"/>
            </a:endParaRPr>
          </a:p>
          <a:p>
            <a:pPr marL="914400" indent="-228600" defTabSz="266700">
              <a:lnSpc>
                <a:spcPct val="150000"/>
              </a:lnSpc>
              <a:spcAft>
                <a:spcPct val="0"/>
              </a:spcAft>
              <a:buFont typeface="Symbol" panose="05050102010706020507"/>
              <a:buChar char=""/>
              <a:tabLst>
                <a:tab pos="457200" algn="l"/>
              </a:tabLst>
            </a:pPr>
            <a:r>
              <a:rPr sz="2000">
                <a:solidFill>
                  <a:srgbClr val="0A0A0A"/>
                </a:solidFill>
                <a:latin typeface="Times New Roman" panose="02020603050405020304"/>
                <a:ea typeface="Times New Roman" panose="02020603050405020304"/>
              </a:rPr>
              <a:t>Good for smaller datasets </a:t>
            </a:r>
            <a:endParaRPr sz="2000">
              <a:solidFill>
                <a:srgbClr val="0A0A0A"/>
              </a:solidFill>
              <a:latin typeface="Times New Roman" panose="02020603050405020304"/>
              <a:ea typeface="Times New Roman" panose="02020603050405020304"/>
            </a:endParaRPr>
          </a:p>
          <a:p>
            <a:pPr marL="914400" indent="-228600" defTabSz="266700">
              <a:lnSpc>
                <a:spcPct val="150000"/>
              </a:lnSpc>
              <a:spcAft>
                <a:spcPct val="0"/>
              </a:spcAft>
              <a:buFont typeface="Symbol" panose="05050102010706020507"/>
              <a:buChar char=""/>
              <a:tabLst>
                <a:tab pos="457200" algn="l"/>
              </a:tabLst>
            </a:pPr>
            <a:r>
              <a:rPr sz="2000">
                <a:solidFill>
                  <a:srgbClr val="0A0A0A"/>
                </a:solidFill>
                <a:latin typeface="Times New Roman" panose="02020603050405020304"/>
                <a:ea typeface="Times New Roman" panose="02020603050405020304"/>
              </a:rPr>
              <a:t>Interpretability</a:t>
            </a:r>
            <a:endParaRPr sz="2000">
              <a:solidFill>
                <a:srgbClr val="0A0A0A"/>
              </a:solidFill>
              <a:latin typeface="Times New Roman" panose="02020603050405020304"/>
              <a:ea typeface="Times New Roman" panose="02020603050405020304"/>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3"/>
          <p:cNvSpPr>
            <a:spLocks noGrp="1"/>
          </p:cNvSpPr>
          <p:nvPr>
            <p:ph type="ftr" sz="quarter" idx="11"/>
          </p:nvPr>
        </p:nvSpPr>
        <p:spPr>
          <a:xfrm>
            <a:off x="1905000" y="6400800"/>
            <a:ext cx="5486400" cy="365125"/>
          </a:xfrm>
        </p:spPr>
        <p:txBody>
          <a:bodyPr/>
          <a:lstStyle/>
          <a:p>
            <a:pPr>
              <a:defRPr/>
            </a:pPr>
            <a:r>
              <a:rPr lang="en-US" sz="1600" b="1" dirty="0" err="1" smtClean="0">
                <a:solidFill>
                  <a:srgbClr val="7030A0"/>
                </a:solidFill>
              </a:rPr>
              <a:t>Dr.K.Venkata</a:t>
            </a:r>
            <a:r>
              <a:rPr lang="en-US" sz="1600" b="1" dirty="0" smtClean="0">
                <a:solidFill>
                  <a:srgbClr val="7030A0"/>
                </a:solidFill>
              </a:rPr>
              <a:t> </a:t>
            </a:r>
            <a:r>
              <a:rPr lang="en-US" sz="1600" b="1" dirty="0" err="1" smtClean="0">
                <a:solidFill>
                  <a:srgbClr val="7030A0"/>
                </a:solidFill>
              </a:rPr>
              <a:t>Nagendra</a:t>
            </a:r>
            <a:r>
              <a:rPr lang="en-US" b="1" dirty="0" smtClean="0"/>
              <a:t>, </a:t>
            </a:r>
            <a:r>
              <a:rPr lang="en-US" b="1" dirty="0" err="1" smtClean="0">
                <a:solidFill>
                  <a:schemeClr val="tx1"/>
                </a:solidFill>
              </a:rPr>
              <a:t>M.Tech,Ph.D</a:t>
            </a:r>
            <a:r>
              <a:rPr lang="en-US" b="1" dirty="0" smtClean="0">
                <a:solidFill>
                  <a:schemeClr val="tx1"/>
                </a:solidFill>
              </a:rPr>
              <a:t>, PDF. Associate Professor, </a:t>
            </a:r>
            <a:r>
              <a:rPr lang="en-US" b="1" dirty="0" err="1" smtClean="0">
                <a:solidFill>
                  <a:schemeClr val="tx1"/>
                </a:solidFill>
              </a:rPr>
              <a:t>Dept</a:t>
            </a:r>
            <a:r>
              <a:rPr lang="en-US" b="1" dirty="0" smtClean="0">
                <a:solidFill>
                  <a:schemeClr val="tx1"/>
                </a:solidFill>
              </a:rPr>
              <a:t> of CSE.</a:t>
            </a:r>
            <a:endParaRPr lang="en-US" b="1" dirty="0">
              <a:solidFill>
                <a:schemeClr val="tx1"/>
              </a:solidFill>
            </a:endParaRPr>
          </a:p>
        </p:txBody>
      </p:sp>
      <p:pic>
        <p:nvPicPr>
          <p:cNvPr id="1030" name="Picture 6" descr="SRKR"/>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6377" y="228600"/>
            <a:ext cx="3429000" cy="838201"/>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p:cNvPicPr>
            <a:picLocks noChangeAspect="1"/>
          </p:cNvPicPr>
          <p:nvPr/>
        </p:nvPicPr>
        <p:blipFill>
          <a:blip r:embed="rId2"/>
          <a:stretch>
            <a:fillRect/>
          </a:stretch>
        </p:blipFill>
        <p:spPr>
          <a:xfrm>
            <a:off x="4038600" y="304800"/>
            <a:ext cx="4267200" cy="762001"/>
          </a:xfrm>
          <a:prstGeom prst="rect">
            <a:avLst/>
          </a:prstGeom>
        </p:spPr>
      </p:pic>
      <p:pic>
        <p:nvPicPr>
          <p:cNvPr id="23" name="Picture 19"/>
          <p:cNvPicPr>
            <a:picLocks noChangeAspect="1"/>
          </p:cNvPicPr>
          <p:nvPr/>
        </p:nvPicPr>
        <p:blipFill>
          <a:blip r:embed="rId3"/>
          <a:stretch>
            <a:fillRect/>
          </a:stretch>
        </p:blipFill>
        <p:spPr>
          <a:xfrm>
            <a:off x="280670" y="1731645"/>
            <a:ext cx="8477885" cy="4564380"/>
          </a:xfrm>
          <a:prstGeom prst="rect">
            <a:avLst/>
          </a:prstGeom>
          <a:noFill/>
          <a:ln>
            <a:noFill/>
          </a:ln>
        </p:spPr>
      </p:pic>
      <p:sp>
        <p:nvSpPr>
          <p:cNvPr id="2" name="Text Box 1"/>
          <p:cNvSpPr txBox="1"/>
          <p:nvPr/>
        </p:nvSpPr>
        <p:spPr>
          <a:xfrm>
            <a:off x="2743200" y="1218883"/>
            <a:ext cx="5080000" cy="521970"/>
          </a:xfrm>
          <a:prstGeom prst="rect">
            <a:avLst/>
          </a:prstGeom>
        </p:spPr>
        <p:txBody>
          <a:bodyPr>
            <a:spAutoFit/>
          </a:bodyPr>
          <a:p>
            <a:pPr marL="0" indent="0"/>
            <a:r>
              <a:rPr sz="2800" b="1" i="0">
                <a:solidFill>
                  <a:srgbClr val="FF0000"/>
                </a:solidFill>
                <a:latin typeface="Calibri" panose="020F0502020204030204" pitchFamily="34" charset="0"/>
                <a:ea typeface="Google Sans"/>
                <a:cs typeface="Calibri" panose="020F0502020204030204" pitchFamily="34" charset="0"/>
              </a:rPr>
              <a:t>Perceptron Learning Algorithm</a:t>
            </a:r>
            <a:endParaRPr sz="2800" b="1" i="0">
              <a:solidFill>
                <a:srgbClr val="FF0000"/>
              </a:solidFill>
              <a:latin typeface="Calibri" panose="020F0502020204030204" pitchFamily="34" charset="0"/>
              <a:ea typeface="Google Sans"/>
              <a:cs typeface="Calibri" panose="020F0502020204030204" pitchFamily="34" charset="0"/>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3"/>
          <p:cNvSpPr>
            <a:spLocks noGrp="1"/>
          </p:cNvSpPr>
          <p:nvPr>
            <p:ph type="ftr" sz="quarter" idx="11"/>
          </p:nvPr>
        </p:nvSpPr>
        <p:spPr>
          <a:xfrm>
            <a:off x="1905000" y="6400800"/>
            <a:ext cx="5486400" cy="365125"/>
          </a:xfrm>
        </p:spPr>
        <p:txBody>
          <a:bodyPr/>
          <a:lstStyle/>
          <a:p>
            <a:pPr>
              <a:defRPr/>
            </a:pPr>
            <a:r>
              <a:rPr lang="en-US" sz="1600" b="1" dirty="0" err="1" smtClean="0">
                <a:solidFill>
                  <a:srgbClr val="7030A0"/>
                </a:solidFill>
              </a:rPr>
              <a:t>Dr.K.Venkata</a:t>
            </a:r>
            <a:r>
              <a:rPr lang="en-US" sz="1600" b="1" dirty="0" smtClean="0">
                <a:solidFill>
                  <a:srgbClr val="7030A0"/>
                </a:solidFill>
              </a:rPr>
              <a:t> </a:t>
            </a:r>
            <a:r>
              <a:rPr lang="en-US" sz="1600" b="1" dirty="0" err="1" smtClean="0">
                <a:solidFill>
                  <a:srgbClr val="7030A0"/>
                </a:solidFill>
              </a:rPr>
              <a:t>Nagendra</a:t>
            </a:r>
            <a:r>
              <a:rPr lang="en-US" b="1" dirty="0" smtClean="0"/>
              <a:t>, </a:t>
            </a:r>
            <a:r>
              <a:rPr lang="en-US" b="1" dirty="0" err="1" smtClean="0">
                <a:solidFill>
                  <a:schemeClr val="tx1"/>
                </a:solidFill>
              </a:rPr>
              <a:t>M.Tech,Ph.D</a:t>
            </a:r>
            <a:r>
              <a:rPr lang="en-US" b="1" dirty="0" smtClean="0">
                <a:solidFill>
                  <a:schemeClr val="tx1"/>
                </a:solidFill>
              </a:rPr>
              <a:t>, PDF. Associate Professor, </a:t>
            </a:r>
            <a:r>
              <a:rPr lang="en-US" b="1" dirty="0" err="1" smtClean="0">
                <a:solidFill>
                  <a:schemeClr val="tx1"/>
                </a:solidFill>
              </a:rPr>
              <a:t>Dept</a:t>
            </a:r>
            <a:r>
              <a:rPr lang="en-US" b="1" dirty="0" smtClean="0">
                <a:solidFill>
                  <a:schemeClr val="tx1"/>
                </a:solidFill>
              </a:rPr>
              <a:t> of CSE.</a:t>
            </a:r>
            <a:endParaRPr lang="en-US" b="1" dirty="0">
              <a:solidFill>
                <a:schemeClr val="tx1"/>
              </a:solidFill>
            </a:endParaRPr>
          </a:p>
        </p:txBody>
      </p:sp>
      <p:pic>
        <p:nvPicPr>
          <p:cNvPr id="1030" name="Picture 6" descr="SRKR"/>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6377" y="228600"/>
            <a:ext cx="3429000" cy="838201"/>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p:cNvPicPr>
            <a:picLocks noChangeAspect="1"/>
          </p:cNvPicPr>
          <p:nvPr/>
        </p:nvPicPr>
        <p:blipFill>
          <a:blip r:embed="rId2"/>
          <a:stretch>
            <a:fillRect/>
          </a:stretch>
        </p:blipFill>
        <p:spPr>
          <a:xfrm>
            <a:off x="4038600" y="304800"/>
            <a:ext cx="4267200" cy="762001"/>
          </a:xfrm>
          <a:prstGeom prst="rect">
            <a:avLst/>
          </a:prstGeom>
        </p:spPr>
      </p:pic>
      <p:sp>
        <p:nvSpPr>
          <p:cNvPr id="3" name="Rectangle 2"/>
          <p:cNvSpPr/>
          <p:nvPr/>
        </p:nvSpPr>
        <p:spPr>
          <a:xfrm>
            <a:off x="381000" y="1192009"/>
            <a:ext cx="8534400" cy="2629535"/>
          </a:xfrm>
          <a:prstGeom prst="rect">
            <a:avLst/>
          </a:prstGeom>
        </p:spPr>
        <p:txBody>
          <a:bodyPr wrap="square">
            <a:spAutoFit/>
          </a:bodyPr>
          <a:lstStyle/>
          <a:p>
            <a:pPr algn="ctr">
              <a:lnSpc>
                <a:spcPct val="107000"/>
              </a:lnSpc>
              <a:spcAft>
                <a:spcPts val="0"/>
              </a:spcAft>
            </a:pPr>
            <a:r>
              <a:rPr lang="en-IN" sz="2800" b="1" dirty="0">
                <a:solidFill>
                  <a:srgbClr val="FF0000"/>
                </a:solidFill>
                <a:latin typeface="Calibri" panose="020F0502020204030204" pitchFamily="34" charset="0"/>
                <a:ea typeface="Calibri" panose="020F0502020204030204" pitchFamily="34" charset="0"/>
                <a:cs typeface="Times New Roman" panose="02020603050405020304" pitchFamily="18" charset="0"/>
              </a:rPr>
              <a:t>THE PERCEPTRON</a:t>
            </a:r>
            <a:endParaRPr lang="en-IN" sz="1600" dirty="0">
              <a:latin typeface="Calibri" panose="020F0502020204030204" pitchFamily="34" charset="0"/>
              <a:ea typeface="Calibri" panose="020F0502020204030204" pitchFamily="34" charset="0"/>
              <a:cs typeface="Times New Roman" panose="02020603050405020304" pitchFamily="18" charset="0"/>
            </a:endParaRPr>
          </a:p>
          <a:p>
            <a:pPr indent="457200" algn="just">
              <a:lnSpc>
                <a:spcPct val="150000"/>
              </a:lnSpc>
              <a:spcAft>
                <a:spcPts val="0"/>
              </a:spcAft>
            </a:pPr>
            <a:r>
              <a:rPr lang="en-IN" dirty="0" smtClean="0">
                <a:latin typeface="Times New Roman" panose="02020603050405020304" pitchFamily="18" charset="0"/>
                <a:ea typeface="Calibri" panose="020F0502020204030204" pitchFamily="34" charset="0"/>
                <a:cs typeface="Times New Roman" panose="02020603050405020304" pitchFamily="18" charset="0"/>
              </a:rPr>
              <a:t>A </a:t>
            </a:r>
            <a:r>
              <a:rPr lang="en-IN" dirty="0">
                <a:latin typeface="Times New Roman" panose="02020603050405020304" pitchFamily="18" charset="0"/>
                <a:ea typeface="Calibri" panose="020F0502020204030204" pitchFamily="34" charset="0"/>
                <a:cs typeface="Times New Roman" panose="02020603050405020304" pitchFamily="18" charset="0"/>
              </a:rPr>
              <a:t>perceptron is the simplest building block of an artificial neural network, designed to perform binary classification by imitating the function of a biological neuron</a:t>
            </a:r>
            <a:r>
              <a:rPr lang="en-IN" dirty="0">
                <a:solidFill>
                  <a:srgbClr val="0A0A0A"/>
                </a:solidFill>
                <a:latin typeface="Times New Roman" panose="02020603050405020304" pitchFamily="18" charset="0"/>
                <a:ea typeface="Calibri" panose="020F0502020204030204" pitchFamily="34" charset="0"/>
                <a:cs typeface="Times New Roman" panose="02020603050405020304" pitchFamily="18" charset="0"/>
              </a:rPr>
              <a:t>. Developed in 1957 by </a:t>
            </a:r>
            <a:r>
              <a:rPr lang="en-IN" b="1" dirty="0">
                <a:solidFill>
                  <a:srgbClr val="0A0A0A"/>
                </a:solidFill>
                <a:latin typeface="Times New Roman" panose="02020603050405020304" pitchFamily="18" charset="0"/>
                <a:ea typeface="Calibri" panose="020F0502020204030204" pitchFamily="34" charset="0"/>
                <a:cs typeface="Times New Roman" panose="02020603050405020304" pitchFamily="18" charset="0"/>
              </a:rPr>
              <a:t>Frank Rosenblatt</a:t>
            </a:r>
            <a:r>
              <a:rPr lang="en-IN" dirty="0">
                <a:solidFill>
                  <a:srgbClr val="0A0A0A"/>
                </a:solidFill>
                <a:latin typeface="Times New Roman" panose="02020603050405020304" pitchFamily="18" charset="0"/>
                <a:ea typeface="Calibri" panose="020F0502020204030204" pitchFamily="34" charset="0"/>
                <a:cs typeface="Times New Roman" panose="02020603050405020304" pitchFamily="18" charset="0"/>
              </a:rPr>
              <a:t>, it is a supervised learning algorithm that processes input data, applies weights to determine the relative importance of each input, and produces a binary output (typically 0 or 1). </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9" name="Picture 8"/>
          <p:cNvPicPr/>
          <p:nvPr/>
        </p:nvPicPr>
        <p:blipFill>
          <a:blip r:embed="rId3">
            <a:extLst>
              <a:ext uri="{28A0092B-C50C-407E-A947-70E740481C1C}">
                <a14:useLocalDpi xmlns:a14="http://schemas.microsoft.com/office/drawing/2010/main" val="0"/>
              </a:ext>
            </a:extLst>
          </a:blip>
          <a:srcRect/>
          <a:stretch>
            <a:fillRect/>
          </a:stretch>
        </p:blipFill>
        <p:spPr bwMode="auto">
          <a:xfrm>
            <a:off x="617220" y="4039166"/>
            <a:ext cx="8061960" cy="2361634"/>
          </a:xfrm>
          <a:prstGeom prst="rect">
            <a:avLst/>
          </a:prstGeom>
          <a:noFill/>
          <a:ln>
            <a:noFill/>
          </a:ln>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3"/>
          <p:cNvSpPr>
            <a:spLocks noGrp="1"/>
          </p:cNvSpPr>
          <p:nvPr>
            <p:ph type="ftr" sz="quarter" idx="11"/>
          </p:nvPr>
        </p:nvSpPr>
        <p:spPr>
          <a:xfrm>
            <a:off x="1905000" y="6400800"/>
            <a:ext cx="5486400" cy="365125"/>
          </a:xfrm>
        </p:spPr>
        <p:txBody>
          <a:bodyPr/>
          <a:lstStyle/>
          <a:p>
            <a:pPr>
              <a:defRPr/>
            </a:pPr>
            <a:r>
              <a:rPr lang="en-US" sz="1600" b="1" dirty="0" err="1" smtClean="0">
                <a:solidFill>
                  <a:srgbClr val="7030A0"/>
                </a:solidFill>
              </a:rPr>
              <a:t>Dr.K.Venkata</a:t>
            </a:r>
            <a:r>
              <a:rPr lang="en-US" sz="1600" b="1" dirty="0" smtClean="0">
                <a:solidFill>
                  <a:srgbClr val="7030A0"/>
                </a:solidFill>
              </a:rPr>
              <a:t> </a:t>
            </a:r>
            <a:r>
              <a:rPr lang="en-US" sz="1600" b="1" dirty="0" err="1" smtClean="0">
                <a:solidFill>
                  <a:srgbClr val="7030A0"/>
                </a:solidFill>
              </a:rPr>
              <a:t>Nagendra</a:t>
            </a:r>
            <a:r>
              <a:rPr lang="en-US" b="1" dirty="0" smtClean="0"/>
              <a:t>, </a:t>
            </a:r>
            <a:r>
              <a:rPr lang="en-US" b="1" dirty="0" err="1" smtClean="0">
                <a:solidFill>
                  <a:schemeClr val="tx1"/>
                </a:solidFill>
              </a:rPr>
              <a:t>M.Tech,Ph.D</a:t>
            </a:r>
            <a:r>
              <a:rPr lang="en-US" b="1" dirty="0" smtClean="0">
                <a:solidFill>
                  <a:schemeClr val="tx1"/>
                </a:solidFill>
              </a:rPr>
              <a:t>, PDF. Associate Professor, </a:t>
            </a:r>
            <a:r>
              <a:rPr lang="en-US" b="1" dirty="0" err="1" smtClean="0">
                <a:solidFill>
                  <a:schemeClr val="tx1"/>
                </a:solidFill>
              </a:rPr>
              <a:t>Dept</a:t>
            </a:r>
            <a:r>
              <a:rPr lang="en-US" b="1" dirty="0" smtClean="0">
                <a:solidFill>
                  <a:schemeClr val="tx1"/>
                </a:solidFill>
              </a:rPr>
              <a:t> of CSE.</a:t>
            </a:r>
            <a:endParaRPr lang="en-US" b="1" dirty="0">
              <a:solidFill>
                <a:schemeClr val="tx1"/>
              </a:solidFill>
            </a:endParaRPr>
          </a:p>
        </p:txBody>
      </p:sp>
      <p:pic>
        <p:nvPicPr>
          <p:cNvPr id="1030" name="Picture 6" descr="SRKR"/>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6377" y="228600"/>
            <a:ext cx="3429000" cy="838201"/>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p:cNvPicPr>
            <a:picLocks noChangeAspect="1"/>
          </p:cNvPicPr>
          <p:nvPr/>
        </p:nvPicPr>
        <p:blipFill>
          <a:blip r:embed="rId2"/>
          <a:stretch>
            <a:fillRect/>
          </a:stretch>
        </p:blipFill>
        <p:spPr>
          <a:xfrm>
            <a:off x="4038600" y="304800"/>
            <a:ext cx="4267200" cy="762001"/>
          </a:xfrm>
          <a:prstGeom prst="rect">
            <a:avLst/>
          </a:prstGeom>
        </p:spPr>
      </p:pic>
      <p:sp>
        <p:nvSpPr>
          <p:cNvPr id="3" name="Rectangle 2"/>
          <p:cNvSpPr/>
          <p:nvPr/>
        </p:nvSpPr>
        <p:spPr>
          <a:xfrm>
            <a:off x="228600" y="1467683"/>
            <a:ext cx="8610600" cy="4246245"/>
          </a:xfrm>
          <a:prstGeom prst="rect">
            <a:avLst/>
          </a:prstGeom>
        </p:spPr>
        <p:txBody>
          <a:bodyPr wrap="square">
            <a:spAutoFit/>
          </a:bodyPr>
          <a:lstStyle/>
          <a:p>
            <a:pPr indent="457200" algn="just">
              <a:lnSpc>
                <a:spcPct val="150000"/>
              </a:lnSpc>
              <a:spcAft>
                <a:spcPts val="0"/>
              </a:spcAft>
            </a:pPr>
            <a:r>
              <a:rPr lang="en-IN" dirty="0">
                <a:solidFill>
                  <a:srgbClr val="51565E"/>
                </a:solidFill>
                <a:latin typeface="Times New Roman" panose="02020603050405020304" pitchFamily="18" charset="0"/>
                <a:ea typeface="Times New Roman" panose="02020603050405020304" pitchFamily="18" charset="0"/>
                <a:cs typeface="Times New Roman" panose="02020603050405020304" pitchFamily="18" charset="0"/>
              </a:rPr>
              <a:t>This step function or Activation function is vital in ensuring that output is mapped between (0,1) or (-1,1). Take note that the weight of input indicates a node’s strength. Similarly, an input value gives the ability the shift the activation function curve up or down.</a:t>
            </a:r>
            <a:endParaRPr lang="en-IN" sz="16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0"/>
              </a:spcAft>
            </a:pPr>
            <a:r>
              <a:rPr lang="en-IN" b="1" dirty="0">
                <a:solidFill>
                  <a:srgbClr val="51565E"/>
                </a:solidFill>
                <a:latin typeface="Times New Roman" panose="02020603050405020304" pitchFamily="18" charset="0"/>
                <a:ea typeface="Times New Roman" panose="02020603050405020304" pitchFamily="18" charset="0"/>
                <a:cs typeface="Times New Roman" panose="02020603050405020304" pitchFamily="18" charset="0"/>
              </a:rPr>
              <a:t>Step 1:</a:t>
            </a:r>
            <a:r>
              <a:rPr lang="en-IN" dirty="0">
                <a:solidFill>
                  <a:srgbClr val="51565E"/>
                </a:solidFill>
                <a:latin typeface="Times New Roman" panose="02020603050405020304" pitchFamily="18" charset="0"/>
                <a:ea typeface="Times New Roman" panose="02020603050405020304" pitchFamily="18" charset="0"/>
                <a:cs typeface="Times New Roman" panose="02020603050405020304" pitchFamily="18" charset="0"/>
              </a:rPr>
              <a:t> Multiply all input values with corresponding weight values and then add to calculate the weighted sum. The following is the mathematical expression of it:</a:t>
            </a:r>
            <a:endParaRPr lang="en-IN" sz="16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0"/>
              </a:spcAft>
            </a:pPr>
            <a:r>
              <a:rPr lang="en-IN" dirty="0">
                <a:solidFill>
                  <a:srgbClr val="51565E"/>
                </a:solidFill>
                <a:latin typeface="Times New Roman" panose="02020603050405020304" pitchFamily="18" charset="0"/>
                <a:ea typeface="Times New Roman" panose="02020603050405020304" pitchFamily="18" charset="0"/>
                <a:cs typeface="Times New Roman" panose="02020603050405020304" pitchFamily="18" charset="0"/>
              </a:rPr>
              <a:t>                                     ∑</a:t>
            </a:r>
            <a:r>
              <a:rPr lang="en-IN" dirty="0" err="1">
                <a:solidFill>
                  <a:srgbClr val="51565E"/>
                </a:solidFill>
                <a:latin typeface="Times New Roman" panose="02020603050405020304" pitchFamily="18" charset="0"/>
                <a:ea typeface="Times New Roman" panose="02020603050405020304" pitchFamily="18" charset="0"/>
                <a:cs typeface="Times New Roman" panose="02020603050405020304" pitchFamily="18" charset="0"/>
              </a:rPr>
              <a:t>w</a:t>
            </a:r>
            <a:r>
              <a:rPr lang="en-IN" baseline="-25000" dirty="0" err="1">
                <a:solidFill>
                  <a:srgbClr val="51565E"/>
                </a:solidFill>
                <a:latin typeface="Times New Roman" panose="02020603050405020304" pitchFamily="18" charset="0"/>
                <a:ea typeface="Times New Roman" panose="02020603050405020304" pitchFamily="18" charset="0"/>
                <a:cs typeface="Times New Roman" panose="02020603050405020304" pitchFamily="18" charset="0"/>
              </a:rPr>
              <a:t>i</a:t>
            </a:r>
            <a:r>
              <a:rPr lang="en-IN" dirty="0">
                <a:solidFill>
                  <a:srgbClr val="51565E"/>
                </a:solidFill>
                <a:latin typeface="Times New Roman" panose="02020603050405020304" pitchFamily="18" charset="0"/>
                <a:ea typeface="Times New Roman" panose="02020603050405020304" pitchFamily="18" charset="0"/>
                <a:cs typeface="Times New Roman" panose="02020603050405020304" pitchFamily="18" charset="0"/>
              </a:rPr>
              <a:t>*x</a:t>
            </a:r>
            <a:r>
              <a:rPr lang="en-IN" baseline="-25000" dirty="0">
                <a:solidFill>
                  <a:srgbClr val="51565E"/>
                </a:solidFill>
                <a:latin typeface="Times New Roman" panose="02020603050405020304" pitchFamily="18" charset="0"/>
                <a:ea typeface="Times New Roman" panose="02020603050405020304" pitchFamily="18" charset="0"/>
                <a:cs typeface="Times New Roman" panose="02020603050405020304" pitchFamily="18" charset="0"/>
              </a:rPr>
              <a:t>i</a:t>
            </a:r>
            <a:r>
              <a:rPr lang="en-IN" dirty="0">
                <a:solidFill>
                  <a:srgbClr val="51565E"/>
                </a:solidFill>
                <a:latin typeface="Times New Roman" panose="02020603050405020304" pitchFamily="18" charset="0"/>
                <a:ea typeface="Times New Roman" panose="02020603050405020304" pitchFamily="18" charset="0"/>
                <a:cs typeface="Times New Roman" panose="02020603050405020304" pitchFamily="18" charset="0"/>
              </a:rPr>
              <a:t> = x</a:t>
            </a:r>
            <a:r>
              <a:rPr lang="en-IN" baseline="-25000" dirty="0">
                <a:solidFill>
                  <a:srgbClr val="51565E"/>
                </a:solidFill>
                <a:latin typeface="Times New Roman" panose="02020603050405020304" pitchFamily="18" charset="0"/>
                <a:ea typeface="Times New Roman" panose="02020603050405020304" pitchFamily="18" charset="0"/>
                <a:cs typeface="Times New Roman" panose="02020603050405020304" pitchFamily="18" charset="0"/>
              </a:rPr>
              <a:t>1</a:t>
            </a:r>
            <a:r>
              <a:rPr lang="en-IN" dirty="0">
                <a:solidFill>
                  <a:srgbClr val="51565E"/>
                </a:solidFill>
                <a:latin typeface="Times New Roman" panose="02020603050405020304" pitchFamily="18" charset="0"/>
                <a:ea typeface="Times New Roman" panose="02020603050405020304" pitchFamily="18" charset="0"/>
                <a:cs typeface="Times New Roman" panose="02020603050405020304" pitchFamily="18" charset="0"/>
              </a:rPr>
              <a:t>*w</a:t>
            </a:r>
            <a:r>
              <a:rPr lang="en-IN" baseline="-25000" dirty="0">
                <a:solidFill>
                  <a:srgbClr val="51565E"/>
                </a:solidFill>
                <a:latin typeface="Times New Roman" panose="02020603050405020304" pitchFamily="18" charset="0"/>
                <a:ea typeface="Times New Roman" panose="02020603050405020304" pitchFamily="18" charset="0"/>
                <a:cs typeface="Times New Roman" panose="02020603050405020304" pitchFamily="18" charset="0"/>
              </a:rPr>
              <a:t>1</a:t>
            </a:r>
            <a:r>
              <a:rPr lang="en-IN" dirty="0">
                <a:solidFill>
                  <a:srgbClr val="51565E"/>
                </a:solidFill>
                <a:latin typeface="Times New Roman" panose="02020603050405020304" pitchFamily="18" charset="0"/>
                <a:ea typeface="Times New Roman" panose="02020603050405020304" pitchFamily="18" charset="0"/>
                <a:cs typeface="Times New Roman" panose="02020603050405020304" pitchFamily="18" charset="0"/>
              </a:rPr>
              <a:t> + x</a:t>
            </a:r>
            <a:r>
              <a:rPr lang="en-IN" baseline="-25000" dirty="0">
                <a:solidFill>
                  <a:srgbClr val="51565E"/>
                </a:solidFill>
                <a:latin typeface="Times New Roman" panose="02020603050405020304" pitchFamily="18" charset="0"/>
                <a:ea typeface="Times New Roman" panose="02020603050405020304" pitchFamily="18" charset="0"/>
                <a:cs typeface="Times New Roman" panose="02020603050405020304" pitchFamily="18" charset="0"/>
              </a:rPr>
              <a:t>2</a:t>
            </a:r>
            <a:r>
              <a:rPr lang="en-IN" dirty="0">
                <a:solidFill>
                  <a:srgbClr val="51565E"/>
                </a:solidFill>
                <a:latin typeface="Times New Roman" panose="02020603050405020304" pitchFamily="18" charset="0"/>
                <a:ea typeface="Times New Roman" panose="02020603050405020304" pitchFamily="18" charset="0"/>
                <a:cs typeface="Times New Roman" panose="02020603050405020304" pitchFamily="18" charset="0"/>
              </a:rPr>
              <a:t>*w</a:t>
            </a:r>
            <a:r>
              <a:rPr lang="en-IN" baseline="-25000" dirty="0">
                <a:solidFill>
                  <a:srgbClr val="51565E"/>
                </a:solidFill>
                <a:latin typeface="Times New Roman" panose="02020603050405020304" pitchFamily="18" charset="0"/>
                <a:ea typeface="Times New Roman" panose="02020603050405020304" pitchFamily="18" charset="0"/>
                <a:cs typeface="Times New Roman" panose="02020603050405020304" pitchFamily="18" charset="0"/>
              </a:rPr>
              <a:t>2 </a:t>
            </a:r>
            <a:r>
              <a:rPr lang="en-IN" dirty="0">
                <a:solidFill>
                  <a:srgbClr val="51565E"/>
                </a:solidFill>
                <a:latin typeface="Times New Roman" panose="02020603050405020304" pitchFamily="18" charset="0"/>
                <a:ea typeface="Times New Roman" panose="02020603050405020304" pitchFamily="18" charset="0"/>
                <a:cs typeface="Times New Roman" panose="02020603050405020304" pitchFamily="18" charset="0"/>
              </a:rPr>
              <a:t>+ x</a:t>
            </a:r>
            <a:r>
              <a:rPr lang="en-IN" baseline="-25000" dirty="0">
                <a:solidFill>
                  <a:srgbClr val="51565E"/>
                </a:solidFill>
                <a:latin typeface="Times New Roman" panose="02020603050405020304" pitchFamily="18" charset="0"/>
                <a:ea typeface="Times New Roman" panose="02020603050405020304" pitchFamily="18" charset="0"/>
                <a:cs typeface="Times New Roman" panose="02020603050405020304" pitchFamily="18" charset="0"/>
              </a:rPr>
              <a:t>3</a:t>
            </a:r>
            <a:r>
              <a:rPr lang="en-IN" dirty="0">
                <a:solidFill>
                  <a:srgbClr val="51565E"/>
                </a:solidFill>
                <a:latin typeface="Times New Roman" panose="02020603050405020304" pitchFamily="18" charset="0"/>
                <a:ea typeface="Times New Roman" panose="02020603050405020304" pitchFamily="18" charset="0"/>
                <a:cs typeface="Times New Roman" panose="02020603050405020304" pitchFamily="18" charset="0"/>
              </a:rPr>
              <a:t>*w</a:t>
            </a:r>
            <a:r>
              <a:rPr lang="en-IN" baseline="-25000" dirty="0">
                <a:solidFill>
                  <a:srgbClr val="51565E"/>
                </a:solidFill>
                <a:latin typeface="Times New Roman" panose="02020603050405020304" pitchFamily="18" charset="0"/>
                <a:ea typeface="Times New Roman" panose="02020603050405020304" pitchFamily="18" charset="0"/>
                <a:cs typeface="Times New Roman" panose="02020603050405020304" pitchFamily="18" charset="0"/>
              </a:rPr>
              <a:t>3</a:t>
            </a:r>
            <a:r>
              <a:rPr lang="en-IN" dirty="0">
                <a:solidFill>
                  <a:srgbClr val="51565E"/>
                </a:solidFill>
                <a:latin typeface="Times New Roman" panose="02020603050405020304" pitchFamily="18" charset="0"/>
                <a:ea typeface="Times New Roman" panose="02020603050405020304" pitchFamily="18" charset="0"/>
                <a:cs typeface="Times New Roman" panose="02020603050405020304" pitchFamily="18" charset="0"/>
              </a:rPr>
              <a:t>+……..x</a:t>
            </a:r>
            <a:r>
              <a:rPr lang="en-IN" baseline="-25000" dirty="0">
                <a:solidFill>
                  <a:srgbClr val="51565E"/>
                </a:solidFill>
                <a:latin typeface="Times New Roman" panose="02020603050405020304" pitchFamily="18" charset="0"/>
                <a:ea typeface="Times New Roman" panose="02020603050405020304" pitchFamily="18" charset="0"/>
                <a:cs typeface="Times New Roman" panose="02020603050405020304" pitchFamily="18" charset="0"/>
              </a:rPr>
              <a:t>n</a:t>
            </a:r>
            <a:r>
              <a:rPr lang="en-IN" dirty="0">
                <a:solidFill>
                  <a:srgbClr val="51565E"/>
                </a:solidFill>
                <a:latin typeface="Times New Roman" panose="02020603050405020304" pitchFamily="18" charset="0"/>
                <a:ea typeface="Times New Roman" panose="02020603050405020304" pitchFamily="18" charset="0"/>
                <a:cs typeface="Times New Roman" panose="02020603050405020304" pitchFamily="18" charset="0"/>
              </a:rPr>
              <a:t>*w</a:t>
            </a:r>
            <a:r>
              <a:rPr lang="en-IN" baseline="-25000" dirty="0">
                <a:solidFill>
                  <a:srgbClr val="51565E"/>
                </a:solidFill>
                <a:latin typeface="Times New Roman" panose="02020603050405020304" pitchFamily="18" charset="0"/>
                <a:ea typeface="Times New Roman" panose="02020603050405020304" pitchFamily="18" charset="0"/>
                <a:cs typeface="Times New Roman" panose="02020603050405020304" pitchFamily="18" charset="0"/>
              </a:rPr>
              <a:t>n</a:t>
            </a:r>
            <a:endParaRPr lang="en-IN" sz="16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0"/>
              </a:spcAft>
            </a:pPr>
            <a:r>
              <a:rPr lang="en-IN" dirty="0">
                <a:solidFill>
                  <a:srgbClr val="51565E"/>
                </a:solidFill>
                <a:latin typeface="Times New Roman" panose="02020603050405020304" pitchFamily="18" charset="0"/>
                <a:ea typeface="Times New Roman" panose="02020603050405020304" pitchFamily="18" charset="0"/>
                <a:cs typeface="Times New Roman" panose="02020603050405020304" pitchFamily="18" charset="0"/>
              </a:rPr>
              <a:t>Add a term called bias ‘b’ to this weighted sum to improve the model’s performance.</a:t>
            </a:r>
            <a:endParaRPr lang="en-IN" sz="16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0"/>
              </a:spcAft>
            </a:pPr>
            <a:r>
              <a:rPr lang="en-IN" b="1" dirty="0">
                <a:solidFill>
                  <a:srgbClr val="51565E"/>
                </a:solidFill>
                <a:latin typeface="Times New Roman" panose="02020603050405020304" pitchFamily="18" charset="0"/>
                <a:ea typeface="Times New Roman" panose="02020603050405020304" pitchFamily="18" charset="0"/>
                <a:cs typeface="Times New Roman" panose="02020603050405020304" pitchFamily="18" charset="0"/>
              </a:rPr>
              <a:t>Step 2:</a:t>
            </a:r>
            <a:r>
              <a:rPr lang="en-IN" dirty="0">
                <a:solidFill>
                  <a:srgbClr val="51565E"/>
                </a:solidFill>
                <a:latin typeface="Times New Roman" panose="02020603050405020304" pitchFamily="18" charset="0"/>
                <a:ea typeface="Times New Roman" panose="02020603050405020304" pitchFamily="18" charset="0"/>
                <a:cs typeface="Times New Roman" panose="02020603050405020304" pitchFamily="18" charset="0"/>
              </a:rPr>
              <a:t>  An activation function is applied with the above-mentioned weighted sum giving us an output either in binary form or a continuous value as follows:</a:t>
            </a:r>
            <a:endParaRPr lang="en-IN" sz="16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0"/>
              </a:spcAft>
            </a:pPr>
            <a:r>
              <a:rPr lang="en-IN" dirty="0">
                <a:solidFill>
                  <a:srgbClr val="51565E"/>
                </a:solidFill>
                <a:latin typeface="Times New Roman" panose="02020603050405020304" pitchFamily="18" charset="0"/>
                <a:ea typeface="Times New Roman" panose="02020603050405020304" pitchFamily="18" charset="0"/>
                <a:cs typeface="Times New Roman" panose="02020603050405020304" pitchFamily="18" charset="0"/>
              </a:rPr>
              <a:t>                                           Y=f(∑</a:t>
            </a:r>
            <a:r>
              <a:rPr lang="en-IN" dirty="0" err="1">
                <a:solidFill>
                  <a:srgbClr val="51565E"/>
                </a:solidFill>
                <a:latin typeface="Times New Roman" panose="02020603050405020304" pitchFamily="18" charset="0"/>
                <a:ea typeface="Times New Roman" panose="02020603050405020304" pitchFamily="18" charset="0"/>
                <a:cs typeface="Times New Roman" panose="02020603050405020304" pitchFamily="18" charset="0"/>
              </a:rPr>
              <a:t>w</a:t>
            </a:r>
            <a:r>
              <a:rPr lang="en-IN" baseline="-25000" dirty="0" err="1">
                <a:solidFill>
                  <a:srgbClr val="51565E"/>
                </a:solidFill>
                <a:latin typeface="Times New Roman" panose="02020603050405020304" pitchFamily="18" charset="0"/>
                <a:ea typeface="Times New Roman" panose="02020603050405020304" pitchFamily="18" charset="0"/>
                <a:cs typeface="Times New Roman" panose="02020603050405020304" pitchFamily="18" charset="0"/>
              </a:rPr>
              <a:t>i</a:t>
            </a:r>
            <a:r>
              <a:rPr lang="en-IN" dirty="0">
                <a:solidFill>
                  <a:srgbClr val="51565E"/>
                </a:solidFill>
                <a:latin typeface="Times New Roman" panose="02020603050405020304" pitchFamily="18" charset="0"/>
                <a:ea typeface="Times New Roman" panose="02020603050405020304" pitchFamily="18" charset="0"/>
                <a:cs typeface="Times New Roman" panose="02020603050405020304" pitchFamily="18" charset="0"/>
              </a:rPr>
              <a:t>*x</a:t>
            </a:r>
            <a:r>
              <a:rPr lang="en-IN" baseline="-25000" dirty="0">
                <a:solidFill>
                  <a:srgbClr val="51565E"/>
                </a:solidFill>
                <a:latin typeface="Times New Roman" panose="02020603050405020304" pitchFamily="18" charset="0"/>
                <a:ea typeface="Times New Roman" panose="02020603050405020304" pitchFamily="18" charset="0"/>
                <a:cs typeface="Times New Roman" panose="02020603050405020304" pitchFamily="18" charset="0"/>
              </a:rPr>
              <a:t>i</a:t>
            </a:r>
            <a:r>
              <a:rPr lang="en-IN" dirty="0">
                <a:solidFill>
                  <a:srgbClr val="51565E"/>
                </a:solidFill>
                <a:latin typeface="Times New Roman" panose="02020603050405020304" pitchFamily="18" charset="0"/>
                <a:ea typeface="Times New Roman" panose="02020603050405020304" pitchFamily="18" charset="0"/>
                <a:cs typeface="Times New Roman" panose="02020603050405020304" pitchFamily="18" charset="0"/>
              </a:rPr>
              <a:t> + b)</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3"/>
          <p:cNvSpPr>
            <a:spLocks noGrp="1"/>
          </p:cNvSpPr>
          <p:nvPr>
            <p:ph type="ftr" sz="quarter" idx="11"/>
          </p:nvPr>
        </p:nvSpPr>
        <p:spPr>
          <a:xfrm>
            <a:off x="1905000" y="6400800"/>
            <a:ext cx="5486400" cy="365125"/>
          </a:xfrm>
        </p:spPr>
        <p:txBody>
          <a:bodyPr/>
          <a:lstStyle/>
          <a:p>
            <a:pPr>
              <a:defRPr/>
            </a:pPr>
            <a:r>
              <a:rPr lang="en-US" b="1" dirty="0" err="1" smtClean="0"/>
              <a:t>Dr.K.Venkata</a:t>
            </a:r>
            <a:r>
              <a:rPr lang="en-US" b="1" dirty="0" smtClean="0"/>
              <a:t> </a:t>
            </a:r>
            <a:r>
              <a:rPr lang="en-US" b="1" dirty="0" err="1" smtClean="0"/>
              <a:t>Nagendra</a:t>
            </a:r>
            <a:r>
              <a:rPr lang="en-US" b="1" dirty="0" smtClean="0"/>
              <a:t>, </a:t>
            </a:r>
            <a:r>
              <a:rPr lang="en-US" b="1" dirty="0" err="1" smtClean="0"/>
              <a:t>M.Tech,Ph.D</a:t>
            </a:r>
            <a:r>
              <a:rPr lang="en-US" b="1" dirty="0" smtClean="0"/>
              <a:t>, PDF. Associate Professor, </a:t>
            </a:r>
            <a:r>
              <a:rPr lang="en-US" b="1" dirty="0" err="1" smtClean="0"/>
              <a:t>Dept</a:t>
            </a:r>
            <a:r>
              <a:rPr lang="en-US" b="1" dirty="0" smtClean="0"/>
              <a:t> of CSE.</a:t>
            </a:r>
            <a:endParaRPr lang="en-US" b="1" dirty="0"/>
          </a:p>
        </p:txBody>
      </p:sp>
      <p:pic>
        <p:nvPicPr>
          <p:cNvPr id="1030" name="Picture 6" descr="SRKR"/>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6377" y="228600"/>
            <a:ext cx="3429000" cy="838201"/>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p:cNvPicPr>
            <a:picLocks noChangeAspect="1"/>
          </p:cNvPicPr>
          <p:nvPr/>
        </p:nvPicPr>
        <p:blipFill>
          <a:blip r:embed="rId2"/>
          <a:stretch>
            <a:fillRect/>
          </a:stretch>
        </p:blipFill>
        <p:spPr>
          <a:xfrm>
            <a:off x="4038600" y="304800"/>
            <a:ext cx="4267200" cy="762001"/>
          </a:xfrm>
          <a:prstGeom prst="rect">
            <a:avLst/>
          </a:prstGeom>
        </p:spPr>
      </p:pic>
      <p:sp>
        <p:nvSpPr>
          <p:cNvPr id="2" name="Rectangle 1"/>
          <p:cNvSpPr/>
          <p:nvPr/>
        </p:nvSpPr>
        <p:spPr>
          <a:xfrm>
            <a:off x="152400" y="1219200"/>
            <a:ext cx="8686800" cy="4708981"/>
          </a:xfrm>
          <a:prstGeom prst="rect">
            <a:avLst/>
          </a:prstGeom>
        </p:spPr>
        <p:txBody>
          <a:bodyPr wrap="square">
            <a:spAutoFit/>
          </a:bodyPr>
          <a:lstStyle/>
          <a:p>
            <a:pPr algn="just">
              <a:lnSpc>
                <a:spcPct val="150000"/>
              </a:lnSpc>
              <a:spcAft>
                <a:spcPts val="0"/>
              </a:spcAft>
            </a:pPr>
            <a:r>
              <a:rPr lang="en-IN" sz="2000" b="1" dirty="0">
                <a:solidFill>
                  <a:srgbClr val="FF0000"/>
                </a:solidFill>
                <a:latin typeface="Times New Roman" panose="02020603050405020304" pitchFamily="18" charset="0"/>
                <a:ea typeface="Times New Roman" panose="02020603050405020304" pitchFamily="18" charset="0"/>
                <a:cs typeface="Times New Roman" panose="02020603050405020304" pitchFamily="18" charset="0"/>
              </a:rPr>
              <a:t>Types of perceptron </a:t>
            </a:r>
            <a:endParaRPr lang="en-IN" sz="1600" dirty="0">
              <a:solidFill>
                <a:srgbClr val="FF0000"/>
              </a:solidFill>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0"/>
              </a:spcAft>
            </a:pPr>
            <a:r>
              <a:rPr lang="en-IN" dirty="0" err="1">
                <a:latin typeface="Times New Roman" panose="02020603050405020304" pitchFamily="18" charset="0"/>
                <a:ea typeface="Times New Roman" panose="02020603050405020304" pitchFamily="18" charset="0"/>
                <a:cs typeface="Times New Roman" panose="02020603050405020304" pitchFamily="18" charset="0"/>
              </a:rPr>
              <a:t>Perceptrons</a:t>
            </a:r>
            <a:r>
              <a:rPr lang="en-IN" dirty="0">
                <a:latin typeface="Times New Roman" panose="02020603050405020304" pitchFamily="18" charset="0"/>
                <a:ea typeface="Times New Roman" panose="02020603050405020304" pitchFamily="18" charset="0"/>
                <a:cs typeface="Times New Roman" panose="02020603050405020304" pitchFamily="18" charset="0"/>
              </a:rPr>
              <a:t> are categorized by their architecture, which determines the complexity of problems they can solve. </a:t>
            </a:r>
            <a:endParaRPr lang="en-IN" sz="1600"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spcAft>
                <a:spcPts val="0"/>
              </a:spcAft>
              <a:buSzPts val="1000"/>
              <a:buFont typeface="Symbol" panose="05050102010706020507" pitchFamily="18" charset="2"/>
              <a:buChar char=""/>
              <a:tabLst>
                <a:tab pos="457200" algn="l"/>
              </a:tabLst>
            </a:pPr>
            <a:r>
              <a:rPr lang="en-IN" b="1" dirty="0">
                <a:latin typeface="Times New Roman" panose="02020603050405020304" pitchFamily="18" charset="0"/>
                <a:ea typeface="Times New Roman" panose="02020603050405020304" pitchFamily="18" charset="0"/>
                <a:cs typeface="Times New Roman" panose="02020603050405020304" pitchFamily="18" charset="0"/>
              </a:rPr>
              <a:t>Single-layer perceptron (SLP):</a:t>
            </a:r>
            <a:r>
              <a:rPr lang="en-IN" dirty="0">
                <a:latin typeface="Times New Roman" panose="02020603050405020304" pitchFamily="18" charset="0"/>
                <a:ea typeface="Times New Roman" panose="02020603050405020304" pitchFamily="18" charset="0"/>
                <a:cs typeface="Times New Roman" panose="02020603050405020304" pitchFamily="18" charset="0"/>
              </a:rPr>
              <a:t> The most basic form, it consists of a single layer of output nodes connected directly to the inputs. SLPs can only solve problems that are </a:t>
            </a:r>
            <a:r>
              <a:rPr lang="en-IN" b="1" i="1" dirty="0">
                <a:solidFill>
                  <a:srgbClr val="FF33CC"/>
                </a:solidFill>
                <a:latin typeface="Times New Roman" panose="02020603050405020304" pitchFamily="18" charset="0"/>
                <a:ea typeface="Times New Roman" panose="02020603050405020304" pitchFamily="18" charset="0"/>
                <a:cs typeface="Times New Roman" panose="02020603050405020304" pitchFamily="18" charset="0"/>
              </a:rPr>
              <a:t>linearly separable</a:t>
            </a:r>
            <a:r>
              <a:rPr lang="en-IN" b="1" dirty="0">
                <a:solidFill>
                  <a:srgbClr val="FF33CC"/>
                </a:solidFill>
                <a:latin typeface="Times New Roman" panose="02020603050405020304" pitchFamily="18" charset="0"/>
                <a:ea typeface="Times New Roman" panose="02020603050405020304" pitchFamily="18" charset="0"/>
                <a:cs typeface="Times New Roman" panose="02020603050405020304" pitchFamily="18" charset="0"/>
              </a:rPr>
              <a:t>, </a:t>
            </a:r>
            <a:r>
              <a:rPr lang="en-IN" dirty="0">
                <a:latin typeface="Times New Roman" panose="02020603050405020304" pitchFamily="18" charset="0"/>
                <a:ea typeface="Times New Roman" panose="02020603050405020304" pitchFamily="18" charset="0"/>
                <a:cs typeface="Times New Roman" panose="02020603050405020304" pitchFamily="18" charset="0"/>
              </a:rPr>
              <a:t>meaning the data can be divided into two classes by a single straight line or hyperplane.</a:t>
            </a:r>
            <a:endParaRPr lang="en-IN" sz="1600"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spcAft>
                <a:spcPts val="0"/>
              </a:spcAft>
              <a:buSzPts val="1000"/>
              <a:buFont typeface="Symbol" panose="05050102010706020507" pitchFamily="18" charset="2"/>
              <a:buChar char=""/>
              <a:tabLst>
                <a:tab pos="457200" algn="l"/>
              </a:tabLst>
            </a:pPr>
            <a:r>
              <a:rPr lang="en-IN" b="1" dirty="0">
                <a:latin typeface="Times New Roman" panose="02020603050405020304" pitchFamily="18" charset="0"/>
                <a:ea typeface="Times New Roman" panose="02020603050405020304" pitchFamily="18" charset="0"/>
                <a:cs typeface="Times New Roman" panose="02020603050405020304" pitchFamily="18" charset="0"/>
              </a:rPr>
              <a:t>Multi-layer perceptron (MLP):</a:t>
            </a:r>
            <a:r>
              <a:rPr lang="en-IN" dirty="0">
                <a:latin typeface="Times New Roman" panose="02020603050405020304" pitchFamily="18" charset="0"/>
                <a:ea typeface="Times New Roman" panose="02020603050405020304" pitchFamily="18" charset="0"/>
                <a:cs typeface="Times New Roman" panose="02020603050405020304" pitchFamily="18" charset="0"/>
              </a:rPr>
              <a:t> This advanced architecture includes one or more "hidden" layers between the input and output layers. The hidden layers enable MLPs to model more complex, non-linear patterns, allowing them to solve problems that are </a:t>
            </a:r>
            <a:r>
              <a:rPr lang="en-IN" b="1" dirty="0">
                <a:solidFill>
                  <a:srgbClr val="FF33CC"/>
                </a:solidFill>
                <a:latin typeface="Times New Roman" panose="02020603050405020304" pitchFamily="18" charset="0"/>
                <a:ea typeface="Times New Roman" panose="02020603050405020304" pitchFamily="18" charset="0"/>
                <a:cs typeface="Times New Roman" panose="02020603050405020304" pitchFamily="18" charset="0"/>
              </a:rPr>
              <a:t>not linearly separable</a:t>
            </a:r>
            <a:r>
              <a:rPr lang="en-IN" dirty="0">
                <a:latin typeface="Times New Roman" panose="02020603050405020304" pitchFamily="18" charset="0"/>
                <a:ea typeface="Times New Roman" panose="02020603050405020304" pitchFamily="18" charset="0"/>
                <a:cs typeface="Times New Roman" panose="02020603050405020304" pitchFamily="18" charset="0"/>
              </a:rPr>
              <a:t>, such as the famous XOR problem. </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3"/>
          <p:cNvSpPr>
            <a:spLocks noGrp="1"/>
          </p:cNvSpPr>
          <p:nvPr>
            <p:ph type="ftr" sz="quarter" idx="11"/>
          </p:nvPr>
        </p:nvSpPr>
        <p:spPr>
          <a:xfrm>
            <a:off x="1905000" y="6400800"/>
            <a:ext cx="5486400" cy="365125"/>
          </a:xfrm>
        </p:spPr>
        <p:txBody>
          <a:bodyPr/>
          <a:lstStyle/>
          <a:p>
            <a:pPr>
              <a:defRPr/>
            </a:pPr>
            <a:r>
              <a:rPr lang="en-US" b="1" dirty="0" err="1" smtClean="0"/>
              <a:t>Dr.K.Venkata</a:t>
            </a:r>
            <a:r>
              <a:rPr lang="en-US" b="1" dirty="0" smtClean="0"/>
              <a:t> </a:t>
            </a:r>
            <a:r>
              <a:rPr lang="en-US" b="1" dirty="0" err="1" smtClean="0"/>
              <a:t>Nagendra</a:t>
            </a:r>
            <a:r>
              <a:rPr lang="en-US" b="1" dirty="0" smtClean="0"/>
              <a:t>, </a:t>
            </a:r>
            <a:r>
              <a:rPr lang="en-US" b="1" dirty="0" err="1" smtClean="0"/>
              <a:t>M.Tech,Ph.D</a:t>
            </a:r>
            <a:r>
              <a:rPr lang="en-US" b="1" dirty="0" smtClean="0"/>
              <a:t>, PDF. Associate Professor, </a:t>
            </a:r>
            <a:r>
              <a:rPr lang="en-US" b="1" dirty="0" err="1" smtClean="0"/>
              <a:t>Dept</a:t>
            </a:r>
            <a:r>
              <a:rPr lang="en-US" b="1" dirty="0" smtClean="0"/>
              <a:t> of CSE.</a:t>
            </a:r>
            <a:endParaRPr lang="en-US" b="1" dirty="0"/>
          </a:p>
        </p:txBody>
      </p:sp>
      <p:pic>
        <p:nvPicPr>
          <p:cNvPr id="1030" name="Picture 6" descr="SRKR"/>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6377" y="228600"/>
            <a:ext cx="3429000" cy="838201"/>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p:cNvPicPr>
            <a:picLocks noChangeAspect="1"/>
          </p:cNvPicPr>
          <p:nvPr/>
        </p:nvPicPr>
        <p:blipFill>
          <a:blip r:embed="rId2"/>
          <a:stretch>
            <a:fillRect/>
          </a:stretch>
        </p:blipFill>
        <p:spPr>
          <a:xfrm>
            <a:off x="4038600" y="304800"/>
            <a:ext cx="4267200" cy="762001"/>
          </a:xfrm>
          <a:prstGeom prst="rect">
            <a:avLst/>
          </a:prstGeom>
        </p:spPr>
      </p:pic>
      <p:sp>
        <p:nvSpPr>
          <p:cNvPr id="2" name="Rectangle 1"/>
          <p:cNvSpPr/>
          <p:nvPr/>
        </p:nvSpPr>
        <p:spPr>
          <a:xfrm>
            <a:off x="3028314" y="1037568"/>
            <a:ext cx="3239770" cy="506730"/>
          </a:xfrm>
          <a:prstGeom prst="rect">
            <a:avLst/>
          </a:prstGeom>
        </p:spPr>
        <p:txBody>
          <a:bodyPr wrap="none">
            <a:spAutoFit/>
          </a:bodyPr>
          <a:lstStyle/>
          <a:p>
            <a:pPr algn="ctr">
              <a:lnSpc>
                <a:spcPct val="150000"/>
              </a:lnSpc>
              <a:spcAft>
                <a:spcPts val="0"/>
              </a:spcAft>
            </a:pPr>
            <a:r>
              <a:rPr lang="en-IN" b="1" spc="-40" dirty="0">
                <a:solidFill>
                  <a:srgbClr val="FF0000"/>
                </a:solidFill>
                <a:latin typeface="Times New Roman" panose="02020603050405020304" pitchFamily="18" charset="0"/>
                <a:ea typeface="Calibri" panose="020F0502020204030204" pitchFamily="34" charset="0"/>
                <a:cs typeface="Times New Roman" panose="02020603050405020304" pitchFamily="18" charset="0"/>
              </a:rPr>
              <a:t>MULTILAYER PERCEPTRON</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6" name="Rectangle 5"/>
          <p:cNvSpPr/>
          <p:nvPr/>
        </p:nvSpPr>
        <p:spPr>
          <a:xfrm>
            <a:off x="386862" y="1344914"/>
            <a:ext cx="8545048" cy="1338828"/>
          </a:xfrm>
          <a:prstGeom prst="rect">
            <a:avLst/>
          </a:prstGeom>
        </p:spPr>
        <p:txBody>
          <a:bodyPr wrap="square">
            <a:spAutoFit/>
          </a:bodyPr>
          <a:lstStyle/>
          <a:p>
            <a:pPr algn="just">
              <a:lnSpc>
                <a:spcPct val="150000"/>
              </a:lnSpc>
              <a:spcAft>
                <a:spcPts val="0"/>
              </a:spcAft>
            </a:pPr>
            <a:r>
              <a:rPr lang="en-IN" dirty="0">
                <a:solidFill>
                  <a:srgbClr val="05192D"/>
                </a:solidFill>
                <a:latin typeface="Times New Roman" panose="02020603050405020304" pitchFamily="18" charset="0"/>
                <a:ea typeface="Times New Roman" panose="02020603050405020304" pitchFamily="18" charset="0"/>
              </a:rPr>
              <a:t>A multilayer perceptron is a type of feedforward neural network consisting of fully connected neurons with a nonlinear kind of activation function. It is widely used to distinguish data that is not linearly separable.</a:t>
            </a:r>
            <a:endParaRPr lang="en-IN" sz="1800" dirty="0">
              <a:effectLst/>
              <a:latin typeface="Times New Roman" panose="02020603050405020304" pitchFamily="18" charset="0"/>
              <a:ea typeface="Times New Roman" panose="02020603050405020304" pitchFamily="18" charset="0"/>
            </a:endParaRPr>
          </a:p>
        </p:txBody>
      </p:sp>
      <p:sp>
        <p:nvSpPr>
          <p:cNvPr id="3" name="Rectangle 2"/>
          <p:cNvSpPr/>
          <p:nvPr/>
        </p:nvSpPr>
        <p:spPr>
          <a:xfrm>
            <a:off x="371475" y="2609850"/>
            <a:ext cx="2873375" cy="3692525"/>
          </a:xfrm>
          <a:prstGeom prst="rect">
            <a:avLst/>
          </a:prstGeom>
        </p:spPr>
        <p:txBody>
          <a:bodyPr wrap="square">
            <a:spAutoFit/>
          </a:bodyPr>
          <a:lstStyle/>
          <a:p>
            <a:r>
              <a:rPr lang="en-IN" b="1" dirty="0">
                <a:solidFill>
                  <a:srgbClr val="C00000"/>
                </a:solidFill>
                <a:latin typeface="Calibri" panose="020F0502020204030204" pitchFamily="34" charset="0"/>
                <a:ea typeface="Calibri" panose="020F0502020204030204" pitchFamily="34" charset="0"/>
                <a:cs typeface="Times New Roman" panose="02020603050405020304" pitchFamily="18" charset="0"/>
              </a:rPr>
              <a:t>Components of an MLP:</a:t>
            </a:r>
            <a:r>
              <a:rPr lang="en-IN" dirty="0">
                <a:solidFill>
                  <a:srgbClr val="C00000"/>
                </a:solidFill>
                <a:latin typeface="Calibri" panose="020F0502020204030204" pitchFamily="34" charset="0"/>
                <a:ea typeface="Calibri" panose="020F0502020204030204" pitchFamily="34" charset="0"/>
                <a:cs typeface="Times New Roman" panose="02020603050405020304" pitchFamily="18" charset="0"/>
              </a:rPr>
              <a:t> </a:t>
            </a:r>
            <a:endParaRPr lang="en-IN" dirty="0" smtClean="0">
              <a:solidFill>
                <a:srgbClr val="C00000"/>
              </a:solidFill>
              <a:latin typeface="Calibri" panose="020F0502020204030204" pitchFamily="34" charset="0"/>
              <a:ea typeface="Calibri" panose="020F0502020204030204" pitchFamily="34" charset="0"/>
              <a:cs typeface="Times New Roman" panose="02020603050405020304" pitchFamily="18" charset="0"/>
            </a:endParaRPr>
          </a:p>
          <a:p>
            <a:pPr algn="just"/>
            <a:r>
              <a:rPr lang="en-IN" sz="1800" dirty="0">
                <a:latin typeface="Times New Roman" panose="02020603050405020304" pitchFamily="18" charset="0"/>
                <a:cs typeface="Times New Roman" panose="02020603050405020304" pitchFamily="18" charset="0"/>
              </a:rPr>
              <a:t>MLPs have been widely used in various fields, including image recognition, natural language proces</a:t>
            </a:r>
            <a:r>
              <a:rPr lang="en-IN" dirty="0">
                <a:solidFill>
                  <a:srgbClr val="05192D"/>
                </a:solidFill>
                <a:latin typeface="Times New Roman" panose="02020603050405020304" pitchFamily="18" charset="0"/>
                <a:ea typeface="Calibri" panose="020F0502020204030204" pitchFamily="34" charset="0"/>
                <a:cs typeface="Times New Roman" panose="02020603050405020304" pitchFamily="18" charset="0"/>
              </a:rPr>
              <a:t>sing, and speech recognition, among others. </a:t>
            </a:r>
            <a:endParaRPr lang="en-IN" dirty="0" smtClean="0">
              <a:solidFill>
                <a:srgbClr val="05192D"/>
              </a:solidFill>
              <a:latin typeface="Times New Roman" panose="02020603050405020304" pitchFamily="18" charset="0"/>
              <a:ea typeface="Calibri" panose="020F0502020204030204" pitchFamily="34" charset="0"/>
              <a:cs typeface="Times New Roman" panose="02020603050405020304" pitchFamily="18" charset="0"/>
            </a:endParaRPr>
          </a:p>
          <a:p>
            <a:pPr marL="285750" indent="-285750">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Input layer:</a:t>
            </a:r>
            <a:endParaRPr lang="en-IN"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Hidden layer: </a:t>
            </a:r>
            <a:endParaRPr lang="en-IN"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Output layer: </a:t>
            </a:r>
            <a:endParaRPr lang="en-IN"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Weights:</a:t>
            </a:r>
            <a:endParaRPr lang="en-IN"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Bias neurons: </a:t>
            </a:r>
            <a:endParaRPr lang="en-IN" dirty="0">
              <a:latin typeface="Times New Roman" panose="02020603050405020304" pitchFamily="18" charset="0"/>
              <a:cs typeface="Times New Roman" panose="02020603050405020304" pitchFamily="18" charset="0"/>
            </a:endParaRPr>
          </a:p>
          <a:p>
            <a:endParaRPr lang="en-IN" dirty="0"/>
          </a:p>
        </p:txBody>
      </p:sp>
      <p:pic>
        <p:nvPicPr>
          <p:cNvPr id="9" name="Picture 8" descr="Typical architecture of an MLP with two hidden layers. | Download  Scientific Diagram"/>
          <p:cNvPicPr/>
          <p:nvPr/>
        </p:nvPicPr>
        <p:blipFill>
          <a:blip r:embed="rId3">
            <a:extLst>
              <a:ext uri="{28A0092B-C50C-407E-A947-70E740481C1C}">
                <a14:useLocalDpi xmlns:a14="http://schemas.microsoft.com/office/drawing/2010/main" val="0"/>
              </a:ext>
            </a:extLst>
          </a:blip>
          <a:srcRect/>
          <a:stretch>
            <a:fillRect/>
          </a:stretch>
        </p:blipFill>
        <p:spPr bwMode="auto">
          <a:xfrm>
            <a:off x="3455376" y="2961855"/>
            <a:ext cx="5476533" cy="2989580"/>
          </a:xfrm>
          <a:prstGeom prst="rect">
            <a:avLst/>
          </a:prstGeom>
          <a:noFill/>
          <a:ln>
            <a:noFill/>
          </a:ln>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3"/>
          <p:cNvSpPr>
            <a:spLocks noGrp="1"/>
          </p:cNvSpPr>
          <p:nvPr>
            <p:ph type="ftr" sz="quarter" idx="11"/>
          </p:nvPr>
        </p:nvSpPr>
        <p:spPr>
          <a:xfrm>
            <a:off x="1905000" y="6400800"/>
            <a:ext cx="5486400" cy="365125"/>
          </a:xfrm>
        </p:spPr>
        <p:txBody>
          <a:bodyPr/>
          <a:lstStyle/>
          <a:p>
            <a:pPr>
              <a:defRPr/>
            </a:pPr>
            <a:r>
              <a:rPr lang="en-US" b="1" dirty="0" err="1" smtClean="0"/>
              <a:t>Dr.K.Venkata</a:t>
            </a:r>
            <a:r>
              <a:rPr lang="en-US" b="1" dirty="0" smtClean="0"/>
              <a:t> </a:t>
            </a:r>
            <a:r>
              <a:rPr lang="en-US" b="1" dirty="0" err="1" smtClean="0"/>
              <a:t>Nagendra</a:t>
            </a:r>
            <a:r>
              <a:rPr lang="en-US" b="1" dirty="0" smtClean="0"/>
              <a:t>, </a:t>
            </a:r>
            <a:r>
              <a:rPr lang="en-US" b="1" dirty="0" err="1" smtClean="0"/>
              <a:t>M.Tech,Ph.D</a:t>
            </a:r>
            <a:r>
              <a:rPr lang="en-US" b="1" dirty="0" smtClean="0"/>
              <a:t>, PDF. Associate Professor, </a:t>
            </a:r>
            <a:r>
              <a:rPr lang="en-US" b="1" dirty="0" err="1" smtClean="0"/>
              <a:t>Dept</a:t>
            </a:r>
            <a:r>
              <a:rPr lang="en-US" b="1" dirty="0" smtClean="0"/>
              <a:t> of CSE.</a:t>
            </a:r>
            <a:endParaRPr lang="en-US" b="1" dirty="0"/>
          </a:p>
        </p:txBody>
      </p:sp>
      <p:pic>
        <p:nvPicPr>
          <p:cNvPr id="1030" name="Picture 6" descr="SRKR"/>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6377" y="228600"/>
            <a:ext cx="3429000" cy="838201"/>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p:cNvPicPr>
            <a:picLocks noChangeAspect="1"/>
          </p:cNvPicPr>
          <p:nvPr/>
        </p:nvPicPr>
        <p:blipFill>
          <a:blip r:embed="rId2"/>
          <a:stretch>
            <a:fillRect/>
          </a:stretch>
        </p:blipFill>
        <p:spPr>
          <a:xfrm>
            <a:off x="4038600" y="304800"/>
            <a:ext cx="4267200" cy="762001"/>
          </a:xfrm>
          <a:prstGeom prst="rect">
            <a:avLst/>
          </a:prstGeom>
        </p:spPr>
      </p:pic>
      <p:sp>
        <p:nvSpPr>
          <p:cNvPr id="7" name="Rectangle 3"/>
          <p:cNvSpPr>
            <a:spLocks noChangeArrowheads="1"/>
          </p:cNvSpPr>
          <p:nvPr/>
        </p:nvSpPr>
        <p:spPr bwMode="auto">
          <a:xfrm>
            <a:off x="533400" y="4450417"/>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en-IN"/>
          </a:p>
        </p:txBody>
      </p:sp>
      <p:pic>
        <p:nvPicPr>
          <p:cNvPr id="9" name="Picture 8"/>
          <p:cNvPicPr/>
          <p:nvPr/>
        </p:nvPicPr>
        <p:blipFill>
          <a:blip r:embed="rId3"/>
          <a:stretch>
            <a:fillRect/>
          </a:stretch>
        </p:blipFill>
        <p:spPr>
          <a:xfrm>
            <a:off x="2122170" y="3124042"/>
            <a:ext cx="5052060" cy="876300"/>
          </a:xfrm>
          <a:prstGeom prst="rect">
            <a:avLst/>
          </a:prstGeom>
        </p:spPr>
      </p:pic>
      <p:sp>
        <p:nvSpPr>
          <p:cNvPr id="3" name="Rectangle 2"/>
          <p:cNvSpPr/>
          <p:nvPr/>
        </p:nvSpPr>
        <p:spPr>
          <a:xfrm>
            <a:off x="561340" y="1600200"/>
            <a:ext cx="8249920" cy="1476375"/>
          </a:xfrm>
          <a:prstGeom prst="rect">
            <a:avLst/>
          </a:prstGeom>
        </p:spPr>
        <p:txBody>
          <a:bodyPr wrap="square">
            <a:spAutoFit/>
          </a:bodyPr>
          <a:lstStyle/>
          <a:p>
            <a:pPr marL="342900" lvl="0" indent="-342900" algn="just">
              <a:lnSpc>
                <a:spcPct val="150000"/>
              </a:lnSpc>
              <a:spcAft>
                <a:spcPts val="0"/>
              </a:spcAft>
              <a:buFont typeface="Symbol" panose="05050102010706020507" pitchFamily="18" charset="2"/>
              <a:buChar char=""/>
            </a:pPr>
            <a:r>
              <a:rPr lang="en-IN" sz="2000" dirty="0">
                <a:solidFill>
                  <a:srgbClr val="05192D"/>
                </a:solidFill>
                <a:latin typeface="Times New Roman" panose="02020603050405020304" pitchFamily="18" charset="0"/>
                <a:ea typeface="Calibri" panose="020F0502020204030204" pitchFamily="34" charset="0"/>
                <a:cs typeface="Times New Roman" panose="02020603050405020304" pitchFamily="18" charset="0"/>
              </a:rPr>
              <a:t>For each neuron in a hidden layer or the output layer, the weighted sum of its inputs is computed. This involves multiplying each input by its corresponding weight, summing up these products, and adding the bias:</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6" name="Rectangle 1"/>
          <p:cNvSpPr>
            <a:spLocks noChangeArrowheads="1"/>
          </p:cNvSpPr>
          <p:nvPr/>
        </p:nvSpPr>
        <p:spPr bwMode="auto">
          <a:xfrm>
            <a:off x="914400" y="3954780"/>
            <a:ext cx="5989320" cy="13042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noAutofit/>
          </a:bodyPr>
          <a:lstStyle/>
          <a:p>
            <a:pPr marL="0" marR="0" lvl="0" indent="0" algn="just" defTabSz="914400" rtl="0" eaLnBrk="0" fontAlgn="base" latinLnBrk="0" hangingPunct="0">
              <a:lnSpc>
                <a:spcPct val="100000"/>
              </a:lnSpc>
              <a:spcBef>
                <a:spcPct val="0"/>
              </a:spcBef>
              <a:spcAft>
                <a:spcPct val="0"/>
              </a:spcAft>
              <a:buClrTx/>
              <a:buSzTx/>
              <a:buFontTx/>
              <a:buNone/>
            </a:pPr>
            <a:r>
              <a:rPr lang="en-IN" sz="2000" dirty="0">
                <a:solidFill>
                  <a:srgbClr val="05192D"/>
                </a:solidFill>
                <a:latin typeface="Times New Roman" panose="02020603050405020304" pitchFamily="18" charset="0"/>
                <a:ea typeface="Calibri" panose="020F0502020204030204" pitchFamily="34" charset="0"/>
                <a:cs typeface="Times New Roman" panose="02020603050405020304" pitchFamily="18" charset="0"/>
              </a:rPr>
              <a:t>Where </a:t>
            </a:r>
            <a:endParaRPr lang="en-IN" sz="2000" dirty="0">
              <a:solidFill>
                <a:srgbClr val="05192D"/>
              </a:solidFill>
              <a:latin typeface="Times New Roman" panose="02020603050405020304" pitchFamily="18" charset="0"/>
              <a:ea typeface="Calibri" panose="020F0502020204030204" pitchFamily="34"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pPr>
            <a:r>
              <a:rPr lang="en-IN" sz="2000" dirty="0">
                <a:solidFill>
                  <a:srgbClr val="05192D"/>
                </a:solidFill>
                <a:latin typeface="Times New Roman" panose="02020603050405020304" pitchFamily="18" charset="0"/>
                <a:ea typeface="Calibri" panose="020F0502020204030204" pitchFamily="34" charset="0"/>
                <a:cs typeface="Times New Roman" panose="02020603050405020304" pitchFamily="18" charset="0"/>
              </a:rPr>
              <a:t>n is the total number of input connections, </a:t>
            </a:r>
            <a:endParaRPr lang="en-IN" sz="2000" dirty="0">
              <a:solidFill>
                <a:srgbClr val="05192D"/>
              </a:solidFill>
              <a:latin typeface="Times New Roman" panose="02020603050405020304" pitchFamily="18" charset="0"/>
              <a:ea typeface="Calibri" panose="020F0502020204030204" pitchFamily="34"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pPr>
            <a:r>
              <a:rPr lang="en-IN" sz="2000" dirty="0">
                <a:solidFill>
                  <a:srgbClr val="05192D"/>
                </a:solidFill>
                <a:latin typeface="Times New Roman" panose="02020603050405020304" pitchFamily="18" charset="0"/>
                <a:ea typeface="Calibri" panose="020F0502020204030204" pitchFamily="34" charset="0"/>
                <a:cs typeface="Times New Roman" panose="02020603050405020304" pitchFamily="18" charset="0"/>
              </a:rPr>
              <a:t>wi is the weight for the i-th input, and </a:t>
            </a:r>
            <a:endParaRPr lang="en-IN" sz="2000" dirty="0">
              <a:solidFill>
                <a:srgbClr val="05192D"/>
              </a:solidFill>
              <a:latin typeface="Times New Roman" panose="02020603050405020304" pitchFamily="18" charset="0"/>
              <a:ea typeface="Calibri" panose="020F0502020204030204" pitchFamily="34"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pPr>
            <a:r>
              <a:rPr lang="en-IN" sz="2000" dirty="0">
                <a:solidFill>
                  <a:srgbClr val="05192D"/>
                </a:solidFill>
                <a:latin typeface="Times New Roman" panose="02020603050405020304" pitchFamily="18" charset="0"/>
                <a:ea typeface="Calibri" panose="020F0502020204030204" pitchFamily="34" charset="0"/>
                <a:cs typeface="Times New Roman" panose="02020603050405020304" pitchFamily="18" charset="0"/>
              </a:rPr>
              <a:t>xi is the i-th input value.</a:t>
            </a:r>
            <a:endParaRPr lang="en-IN" sz="2000" dirty="0">
              <a:solidFill>
                <a:srgbClr val="05192D"/>
              </a:solidFill>
              <a:latin typeface="Times New Roman" panose="02020603050405020304" pitchFamily="18" charset="0"/>
              <a:ea typeface="Calibri" panose="020F0502020204030204" pitchFamily="34"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3"/>
          <p:cNvSpPr>
            <a:spLocks noGrp="1"/>
          </p:cNvSpPr>
          <p:nvPr>
            <p:ph type="ftr" sz="quarter" idx="11"/>
          </p:nvPr>
        </p:nvSpPr>
        <p:spPr>
          <a:xfrm>
            <a:off x="1905000" y="6400800"/>
            <a:ext cx="5486400" cy="365125"/>
          </a:xfrm>
        </p:spPr>
        <p:txBody>
          <a:bodyPr/>
          <a:lstStyle/>
          <a:p>
            <a:pPr>
              <a:defRPr/>
            </a:pPr>
            <a:r>
              <a:rPr lang="en-US" sz="1600" b="1" dirty="0" err="1" smtClean="0">
                <a:solidFill>
                  <a:srgbClr val="7030A0"/>
                </a:solidFill>
              </a:rPr>
              <a:t>Dr.K.Venkata</a:t>
            </a:r>
            <a:r>
              <a:rPr lang="en-US" sz="1600" b="1" dirty="0" smtClean="0">
                <a:solidFill>
                  <a:srgbClr val="7030A0"/>
                </a:solidFill>
              </a:rPr>
              <a:t> </a:t>
            </a:r>
            <a:r>
              <a:rPr lang="en-US" sz="1600" b="1" dirty="0" err="1" smtClean="0">
                <a:solidFill>
                  <a:srgbClr val="7030A0"/>
                </a:solidFill>
              </a:rPr>
              <a:t>Nagendra</a:t>
            </a:r>
            <a:r>
              <a:rPr lang="en-US" b="1" dirty="0" smtClean="0"/>
              <a:t>, </a:t>
            </a:r>
            <a:r>
              <a:rPr lang="en-US" b="1" dirty="0" err="1" smtClean="0">
                <a:solidFill>
                  <a:schemeClr val="tx1"/>
                </a:solidFill>
              </a:rPr>
              <a:t>M.Tech</a:t>
            </a:r>
            <a:r>
              <a:rPr lang="en-US" b="1" dirty="0" smtClean="0">
                <a:solidFill>
                  <a:schemeClr val="tx1"/>
                </a:solidFill>
              </a:rPr>
              <a:t>, </a:t>
            </a:r>
            <a:r>
              <a:rPr lang="en-US" b="1" dirty="0" err="1" smtClean="0">
                <a:solidFill>
                  <a:schemeClr val="tx1"/>
                </a:solidFill>
              </a:rPr>
              <a:t>Ph.D</a:t>
            </a:r>
            <a:r>
              <a:rPr lang="en-US" b="1" dirty="0" smtClean="0">
                <a:solidFill>
                  <a:schemeClr val="tx1"/>
                </a:solidFill>
              </a:rPr>
              <a:t>, PDF. Associate Professor, </a:t>
            </a:r>
            <a:r>
              <a:rPr lang="en-US" b="1" dirty="0" err="1" smtClean="0">
                <a:solidFill>
                  <a:schemeClr val="tx1"/>
                </a:solidFill>
              </a:rPr>
              <a:t>Dept</a:t>
            </a:r>
            <a:r>
              <a:rPr lang="en-US" b="1" dirty="0" smtClean="0">
                <a:solidFill>
                  <a:schemeClr val="tx1"/>
                </a:solidFill>
              </a:rPr>
              <a:t> of CSE.</a:t>
            </a:r>
            <a:endParaRPr lang="en-US" b="1" dirty="0">
              <a:solidFill>
                <a:schemeClr val="tx1"/>
              </a:solidFill>
            </a:endParaRPr>
          </a:p>
        </p:txBody>
      </p:sp>
      <p:pic>
        <p:nvPicPr>
          <p:cNvPr id="1030" name="Picture 6" descr="SRKR"/>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6377" y="228600"/>
            <a:ext cx="3429000" cy="838201"/>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p:cNvPicPr>
            <a:picLocks noChangeAspect="1"/>
          </p:cNvPicPr>
          <p:nvPr/>
        </p:nvPicPr>
        <p:blipFill>
          <a:blip r:embed="rId2"/>
          <a:stretch>
            <a:fillRect/>
          </a:stretch>
        </p:blipFill>
        <p:spPr>
          <a:xfrm>
            <a:off x="4038600" y="304800"/>
            <a:ext cx="4267200" cy="762001"/>
          </a:xfrm>
          <a:prstGeom prst="rect">
            <a:avLst/>
          </a:prstGeom>
        </p:spPr>
      </p:pic>
      <p:sp>
        <p:nvSpPr>
          <p:cNvPr id="2" name="Rectangle 1"/>
          <p:cNvSpPr/>
          <p:nvPr/>
        </p:nvSpPr>
        <p:spPr>
          <a:xfrm>
            <a:off x="1295400" y="1219200"/>
            <a:ext cx="6400800" cy="387350"/>
          </a:xfrm>
          <a:prstGeom prst="rect">
            <a:avLst/>
          </a:prstGeom>
        </p:spPr>
        <p:txBody>
          <a:bodyPr wrap="square">
            <a:spAutoFit/>
          </a:bodyPr>
          <a:lstStyle/>
          <a:p>
            <a:pPr algn="ctr">
              <a:lnSpc>
                <a:spcPct val="107000"/>
              </a:lnSpc>
              <a:spcAft>
                <a:spcPts val="800"/>
              </a:spcAft>
            </a:pPr>
            <a:r>
              <a:rPr lang="en-IN" b="1" dirty="0">
                <a:solidFill>
                  <a:srgbClr val="FF0000"/>
                </a:solidFill>
                <a:latin typeface="Arial" panose="020B0604020202020204" pitchFamily="34" charset="0"/>
                <a:ea typeface="Times New Roman" panose="02020603050405020304" pitchFamily="18" charset="0"/>
                <a:cs typeface="Times New Roman" panose="02020603050405020304" pitchFamily="18" charset="0"/>
              </a:rPr>
              <a:t>MLP GOING FORWARD, GOING BACKWARD</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Rectangle 3"/>
          <p:cNvSpPr/>
          <p:nvPr/>
        </p:nvSpPr>
        <p:spPr>
          <a:xfrm>
            <a:off x="228600" y="1557525"/>
            <a:ext cx="8839200" cy="4893647"/>
          </a:xfrm>
          <a:prstGeom prst="rect">
            <a:avLst/>
          </a:prstGeom>
        </p:spPr>
        <p:txBody>
          <a:bodyPr wrap="square">
            <a:spAutoFit/>
          </a:bodyPr>
          <a:lstStyle/>
          <a:p>
            <a:pPr algn="just">
              <a:lnSpc>
                <a:spcPct val="150000"/>
              </a:lnSpc>
              <a:spcAft>
                <a:spcPts val="0"/>
              </a:spcAft>
            </a:pPr>
            <a:r>
              <a:rPr lang="en-IN" sz="1600" b="1" dirty="0">
                <a:solidFill>
                  <a:srgbClr val="0A0A0A"/>
                </a:solidFill>
                <a:latin typeface="Times New Roman" panose="02020603050405020304" pitchFamily="18" charset="0"/>
                <a:ea typeface="Times New Roman" panose="02020603050405020304" pitchFamily="18" charset="0"/>
                <a:cs typeface="Times New Roman" panose="02020603050405020304" pitchFamily="18" charset="0"/>
              </a:rPr>
              <a:t>Forward propagation (going forward</a:t>
            </a:r>
            <a:r>
              <a:rPr lang="en-IN" sz="1600" b="1" dirty="0" smtClean="0">
                <a:solidFill>
                  <a:srgbClr val="0A0A0A"/>
                </a:solidFill>
                <a:latin typeface="Times New Roman" panose="02020603050405020304" pitchFamily="18" charset="0"/>
                <a:ea typeface="Times New Roman" panose="02020603050405020304" pitchFamily="18" charset="0"/>
                <a:cs typeface="Times New Roman" panose="02020603050405020304" pitchFamily="18" charset="0"/>
              </a:rPr>
              <a:t>): </a:t>
            </a:r>
            <a:r>
              <a:rPr lang="en-IN" sz="1600" dirty="0" smtClean="0">
                <a:solidFill>
                  <a:srgbClr val="0A0A0A"/>
                </a:solidFill>
                <a:latin typeface="Times New Roman" panose="02020603050405020304" pitchFamily="18" charset="0"/>
                <a:ea typeface="Times New Roman" panose="02020603050405020304" pitchFamily="18" charset="0"/>
                <a:cs typeface="Times New Roman" panose="02020603050405020304" pitchFamily="18" charset="0"/>
              </a:rPr>
              <a:t>Forward </a:t>
            </a:r>
            <a:r>
              <a:rPr lang="en-IN" sz="1600" dirty="0">
                <a:solidFill>
                  <a:srgbClr val="0A0A0A"/>
                </a:solidFill>
                <a:latin typeface="Times New Roman" panose="02020603050405020304" pitchFamily="18" charset="0"/>
                <a:ea typeface="Times New Roman" panose="02020603050405020304" pitchFamily="18" charset="0"/>
                <a:cs typeface="Times New Roman" panose="02020603050405020304" pitchFamily="18" charset="0"/>
              </a:rPr>
              <a:t>propagation is the process of feeding input data through the network to produce an output. This process consists of the following steps, for a single training example: </a:t>
            </a:r>
            <a:endParaRPr lang="en-IN" sz="1400"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spcAft>
                <a:spcPts val="0"/>
              </a:spcAft>
              <a:buFont typeface="Wingdings" panose="05000000000000000000" pitchFamily="2" charset="2"/>
              <a:buChar char="§"/>
              <a:tabLst>
                <a:tab pos="457200" algn="l"/>
              </a:tabLst>
            </a:pPr>
            <a:r>
              <a:rPr lang="en-IN" sz="1600" b="1" dirty="0">
                <a:solidFill>
                  <a:srgbClr val="0A0A0A"/>
                </a:solidFill>
                <a:latin typeface="Times New Roman" panose="02020603050405020304" pitchFamily="18" charset="0"/>
                <a:ea typeface="Times New Roman" panose="02020603050405020304" pitchFamily="18" charset="0"/>
                <a:cs typeface="Times New Roman" panose="02020603050405020304" pitchFamily="18" charset="0"/>
              </a:rPr>
              <a:t>Input layer</a:t>
            </a:r>
            <a:r>
              <a:rPr lang="en-IN" sz="1600" dirty="0">
                <a:solidFill>
                  <a:srgbClr val="0A0A0A"/>
                </a:solidFill>
                <a:latin typeface="Times New Roman" panose="02020603050405020304" pitchFamily="18" charset="0"/>
                <a:ea typeface="Times New Roman" panose="02020603050405020304" pitchFamily="18" charset="0"/>
                <a:cs typeface="Times New Roman" panose="02020603050405020304" pitchFamily="18" charset="0"/>
              </a:rPr>
              <a:t>: The features of the input data are fed into the input layer of the MLP.</a:t>
            </a:r>
            <a:endParaRPr lang="en-IN" sz="1400"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spcAft>
                <a:spcPts val="0"/>
              </a:spcAft>
              <a:buFont typeface="Wingdings" panose="05000000000000000000" pitchFamily="2" charset="2"/>
              <a:buChar char="§"/>
              <a:tabLst>
                <a:tab pos="457200" algn="l"/>
              </a:tabLst>
            </a:pPr>
            <a:r>
              <a:rPr lang="en-IN" sz="1600" b="1" dirty="0">
                <a:solidFill>
                  <a:srgbClr val="0A0A0A"/>
                </a:solidFill>
                <a:latin typeface="Times New Roman" panose="02020603050405020304" pitchFamily="18" charset="0"/>
                <a:ea typeface="Times New Roman" panose="02020603050405020304" pitchFamily="18" charset="0"/>
                <a:cs typeface="Times New Roman" panose="02020603050405020304" pitchFamily="18" charset="0"/>
              </a:rPr>
              <a:t>Weighted sum</a:t>
            </a:r>
            <a:r>
              <a:rPr lang="en-IN" sz="1600" dirty="0">
                <a:solidFill>
                  <a:srgbClr val="0A0A0A"/>
                </a:solidFill>
                <a:latin typeface="Times New Roman" panose="02020603050405020304" pitchFamily="18" charset="0"/>
                <a:ea typeface="Times New Roman" panose="02020603050405020304" pitchFamily="18" charset="0"/>
                <a:cs typeface="Times New Roman" panose="02020603050405020304" pitchFamily="18" charset="0"/>
              </a:rPr>
              <a:t>: </a:t>
            </a:r>
            <a:r>
              <a:rPr lang="en-IN" sz="1600" dirty="0" smtClean="0">
                <a:solidFill>
                  <a:srgbClr val="0A0A0A"/>
                </a:solidFill>
                <a:latin typeface="Times New Roman" panose="02020603050405020304" pitchFamily="18" charset="0"/>
                <a:ea typeface="Times New Roman" panose="02020603050405020304" pitchFamily="18" charset="0"/>
                <a:cs typeface="Times New Roman" panose="02020603050405020304" pitchFamily="18" charset="0"/>
              </a:rPr>
              <a:t>Each </a:t>
            </a:r>
            <a:r>
              <a:rPr lang="en-IN" sz="1600" dirty="0">
                <a:solidFill>
                  <a:srgbClr val="0A0A0A"/>
                </a:solidFill>
                <a:latin typeface="Times New Roman" panose="02020603050405020304" pitchFamily="18" charset="0"/>
                <a:ea typeface="Times New Roman" panose="02020603050405020304" pitchFamily="18" charset="0"/>
                <a:cs typeface="Times New Roman" panose="02020603050405020304" pitchFamily="18" charset="0"/>
              </a:rPr>
              <a:t>neuron in the first hidden layer calculates a weighted sum of all the inputs from the input layer. This involves multiplying each input by its corresponding connection weight and summing the results.</a:t>
            </a:r>
            <a:endParaRPr lang="en-IN" sz="1400"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spcAft>
                <a:spcPts val="0"/>
              </a:spcAft>
              <a:buFont typeface="Wingdings" panose="05000000000000000000" pitchFamily="2" charset="2"/>
              <a:buChar char="§"/>
              <a:tabLst>
                <a:tab pos="457200" algn="l"/>
              </a:tabLst>
            </a:pPr>
            <a:r>
              <a:rPr lang="en-IN" sz="1600" b="1" dirty="0">
                <a:solidFill>
                  <a:srgbClr val="0A0A0A"/>
                </a:solidFill>
                <a:latin typeface="Times New Roman" panose="02020603050405020304" pitchFamily="18" charset="0"/>
                <a:ea typeface="Times New Roman" panose="02020603050405020304" pitchFamily="18" charset="0"/>
                <a:cs typeface="Times New Roman" panose="02020603050405020304" pitchFamily="18" charset="0"/>
              </a:rPr>
              <a:t>Bias addition</a:t>
            </a:r>
            <a:r>
              <a:rPr lang="en-IN" sz="1600" dirty="0">
                <a:solidFill>
                  <a:srgbClr val="0A0A0A"/>
                </a:solidFill>
                <a:latin typeface="Times New Roman" panose="02020603050405020304" pitchFamily="18" charset="0"/>
                <a:ea typeface="Times New Roman" panose="02020603050405020304" pitchFamily="18" charset="0"/>
                <a:cs typeface="Times New Roman" panose="02020603050405020304" pitchFamily="18" charset="0"/>
              </a:rPr>
              <a:t>: A bias term is added to the weighted sum to account for constant offsets.</a:t>
            </a:r>
            <a:endParaRPr lang="en-IN" sz="1400"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spcAft>
                <a:spcPts val="0"/>
              </a:spcAft>
              <a:buFont typeface="Wingdings" panose="05000000000000000000" pitchFamily="2" charset="2"/>
              <a:buChar char="§"/>
              <a:tabLst>
                <a:tab pos="457200" algn="l"/>
              </a:tabLst>
            </a:pPr>
            <a:r>
              <a:rPr lang="en-IN" sz="1600" b="1" dirty="0">
                <a:solidFill>
                  <a:srgbClr val="0A0A0A"/>
                </a:solidFill>
                <a:latin typeface="Times New Roman" panose="02020603050405020304" pitchFamily="18" charset="0"/>
                <a:ea typeface="Times New Roman" panose="02020603050405020304" pitchFamily="18" charset="0"/>
                <a:cs typeface="Times New Roman" panose="02020603050405020304" pitchFamily="18" charset="0"/>
              </a:rPr>
              <a:t>Activation</a:t>
            </a:r>
            <a:r>
              <a:rPr lang="en-IN" sz="1600" dirty="0">
                <a:solidFill>
                  <a:srgbClr val="0A0A0A"/>
                </a:solidFill>
                <a:latin typeface="Times New Roman" panose="02020603050405020304" pitchFamily="18" charset="0"/>
                <a:ea typeface="Times New Roman" panose="02020603050405020304" pitchFamily="18" charset="0"/>
                <a:cs typeface="Times New Roman" panose="02020603050405020304" pitchFamily="18" charset="0"/>
              </a:rPr>
              <a:t>: A non-linear activation function (like </a:t>
            </a:r>
            <a:r>
              <a:rPr lang="en-IN" sz="1600" dirty="0" err="1">
                <a:solidFill>
                  <a:srgbClr val="0A0A0A"/>
                </a:solidFill>
                <a:latin typeface="Times New Roman" panose="02020603050405020304" pitchFamily="18" charset="0"/>
                <a:ea typeface="Times New Roman" panose="02020603050405020304" pitchFamily="18" charset="0"/>
                <a:cs typeface="Times New Roman" panose="02020603050405020304" pitchFamily="18" charset="0"/>
              </a:rPr>
              <a:t>ReLU</a:t>
            </a:r>
            <a:r>
              <a:rPr lang="en-IN" sz="1600" dirty="0">
                <a:solidFill>
                  <a:srgbClr val="0A0A0A"/>
                </a:solidFill>
                <a:latin typeface="Times New Roman" panose="02020603050405020304" pitchFamily="18" charset="0"/>
                <a:ea typeface="Times New Roman" panose="02020603050405020304" pitchFamily="18" charset="0"/>
                <a:cs typeface="Times New Roman" panose="02020603050405020304" pitchFamily="18" charset="0"/>
              </a:rPr>
              <a:t>, sigmoid, or </a:t>
            </a:r>
            <a:r>
              <a:rPr lang="en-IN" sz="1600" dirty="0" err="1">
                <a:solidFill>
                  <a:srgbClr val="0A0A0A"/>
                </a:solidFill>
                <a:latin typeface="Times New Roman" panose="02020603050405020304" pitchFamily="18" charset="0"/>
                <a:ea typeface="Times New Roman" panose="02020603050405020304" pitchFamily="18" charset="0"/>
                <a:cs typeface="Times New Roman" panose="02020603050405020304" pitchFamily="18" charset="0"/>
              </a:rPr>
              <a:t>tanh</a:t>
            </a:r>
            <a:r>
              <a:rPr lang="en-IN" sz="1600" dirty="0">
                <a:solidFill>
                  <a:srgbClr val="0A0A0A"/>
                </a:solidFill>
                <a:latin typeface="Times New Roman" panose="02020603050405020304" pitchFamily="18" charset="0"/>
                <a:ea typeface="Times New Roman" panose="02020603050405020304" pitchFamily="18" charset="0"/>
                <a:cs typeface="Times New Roman" panose="02020603050405020304" pitchFamily="18" charset="0"/>
              </a:rPr>
              <a:t>) is applied to the result of the weighted sum and bias, which produces the neuron's output. This output then serves as the input for the next layer.</a:t>
            </a:r>
            <a:endParaRPr lang="en-IN" sz="1400"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spcAft>
                <a:spcPts val="0"/>
              </a:spcAft>
              <a:buFont typeface="Wingdings" panose="05000000000000000000" pitchFamily="2" charset="2"/>
              <a:buChar char="§"/>
              <a:tabLst>
                <a:tab pos="457200" algn="l"/>
              </a:tabLst>
            </a:pPr>
            <a:r>
              <a:rPr lang="en-IN" sz="1600" b="1" dirty="0">
                <a:solidFill>
                  <a:srgbClr val="0A0A0A"/>
                </a:solidFill>
                <a:latin typeface="Times New Roman" panose="02020603050405020304" pitchFamily="18" charset="0"/>
                <a:ea typeface="Times New Roman" panose="02020603050405020304" pitchFamily="18" charset="0"/>
                <a:cs typeface="Times New Roman" panose="02020603050405020304" pitchFamily="18" charset="0"/>
              </a:rPr>
              <a:t>Iteration</a:t>
            </a:r>
            <a:r>
              <a:rPr lang="en-IN" sz="1600" dirty="0">
                <a:solidFill>
                  <a:srgbClr val="0A0A0A"/>
                </a:solidFill>
                <a:latin typeface="Times New Roman" panose="02020603050405020304" pitchFamily="18" charset="0"/>
                <a:ea typeface="Times New Roman" panose="02020603050405020304" pitchFamily="18" charset="0"/>
                <a:cs typeface="Times New Roman" panose="02020603050405020304" pitchFamily="18" charset="0"/>
              </a:rPr>
              <a:t>: This process is repeated for each subsequent hidden layer until the final output layer is reached, producing the network's prediction. </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3"/>
          <p:cNvSpPr>
            <a:spLocks noGrp="1"/>
          </p:cNvSpPr>
          <p:nvPr>
            <p:ph type="ftr" sz="quarter" idx="11"/>
          </p:nvPr>
        </p:nvSpPr>
        <p:spPr>
          <a:xfrm>
            <a:off x="1905000" y="6400800"/>
            <a:ext cx="5486400" cy="365125"/>
          </a:xfrm>
        </p:spPr>
        <p:txBody>
          <a:bodyPr/>
          <a:lstStyle/>
          <a:p>
            <a:pPr>
              <a:defRPr/>
            </a:pPr>
            <a:r>
              <a:rPr lang="en-US" sz="1600" b="1" dirty="0" err="1" smtClean="0">
                <a:solidFill>
                  <a:srgbClr val="7030A0"/>
                </a:solidFill>
              </a:rPr>
              <a:t>Dr.K.Venkata</a:t>
            </a:r>
            <a:r>
              <a:rPr lang="en-US" sz="1600" b="1" dirty="0" smtClean="0">
                <a:solidFill>
                  <a:srgbClr val="7030A0"/>
                </a:solidFill>
              </a:rPr>
              <a:t> </a:t>
            </a:r>
            <a:r>
              <a:rPr lang="en-US" sz="1600" b="1" dirty="0" err="1" smtClean="0">
                <a:solidFill>
                  <a:srgbClr val="7030A0"/>
                </a:solidFill>
              </a:rPr>
              <a:t>Nagendra</a:t>
            </a:r>
            <a:r>
              <a:rPr lang="en-US" b="1" dirty="0" smtClean="0"/>
              <a:t>, </a:t>
            </a:r>
            <a:r>
              <a:rPr lang="en-US" b="1" dirty="0" err="1" smtClean="0">
                <a:solidFill>
                  <a:schemeClr val="tx1"/>
                </a:solidFill>
              </a:rPr>
              <a:t>M.Tech,Ph.D</a:t>
            </a:r>
            <a:r>
              <a:rPr lang="en-US" b="1" dirty="0" smtClean="0">
                <a:solidFill>
                  <a:schemeClr val="tx1"/>
                </a:solidFill>
              </a:rPr>
              <a:t>, PDF. Associate Professor, </a:t>
            </a:r>
            <a:r>
              <a:rPr lang="en-US" b="1" dirty="0" err="1" smtClean="0">
                <a:solidFill>
                  <a:schemeClr val="tx1"/>
                </a:solidFill>
              </a:rPr>
              <a:t>Dept</a:t>
            </a:r>
            <a:r>
              <a:rPr lang="en-US" b="1" dirty="0" smtClean="0">
                <a:solidFill>
                  <a:schemeClr val="tx1"/>
                </a:solidFill>
              </a:rPr>
              <a:t> of CSE.</a:t>
            </a:r>
            <a:endParaRPr lang="en-US" b="1" dirty="0">
              <a:solidFill>
                <a:schemeClr val="tx1"/>
              </a:solidFill>
            </a:endParaRPr>
          </a:p>
        </p:txBody>
      </p:sp>
      <p:pic>
        <p:nvPicPr>
          <p:cNvPr id="1030" name="Picture 6" descr="SRKR"/>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6377" y="228600"/>
            <a:ext cx="3429000" cy="838201"/>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p:cNvPicPr>
            <a:picLocks noChangeAspect="1"/>
          </p:cNvPicPr>
          <p:nvPr/>
        </p:nvPicPr>
        <p:blipFill>
          <a:blip r:embed="rId2"/>
          <a:stretch>
            <a:fillRect/>
          </a:stretch>
        </p:blipFill>
        <p:spPr>
          <a:xfrm>
            <a:off x="4038600" y="304800"/>
            <a:ext cx="4267200" cy="762001"/>
          </a:xfrm>
          <a:prstGeom prst="rect">
            <a:avLst/>
          </a:prstGeom>
        </p:spPr>
      </p:pic>
      <p:pic>
        <p:nvPicPr>
          <p:cNvPr id="7" name="Picture 6" descr="Feed Forward Propagation in Deep Neural Networks"/>
          <p:cNvPicPr/>
          <p:nvPr/>
        </p:nvPicPr>
        <p:blipFill>
          <a:blip r:embed="rId3">
            <a:extLst>
              <a:ext uri="{28A0092B-C50C-407E-A947-70E740481C1C}">
                <a14:useLocalDpi xmlns:a14="http://schemas.microsoft.com/office/drawing/2010/main" val="0"/>
              </a:ext>
            </a:extLst>
          </a:blip>
          <a:srcRect/>
          <a:stretch>
            <a:fillRect/>
          </a:stretch>
        </p:blipFill>
        <p:spPr bwMode="auto">
          <a:xfrm>
            <a:off x="609600" y="1695450"/>
            <a:ext cx="7924800" cy="4095750"/>
          </a:xfrm>
          <a:prstGeom prst="rect">
            <a:avLst/>
          </a:prstGeom>
          <a:noFill/>
          <a:ln>
            <a:noFill/>
          </a:ln>
        </p:spPr>
      </p:pic>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3"/>
          <p:cNvSpPr>
            <a:spLocks noGrp="1"/>
          </p:cNvSpPr>
          <p:nvPr>
            <p:ph type="ftr" sz="quarter" idx="11"/>
          </p:nvPr>
        </p:nvSpPr>
        <p:spPr>
          <a:xfrm>
            <a:off x="1905000" y="6400800"/>
            <a:ext cx="5486400" cy="365125"/>
          </a:xfrm>
        </p:spPr>
        <p:txBody>
          <a:bodyPr/>
          <a:lstStyle/>
          <a:p>
            <a:pPr>
              <a:defRPr/>
            </a:pPr>
            <a:r>
              <a:rPr lang="en-US" sz="1600" b="1" dirty="0" err="1" smtClean="0">
                <a:solidFill>
                  <a:srgbClr val="7030A0"/>
                </a:solidFill>
              </a:rPr>
              <a:t>Dr.K.Venkata</a:t>
            </a:r>
            <a:r>
              <a:rPr lang="en-US" sz="1600" b="1" dirty="0" smtClean="0">
                <a:solidFill>
                  <a:srgbClr val="7030A0"/>
                </a:solidFill>
              </a:rPr>
              <a:t> </a:t>
            </a:r>
            <a:r>
              <a:rPr lang="en-US" sz="1600" b="1" dirty="0" err="1" smtClean="0">
                <a:solidFill>
                  <a:srgbClr val="7030A0"/>
                </a:solidFill>
              </a:rPr>
              <a:t>Nagendra</a:t>
            </a:r>
            <a:r>
              <a:rPr lang="en-US" b="1" dirty="0" smtClean="0"/>
              <a:t>, </a:t>
            </a:r>
            <a:r>
              <a:rPr lang="en-US" b="1" dirty="0" err="1" smtClean="0">
                <a:solidFill>
                  <a:schemeClr val="tx1"/>
                </a:solidFill>
              </a:rPr>
              <a:t>M.Tech,Ph.D</a:t>
            </a:r>
            <a:r>
              <a:rPr lang="en-US" b="1" dirty="0" smtClean="0">
                <a:solidFill>
                  <a:schemeClr val="tx1"/>
                </a:solidFill>
              </a:rPr>
              <a:t>, PDF. Associate Professor, </a:t>
            </a:r>
            <a:r>
              <a:rPr lang="en-US" b="1" dirty="0" err="1" smtClean="0">
                <a:solidFill>
                  <a:schemeClr val="tx1"/>
                </a:solidFill>
              </a:rPr>
              <a:t>Dept</a:t>
            </a:r>
            <a:r>
              <a:rPr lang="en-US" b="1" dirty="0" smtClean="0">
                <a:solidFill>
                  <a:schemeClr val="tx1"/>
                </a:solidFill>
              </a:rPr>
              <a:t> of CSE.</a:t>
            </a:r>
            <a:endParaRPr lang="en-US" b="1" dirty="0">
              <a:solidFill>
                <a:schemeClr val="tx1"/>
              </a:solidFill>
            </a:endParaRPr>
          </a:p>
        </p:txBody>
      </p:sp>
      <p:pic>
        <p:nvPicPr>
          <p:cNvPr id="1030" name="Picture 6" descr="SRKR"/>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6377" y="228600"/>
            <a:ext cx="3429000" cy="838201"/>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p:cNvPicPr>
            <a:picLocks noChangeAspect="1"/>
          </p:cNvPicPr>
          <p:nvPr/>
        </p:nvPicPr>
        <p:blipFill>
          <a:blip r:embed="rId2"/>
          <a:stretch>
            <a:fillRect/>
          </a:stretch>
        </p:blipFill>
        <p:spPr>
          <a:xfrm>
            <a:off x="4038600" y="304800"/>
            <a:ext cx="4267200" cy="762001"/>
          </a:xfrm>
          <a:prstGeom prst="rect">
            <a:avLst/>
          </a:prstGeom>
        </p:spPr>
      </p:pic>
      <p:sp>
        <p:nvSpPr>
          <p:cNvPr id="2" name="Rectangle 1"/>
          <p:cNvSpPr/>
          <p:nvPr/>
        </p:nvSpPr>
        <p:spPr>
          <a:xfrm>
            <a:off x="419100" y="1295400"/>
            <a:ext cx="8458200" cy="1754326"/>
          </a:xfrm>
          <a:prstGeom prst="rect">
            <a:avLst/>
          </a:prstGeom>
        </p:spPr>
        <p:txBody>
          <a:bodyPr wrap="square">
            <a:spAutoFit/>
          </a:bodyPr>
          <a:lstStyle/>
          <a:p>
            <a:pPr algn="just">
              <a:lnSpc>
                <a:spcPct val="150000"/>
              </a:lnSpc>
              <a:spcAft>
                <a:spcPts val="0"/>
              </a:spcAft>
            </a:pPr>
            <a:r>
              <a:rPr lang="en-IN" b="1" dirty="0">
                <a:solidFill>
                  <a:srgbClr val="0A0A0A"/>
                </a:solidFill>
                <a:latin typeface="Times New Roman" panose="02020603050405020304" pitchFamily="18" charset="0"/>
                <a:ea typeface="Times New Roman" panose="02020603050405020304" pitchFamily="18" charset="0"/>
                <a:cs typeface="Times New Roman" panose="02020603050405020304" pitchFamily="18" charset="0"/>
              </a:rPr>
              <a:t>Backpropagation (going backward)</a:t>
            </a:r>
            <a:endParaRPr lang="en-IN" sz="16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0"/>
              </a:spcAft>
            </a:pPr>
            <a:r>
              <a:rPr lang="en-IN" dirty="0">
                <a:solidFill>
                  <a:srgbClr val="0A0A0A"/>
                </a:solidFill>
                <a:latin typeface="Times New Roman" panose="02020603050405020304" pitchFamily="18" charset="0"/>
                <a:ea typeface="Times New Roman" panose="02020603050405020304" pitchFamily="18" charset="0"/>
                <a:cs typeface="Times New Roman" panose="02020603050405020304" pitchFamily="18" charset="0"/>
              </a:rPr>
              <a:t>After the forward pass is complete, the network's prediction is compared to the actual target output. The error, or "loss," is then used in a reverse process called backpropagation to update the network's weights and reduce the error in future predictions. </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7" name="Picture 6" descr="https://media.licdn.com/dms/image/v2/D5612AQECXl0DLimxgQ/article-cover_image-shrink_720_1280/article-cover_image-shrink_720_1280/0/1726329287502?e=1762992000&amp;v=beta&amp;t=hRzEd_pCliPfOdHspWWFc5yvfPOkH1M1K4cDZKFxKgU"/>
          <p:cNvPicPr/>
          <p:nvPr/>
        </p:nvPicPr>
        <p:blipFill>
          <a:blip r:embed="rId3">
            <a:extLst>
              <a:ext uri="{28A0092B-C50C-407E-A947-70E740481C1C}">
                <a14:useLocalDpi xmlns:a14="http://schemas.microsoft.com/office/drawing/2010/main" val="0"/>
              </a:ext>
            </a:extLst>
          </a:blip>
          <a:srcRect/>
          <a:stretch>
            <a:fillRect/>
          </a:stretch>
        </p:blipFill>
        <p:spPr bwMode="auto">
          <a:xfrm>
            <a:off x="609600" y="3190289"/>
            <a:ext cx="8153400" cy="3225165"/>
          </a:xfrm>
          <a:prstGeom prst="rect">
            <a:avLst/>
          </a:prstGeom>
          <a:noFill/>
          <a:ln>
            <a:noFill/>
          </a:ln>
        </p:spPr>
      </p:pic>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3"/>
          <p:cNvSpPr>
            <a:spLocks noGrp="1"/>
          </p:cNvSpPr>
          <p:nvPr>
            <p:ph type="ftr" sz="quarter" idx="11"/>
          </p:nvPr>
        </p:nvSpPr>
        <p:spPr>
          <a:xfrm>
            <a:off x="1905000" y="6400800"/>
            <a:ext cx="5486400" cy="365125"/>
          </a:xfrm>
        </p:spPr>
        <p:txBody>
          <a:bodyPr/>
          <a:lstStyle/>
          <a:p>
            <a:pPr>
              <a:defRPr/>
            </a:pPr>
            <a:r>
              <a:rPr lang="en-US" sz="1600" b="1" dirty="0" err="1" smtClean="0">
                <a:solidFill>
                  <a:srgbClr val="7030A0"/>
                </a:solidFill>
              </a:rPr>
              <a:t>Dr.K.Venkata</a:t>
            </a:r>
            <a:r>
              <a:rPr lang="en-US" sz="1600" b="1" dirty="0" smtClean="0">
                <a:solidFill>
                  <a:srgbClr val="7030A0"/>
                </a:solidFill>
              </a:rPr>
              <a:t> </a:t>
            </a:r>
            <a:r>
              <a:rPr lang="en-US" sz="1600" b="1" dirty="0" err="1" smtClean="0">
                <a:solidFill>
                  <a:srgbClr val="7030A0"/>
                </a:solidFill>
              </a:rPr>
              <a:t>Nagendra</a:t>
            </a:r>
            <a:r>
              <a:rPr lang="en-US" b="1" dirty="0" smtClean="0"/>
              <a:t>, </a:t>
            </a:r>
            <a:r>
              <a:rPr lang="en-US" b="1" dirty="0" err="1" smtClean="0">
                <a:solidFill>
                  <a:schemeClr val="tx1"/>
                </a:solidFill>
              </a:rPr>
              <a:t>M.Tech,Ph.D</a:t>
            </a:r>
            <a:r>
              <a:rPr lang="en-US" b="1" dirty="0" smtClean="0">
                <a:solidFill>
                  <a:schemeClr val="tx1"/>
                </a:solidFill>
              </a:rPr>
              <a:t>, PDF. Associate Professor, </a:t>
            </a:r>
            <a:r>
              <a:rPr lang="en-US" b="1" dirty="0" err="1" smtClean="0">
                <a:solidFill>
                  <a:schemeClr val="tx1"/>
                </a:solidFill>
              </a:rPr>
              <a:t>Dept</a:t>
            </a:r>
            <a:r>
              <a:rPr lang="en-US" b="1" dirty="0" smtClean="0">
                <a:solidFill>
                  <a:schemeClr val="tx1"/>
                </a:solidFill>
              </a:rPr>
              <a:t> of CSE.</a:t>
            </a:r>
            <a:endParaRPr lang="en-US" b="1" dirty="0">
              <a:solidFill>
                <a:schemeClr val="tx1"/>
              </a:solidFill>
            </a:endParaRPr>
          </a:p>
        </p:txBody>
      </p:sp>
      <p:pic>
        <p:nvPicPr>
          <p:cNvPr id="1030" name="Picture 6" descr="SRKR"/>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6377" y="228600"/>
            <a:ext cx="3429000" cy="838201"/>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p:cNvPicPr>
            <a:picLocks noChangeAspect="1"/>
          </p:cNvPicPr>
          <p:nvPr/>
        </p:nvPicPr>
        <p:blipFill>
          <a:blip r:embed="rId2"/>
          <a:stretch>
            <a:fillRect/>
          </a:stretch>
        </p:blipFill>
        <p:spPr>
          <a:xfrm>
            <a:off x="4038600" y="304800"/>
            <a:ext cx="4267200" cy="762001"/>
          </a:xfrm>
          <a:prstGeom prst="rect">
            <a:avLst/>
          </a:prstGeom>
        </p:spPr>
      </p:pic>
      <p:sp>
        <p:nvSpPr>
          <p:cNvPr id="2" name="Rectangle 1"/>
          <p:cNvSpPr/>
          <p:nvPr/>
        </p:nvSpPr>
        <p:spPr>
          <a:xfrm>
            <a:off x="228600" y="1316285"/>
            <a:ext cx="8610600" cy="4893647"/>
          </a:xfrm>
          <a:prstGeom prst="rect">
            <a:avLst/>
          </a:prstGeom>
        </p:spPr>
        <p:txBody>
          <a:bodyPr wrap="square">
            <a:spAutoFit/>
          </a:bodyPr>
          <a:lstStyle/>
          <a:p>
            <a:pPr algn="just">
              <a:lnSpc>
                <a:spcPct val="150000"/>
              </a:lnSpc>
              <a:spcAft>
                <a:spcPts val="0"/>
              </a:spcAft>
            </a:pPr>
            <a:endParaRPr lang="en-IN" sz="16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0"/>
              </a:spcAft>
            </a:pPr>
            <a:r>
              <a:rPr lang="en-IN" sz="1600" dirty="0">
                <a:solidFill>
                  <a:srgbClr val="0A0A0A"/>
                </a:solidFill>
                <a:latin typeface="Times New Roman" panose="02020603050405020304" pitchFamily="18" charset="0"/>
                <a:ea typeface="Times New Roman" panose="02020603050405020304" pitchFamily="18" charset="0"/>
                <a:cs typeface="Times New Roman" panose="02020603050405020304" pitchFamily="18" charset="0"/>
              </a:rPr>
              <a:t>This process involves:</a:t>
            </a:r>
            <a:endParaRPr lang="en-IN" sz="1400"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spcAft>
                <a:spcPts val="0"/>
              </a:spcAft>
              <a:buFont typeface="Arial" panose="020B0604020202020204" pitchFamily="34" charset="0"/>
              <a:buChar char="•"/>
              <a:tabLst>
                <a:tab pos="457200" algn="l"/>
              </a:tabLst>
            </a:pPr>
            <a:r>
              <a:rPr lang="en-IN" sz="1600" b="1" dirty="0">
                <a:solidFill>
                  <a:srgbClr val="0A0A0A"/>
                </a:solidFill>
                <a:latin typeface="Times New Roman" panose="02020603050405020304" pitchFamily="18" charset="0"/>
                <a:ea typeface="Times New Roman" panose="02020603050405020304" pitchFamily="18" charset="0"/>
                <a:cs typeface="Times New Roman" panose="02020603050405020304" pitchFamily="18" charset="0"/>
              </a:rPr>
              <a:t>Error calculation</a:t>
            </a:r>
            <a:r>
              <a:rPr lang="en-IN" sz="1600" dirty="0">
                <a:solidFill>
                  <a:srgbClr val="0A0A0A"/>
                </a:solidFill>
                <a:latin typeface="Times New Roman" panose="02020603050405020304" pitchFamily="18" charset="0"/>
                <a:ea typeface="Times New Roman" panose="02020603050405020304" pitchFamily="18" charset="0"/>
                <a:cs typeface="Times New Roman" panose="02020603050405020304" pitchFamily="18" charset="0"/>
              </a:rPr>
              <a:t>: A loss function measures the difference between the network's predicted output and the actual target value.</a:t>
            </a:r>
            <a:endParaRPr lang="en-IN" sz="1400"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spcAft>
                <a:spcPts val="0"/>
              </a:spcAft>
              <a:buFont typeface="Arial" panose="020B0604020202020204" pitchFamily="34" charset="0"/>
              <a:buChar char="•"/>
              <a:tabLst>
                <a:tab pos="457200" algn="l"/>
              </a:tabLst>
            </a:pPr>
            <a:r>
              <a:rPr lang="en-IN" sz="1600" b="1" dirty="0">
                <a:solidFill>
                  <a:srgbClr val="0A0A0A"/>
                </a:solidFill>
                <a:latin typeface="Times New Roman" panose="02020603050405020304" pitchFamily="18" charset="0"/>
                <a:ea typeface="Times New Roman" panose="02020603050405020304" pitchFamily="18" charset="0"/>
                <a:cs typeface="Times New Roman" panose="02020603050405020304" pitchFamily="18" charset="0"/>
              </a:rPr>
              <a:t>Gradient computation</a:t>
            </a:r>
            <a:r>
              <a:rPr lang="en-IN" sz="1600" dirty="0">
                <a:solidFill>
                  <a:srgbClr val="0A0A0A"/>
                </a:solidFill>
                <a:latin typeface="Times New Roman" panose="02020603050405020304" pitchFamily="18" charset="0"/>
                <a:ea typeface="Times New Roman" panose="02020603050405020304" pitchFamily="18" charset="0"/>
                <a:cs typeface="Times New Roman" panose="02020603050405020304" pitchFamily="18" charset="0"/>
              </a:rPr>
              <a:t>: Using the chain rule of calculus, the algorithm computes the gradient of the loss function with respect to each weight and bias in the network.</a:t>
            </a:r>
            <a:endParaRPr lang="en-IN" sz="1400"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spcAft>
                <a:spcPts val="0"/>
              </a:spcAft>
              <a:buFont typeface="Arial" panose="020B0604020202020204" pitchFamily="34" charset="0"/>
              <a:buChar char="•"/>
              <a:tabLst>
                <a:tab pos="457200" algn="l"/>
              </a:tabLst>
            </a:pPr>
            <a:r>
              <a:rPr lang="en-IN" sz="1600" b="1" dirty="0">
                <a:solidFill>
                  <a:srgbClr val="0A0A0A"/>
                </a:solidFill>
                <a:latin typeface="Times New Roman" panose="02020603050405020304" pitchFamily="18" charset="0"/>
                <a:ea typeface="Times New Roman" panose="02020603050405020304" pitchFamily="18" charset="0"/>
                <a:cs typeface="Times New Roman" panose="02020603050405020304" pitchFamily="18" charset="0"/>
              </a:rPr>
              <a:t>Backward pass</a:t>
            </a:r>
            <a:r>
              <a:rPr lang="en-IN" sz="1600" dirty="0">
                <a:solidFill>
                  <a:srgbClr val="0A0A0A"/>
                </a:solidFill>
                <a:latin typeface="Times New Roman" panose="02020603050405020304" pitchFamily="18" charset="0"/>
                <a:ea typeface="Times New Roman" panose="02020603050405020304" pitchFamily="18" charset="0"/>
                <a:cs typeface="Times New Roman" panose="02020603050405020304" pitchFamily="18" charset="0"/>
              </a:rPr>
              <a:t>: The calculated error is propagated backward from the output layer through the hidden layers. It determines how much each connection weight contributed to the overall error.</a:t>
            </a:r>
            <a:endParaRPr lang="en-IN" sz="1400"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spcAft>
                <a:spcPts val="0"/>
              </a:spcAft>
              <a:buFont typeface="Arial" panose="020B0604020202020204" pitchFamily="34" charset="0"/>
              <a:buChar char="•"/>
              <a:tabLst>
                <a:tab pos="457200" algn="l"/>
              </a:tabLst>
            </a:pPr>
            <a:r>
              <a:rPr lang="en-IN" sz="1600" b="1" dirty="0">
                <a:solidFill>
                  <a:srgbClr val="0A0A0A"/>
                </a:solidFill>
                <a:latin typeface="Times New Roman" panose="02020603050405020304" pitchFamily="18" charset="0"/>
                <a:ea typeface="Times New Roman" panose="02020603050405020304" pitchFamily="18" charset="0"/>
                <a:cs typeface="Times New Roman" panose="02020603050405020304" pitchFamily="18" charset="0"/>
              </a:rPr>
              <a:t>Parameter update</a:t>
            </a:r>
            <a:r>
              <a:rPr lang="en-IN" sz="1600" dirty="0">
                <a:solidFill>
                  <a:srgbClr val="0A0A0A"/>
                </a:solidFill>
                <a:latin typeface="Times New Roman" panose="02020603050405020304" pitchFamily="18" charset="0"/>
                <a:ea typeface="Times New Roman" panose="02020603050405020304" pitchFamily="18" charset="0"/>
                <a:cs typeface="Times New Roman" panose="02020603050405020304" pitchFamily="18" charset="0"/>
              </a:rPr>
              <a:t>: An optimization algorithm, most commonly a form of gradient descent, uses the calculated gradients to adjust the network's weights and biases. The update moves the parameters in the direction that decreases the loss.</a:t>
            </a:r>
            <a:endParaRPr lang="en-IN" sz="1400"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spcAft>
                <a:spcPts val="0"/>
              </a:spcAft>
              <a:buFont typeface="Arial" panose="020B0604020202020204" pitchFamily="34" charset="0"/>
              <a:buChar char="•"/>
              <a:tabLst>
                <a:tab pos="457200" algn="l"/>
              </a:tabLst>
            </a:pPr>
            <a:r>
              <a:rPr lang="en-IN" sz="1600" b="1" dirty="0">
                <a:solidFill>
                  <a:srgbClr val="0A0A0A"/>
                </a:solidFill>
                <a:latin typeface="Times New Roman" panose="02020603050405020304" pitchFamily="18" charset="0"/>
                <a:ea typeface="Times New Roman" panose="02020603050405020304" pitchFamily="18" charset="0"/>
                <a:cs typeface="Times New Roman" panose="02020603050405020304" pitchFamily="18" charset="0"/>
              </a:rPr>
              <a:t>Iteration</a:t>
            </a:r>
            <a:r>
              <a:rPr lang="en-IN" sz="1600" dirty="0">
                <a:solidFill>
                  <a:srgbClr val="0A0A0A"/>
                </a:solidFill>
                <a:latin typeface="Times New Roman" panose="02020603050405020304" pitchFamily="18" charset="0"/>
                <a:ea typeface="Times New Roman" panose="02020603050405020304" pitchFamily="18" charset="0"/>
                <a:cs typeface="Times New Roman" panose="02020603050405020304" pitchFamily="18" charset="0"/>
              </a:rPr>
              <a:t>: The entire forward and backward process is repeated over many training examples (epochs) until the network's error is minimized and its predictions are accurate. </a:t>
            </a:r>
            <a:endParaRPr lang="en-IN" sz="1400" dirty="0">
              <a:latin typeface="Calibri" panose="020F0502020204030204" pitchFamily="34" charset="0"/>
              <a:ea typeface="Calibri" panose="020F0502020204030204" pitchFamily="34"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3"/>
          <p:cNvSpPr>
            <a:spLocks noGrp="1"/>
          </p:cNvSpPr>
          <p:nvPr>
            <p:ph type="ftr" sz="quarter" idx="11"/>
          </p:nvPr>
        </p:nvSpPr>
        <p:spPr>
          <a:xfrm>
            <a:off x="1905000" y="6400800"/>
            <a:ext cx="5486400" cy="365125"/>
          </a:xfrm>
        </p:spPr>
        <p:txBody>
          <a:bodyPr/>
          <a:lstStyle/>
          <a:p>
            <a:pPr>
              <a:defRPr/>
            </a:pPr>
            <a:r>
              <a:rPr lang="en-US" sz="1600" b="1" dirty="0" err="1" smtClean="0">
                <a:solidFill>
                  <a:srgbClr val="7030A0"/>
                </a:solidFill>
              </a:rPr>
              <a:t>Dr.K.Venkata</a:t>
            </a:r>
            <a:r>
              <a:rPr lang="en-US" sz="1600" b="1" dirty="0" smtClean="0">
                <a:solidFill>
                  <a:srgbClr val="7030A0"/>
                </a:solidFill>
              </a:rPr>
              <a:t> </a:t>
            </a:r>
            <a:r>
              <a:rPr lang="en-US" sz="1600" b="1" dirty="0" err="1" smtClean="0">
                <a:solidFill>
                  <a:srgbClr val="7030A0"/>
                </a:solidFill>
              </a:rPr>
              <a:t>Nagendra</a:t>
            </a:r>
            <a:r>
              <a:rPr lang="en-US" b="1" dirty="0" smtClean="0"/>
              <a:t>, </a:t>
            </a:r>
            <a:r>
              <a:rPr lang="en-US" b="1" dirty="0" err="1" smtClean="0">
                <a:solidFill>
                  <a:schemeClr val="tx1"/>
                </a:solidFill>
              </a:rPr>
              <a:t>M.Tech,Ph.D</a:t>
            </a:r>
            <a:r>
              <a:rPr lang="en-US" b="1" dirty="0" smtClean="0">
                <a:solidFill>
                  <a:schemeClr val="tx1"/>
                </a:solidFill>
              </a:rPr>
              <a:t>, PDF. Associate Professor, </a:t>
            </a:r>
            <a:r>
              <a:rPr lang="en-US" b="1" dirty="0" err="1" smtClean="0">
                <a:solidFill>
                  <a:schemeClr val="tx1"/>
                </a:solidFill>
              </a:rPr>
              <a:t>Dept</a:t>
            </a:r>
            <a:r>
              <a:rPr lang="en-US" b="1" dirty="0" smtClean="0">
                <a:solidFill>
                  <a:schemeClr val="tx1"/>
                </a:solidFill>
              </a:rPr>
              <a:t> of CSE.</a:t>
            </a:r>
            <a:endParaRPr lang="en-US" b="1" dirty="0">
              <a:solidFill>
                <a:schemeClr val="tx1"/>
              </a:solidFill>
            </a:endParaRPr>
          </a:p>
        </p:txBody>
      </p:sp>
      <p:pic>
        <p:nvPicPr>
          <p:cNvPr id="1030" name="Picture 6" descr="SRKR"/>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6377" y="228600"/>
            <a:ext cx="3429000" cy="838201"/>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p:cNvPicPr>
            <a:picLocks noChangeAspect="1"/>
          </p:cNvPicPr>
          <p:nvPr/>
        </p:nvPicPr>
        <p:blipFill>
          <a:blip r:embed="rId2"/>
          <a:stretch>
            <a:fillRect/>
          </a:stretch>
        </p:blipFill>
        <p:spPr>
          <a:xfrm>
            <a:off x="4038600" y="304800"/>
            <a:ext cx="4267200" cy="762001"/>
          </a:xfrm>
          <a:prstGeom prst="rect">
            <a:avLst/>
          </a:prstGeom>
        </p:spPr>
      </p:pic>
      <p:sp>
        <p:nvSpPr>
          <p:cNvPr id="2" name="Rectangle 1"/>
          <p:cNvSpPr/>
          <p:nvPr/>
        </p:nvSpPr>
        <p:spPr>
          <a:xfrm>
            <a:off x="457200" y="1143000"/>
            <a:ext cx="8382000" cy="1352165"/>
          </a:xfrm>
          <a:prstGeom prst="rect">
            <a:avLst/>
          </a:prstGeom>
        </p:spPr>
        <p:txBody>
          <a:bodyPr wrap="square">
            <a:spAutoFit/>
          </a:bodyPr>
          <a:lstStyle/>
          <a:p>
            <a:pPr algn="ctr">
              <a:lnSpc>
                <a:spcPct val="106000"/>
              </a:lnSpc>
              <a:spcAft>
                <a:spcPts val="800"/>
              </a:spcAft>
            </a:pPr>
            <a:r>
              <a:rPr lang="en-IN" sz="2000" b="1" dirty="0">
                <a:solidFill>
                  <a:srgbClr val="FF0000"/>
                </a:solidFill>
                <a:latin typeface="Times New Roman" panose="02020603050405020304" pitchFamily="18" charset="0"/>
                <a:ea typeface="Calibri" panose="020F0502020204030204" pitchFamily="34" charset="0"/>
                <a:cs typeface="Times New Roman" panose="02020603050405020304" pitchFamily="18" charset="0"/>
              </a:rPr>
              <a:t>SUPPORT VECTOR MACHINES</a:t>
            </a:r>
            <a:r>
              <a:rPr lang="en-IN" sz="2000" dirty="0">
                <a:solidFill>
                  <a:srgbClr val="333333"/>
                </a:solidFill>
                <a:latin typeface="Times New Roman" panose="02020603050405020304" pitchFamily="18" charset="0"/>
                <a:ea typeface="Calibri" panose="020F0502020204030204" pitchFamily="34" charset="0"/>
                <a:cs typeface="Times New Roman" panose="02020603050405020304" pitchFamily="18" charset="0"/>
              </a:rPr>
              <a:t> </a:t>
            </a:r>
            <a:endParaRPr lang="en-IN" sz="1600" dirty="0">
              <a:latin typeface="Calibri" panose="020F0502020204030204" pitchFamily="34" charset="0"/>
              <a:ea typeface="Calibri" panose="020F0502020204030204" pitchFamily="34" charset="0"/>
              <a:cs typeface="Times New Roman" panose="02020603050405020304" pitchFamily="18" charset="0"/>
            </a:endParaRPr>
          </a:p>
          <a:p>
            <a:r>
              <a:rPr lang="en-IN" dirty="0">
                <a:solidFill>
                  <a:srgbClr val="333333"/>
                </a:solidFill>
                <a:latin typeface="Times New Roman" panose="02020603050405020304" pitchFamily="18" charset="0"/>
                <a:ea typeface="Calibri" panose="020F0502020204030204" pitchFamily="34" charset="0"/>
              </a:rPr>
              <a:t>Support Vector Machines is a model, which can do linear classification as well as regression. </a:t>
            </a:r>
            <a:endParaRPr lang="en-IN" dirty="0" smtClean="0">
              <a:solidFill>
                <a:srgbClr val="333333"/>
              </a:solidFill>
              <a:latin typeface="Times New Roman" panose="02020603050405020304" pitchFamily="18" charset="0"/>
              <a:ea typeface="Calibri" panose="020F0502020204030204" pitchFamily="34" charset="0"/>
            </a:endParaRPr>
          </a:p>
          <a:p>
            <a:r>
              <a:rPr lang="en-IN" dirty="0" smtClean="0">
                <a:solidFill>
                  <a:srgbClr val="333333"/>
                </a:solidFill>
                <a:latin typeface="Times New Roman" panose="02020603050405020304" pitchFamily="18" charset="0"/>
                <a:ea typeface="Calibri" panose="020F0502020204030204" pitchFamily="34" charset="0"/>
              </a:rPr>
              <a:t>SVM </a:t>
            </a:r>
            <a:r>
              <a:rPr lang="en-IN" dirty="0">
                <a:solidFill>
                  <a:srgbClr val="333333"/>
                </a:solidFill>
                <a:latin typeface="Times New Roman" panose="02020603050405020304" pitchFamily="18" charset="0"/>
                <a:ea typeface="Calibri" panose="020F0502020204030204" pitchFamily="34" charset="0"/>
              </a:rPr>
              <a:t>is based on the concept of a surface, </a:t>
            </a:r>
            <a:r>
              <a:rPr lang="en-IN" dirty="0" smtClean="0">
                <a:solidFill>
                  <a:srgbClr val="333333"/>
                </a:solidFill>
                <a:latin typeface="Times New Roman" panose="02020603050405020304" pitchFamily="18" charset="0"/>
                <a:ea typeface="Calibri" panose="020F0502020204030204" pitchFamily="34" charset="0"/>
              </a:rPr>
              <a:t>called </a:t>
            </a:r>
            <a:r>
              <a:rPr lang="en-IN" dirty="0">
                <a:solidFill>
                  <a:srgbClr val="333333"/>
                </a:solidFill>
                <a:latin typeface="Times New Roman" panose="02020603050405020304" pitchFamily="18" charset="0"/>
                <a:ea typeface="Calibri" panose="020F0502020204030204" pitchFamily="34" charset="0"/>
              </a:rPr>
              <a:t>a hyper-plane, </a:t>
            </a:r>
            <a:endParaRPr lang="en-IN" dirty="0">
              <a:solidFill>
                <a:srgbClr val="333333"/>
              </a:solidFill>
              <a:latin typeface="Times New Roman" panose="02020603050405020304" pitchFamily="18" charset="0"/>
              <a:ea typeface="Calibri" panose="020F0502020204030204" pitchFamily="34" charset="0"/>
            </a:endParaRPr>
          </a:p>
        </p:txBody>
      </p:sp>
      <p:sp>
        <p:nvSpPr>
          <p:cNvPr id="4" name="Rectangle 3"/>
          <p:cNvSpPr/>
          <p:nvPr/>
        </p:nvSpPr>
        <p:spPr>
          <a:xfrm>
            <a:off x="457200" y="2438400"/>
            <a:ext cx="8382000" cy="3000821"/>
          </a:xfrm>
          <a:prstGeom prst="rect">
            <a:avLst/>
          </a:prstGeom>
        </p:spPr>
        <p:txBody>
          <a:bodyPr wrap="square">
            <a:spAutoFit/>
          </a:bodyPr>
          <a:lstStyle/>
          <a:p>
            <a:pPr algn="just">
              <a:lnSpc>
                <a:spcPct val="150000"/>
              </a:lnSpc>
              <a:spcAft>
                <a:spcPts val="0"/>
              </a:spcAft>
            </a:pPr>
            <a:r>
              <a:rPr lang="en-IN" b="1" dirty="0">
                <a:solidFill>
                  <a:srgbClr val="333333"/>
                </a:solidFill>
                <a:latin typeface="Times New Roman" panose="02020603050405020304" pitchFamily="18" charset="0"/>
                <a:ea typeface="Calibri" panose="020F0502020204030204" pitchFamily="34" charset="0"/>
                <a:cs typeface="Times New Roman" panose="02020603050405020304" pitchFamily="18" charset="0"/>
              </a:rPr>
              <a:t>Support Vectors:</a:t>
            </a:r>
            <a:r>
              <a:rPr lang="en-IN" dirty="0">
                <a:solidFill>
                  <a:srgbClr val="333333"/>
                </a:solidFill>
                <a:latin typeface="Times New Roman" panose="02020603050405020304" pitchFamily="18" charset="0"/>
                <a:ea typeface="Calibri" panose="020F0502020204030204" pitchFamily="34" charset="0"/>
                <a:cs typeface="Times New Roman" panose="02020603050405020304" pitchFamily="18" charset="0"/>
              </a:rPr>
              <a:t>  SVM chooses extreme points [vectors] that helps to create the hyper-plane, these extreme cases are called Support Vectors. </a:t>
            </a:r>
            <a:endParaRPr lang="en-IN" sz="16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0"/>
              </a:spcAft>
            </a:pPr>
            <a:r>
              <a:rPr lang="en-IN" b="1" dirty="0">
                <a:solidFill>
                  <a:srgbClr val="333333"/>
                </a:solidFill>
                <a:latin typeface="Times New Roman" panose="02020603050405020304" pitchFamily="18" charset="0"/>
                <a:ea typeface="Calibri" panose="020F0502020204030204" pitchFamily="34" charset="0"/>
                <a:cs typeface="Times New Roman" panose="02020603050405020304" pitchFamily="18" charset="0"/>
              </a:rPr>
              <a:t>How SVM works:</a:t>
            </a:r>
            <a:endParaRPr lang="en-IN" sz="16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0"/>
              </a:spcAft>
            </a:pPr>
            <a:r>
              <a:rPr lang="en-IN" dirty="0">
                <a:solidFill>
                  <a:srgbClr val="333333"/>
                </a:solidFill>
                <a:latin typeface="Times New Roman" panose="02020603050405020304" pitchFamily="18" charset="0"/>
                <a:ea typeface="Calibri" panose="020F0502020204030204" pitchFamily="34" charset="0"/>
                <a:cs typeface="Times New Roman" panose="02020603050405020304" pitchFamily="18" charset="0"/>
              </a:rPr>
              <a:t>Step 1: Classification can be done using hyper plane.</a:t>
            </a:r>
            <a:endParaRPr lang="en-IN" sz="16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0"/>
              </a:spcAft>
            </a:pPr>
            <a:r>
              <a:rPr lang="en-IN" dirty="0">
                <a:solidFill>
                  <a:srgbClr val="333333"/>
                </a:solidFill>
                <a:latin typeface="Times New Roman" panose="02020603050405020304" pitchFamily="18" charset="0"/>
                <a:ea typeface="Calibri" panose="020F0502020204030204" pitchFamily="34" charset="0"/>
                <a:cs typeface="Times New Roman" panose="02020603050405020304" pitchFamily="18" charset="0"/>
              </a:rPr>
              <a:t>Step 2: Identifying the correct hyper plane in SVM.</a:t>
            </a:r>
            <a:endParaRPr lang="en-IN" sz="16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0"/>
              </a:spcAft>
            </a:pPr>
            <a:r>
              <a:rPr lang="en-IN" dirty="0">
                <a:solidFill>
                  <a:srgbClr val="333333"/>
                </a:solidFill>
                <a:latin typeface="Times New Roman" panose="02020603050405020304" pitchFamily="18" charset="0"/>
                <a:ea typeface="Calibri" panose="020F0502020204030204" pitchFamily="34" charset="0"/>
                <a:cs typeface="Times New Roman" panose="02020603050405020304" pitchFamily="18" charset="0"/>
              </a:rPr>
              <a:t>Step 3: Find maximum marginal hyper plane based on Support Vectors.</a:t>
            </a:r>
            <a:endParaRPr lang="en-IN" sz="16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0"/>
              </a:spcAft>
            </a:pPr>
            <a:r>
              <a:rPr lang="en-IN" dirty="0">
                <a:solidFill>
                  <a:srgbClr val="333333"/>
                </a:solidFill>
                <a:latin typeface="Times New Roman" panose="02020603050405020304" pitchFamily="18" charset="0"/>
                <a:ea typeface="Calibri" panose="020F0502020204030204" pitchFamily="34" charset="0"/>
                <a:cs typeface="Times New Roman" panose="02020603050405020304" pitchFamily="18" charset="0"/>
              </a:rPr>
              <a:t>Step 4: </a:t>
            </a:r>
            <a:r>
              <a:rPr lang="en-IN" dirty="0" err="1">
                <a:solidFill>
                  <a:srgbClr val="333333"/>
                </a:solidFill>
                <a:latin typeface="Times New Roman" panose="02020603050405020304" pitchFamily="18" charset="0"/>
                <a:ea typeface="Calibri" panose="020F0502020204030204" pitchFamily="34" charset="0"/>
                <a:cs typeface="Times New Roman" panose="02020603050405020304" pitchFamily="18" charset="0"/>
              </a:rPr>
              <a:t>Kernal</a:t>
            </a:r>
            <a:r>
              <a:rPr lang="en-IN" dirty="0">
                <a:solidFill>
                  <a:srgbClr val="333333"/>
                </a:solidFill>
                <a:latin typeface="Times New Roman" panose="02020603050405020304" pitchFamily="18" charset="0"/>
                <a:ea typeface="Calibri" panose="020F0502020204030204" pitchFamily="34" charset="0"/>
                <a:cs typeface="Times New Roman" panose="02020603050405020304" pitchFamily="18" charset="0"/>
              </a:rPr>
              <a:t> trick.</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3"/>
          <p:cNvSpPr>
            <a:spLocks noGrp="1"/>
          </p:cNvSpPr>
          <p:nvPr>
            <p:ph type="ftr" sz="quarter" idx="11"/>
          </p:nvPr>
        </p:nvSpPr>
        <p:spPr>
          <a:xfrm>
            <a:off x="1905000" y="6400800"/>
            <a:ext cx="5486400" cy="365125"/>
          </a:xfrm>
        </p:spPr>
        <p:txBody>
          <a:bodyPr/>
          <a:lstStyle/>
          <a:p>
            <a:pPr>
              <a:defRPr/>
            </a:pPr>
            <a:r>
              <a:rPr lang="en-US" sz="1600" b="1" dirty="0" err="1" smtClean="0">
                <a:solidFill>
                  <a:srgbClr val="7030A0"/>
                </a:solidFill>
              </a:rPr>
              <a:t>Dr.K.Venkata</a:t>
            </a:r>
            <a:r>
              <a:rPr lang="en-US" sz="1600" b="1" dirty="0" smtClean="0">
                <a:solidFill>
                  <a:srgbClr val="7030A0"/>
                </a:solidFill>
              </a:rPr>
              <a:t> </a:t>
            </a:r>
            <a:r>
              <a:rPr lang="en-US" sz="1600" b="1" dirty="0" err="1" smtClean="0">
                <a:solidFill>
                  <a:srgbClr val="7030A0"/>
                </a:solidFill>
              </a:rPr>
              <a:t>Nagendra</a:t>
            </a:r>
            <a:r>
              <a:rPr lang="en-US" b="1" dirty="0" smtClean="0"/>
              <a:t>, </a:t>
            </a:r>
            <a:r>
              <a:rPr lang="en-US" b="1" dirty="0" err="1" smtClean="0">
                <a:solidFill>
                  <a:schemeClr val="tx1"/>
                </a:solidFill>
              </a:rPr>
              <a:t>M.Tech,Ph.D</a:t>
            </a:r>
            <a:r>
              <a:rPr lang="en-US" b="1" dirty="0" smtClean="0">
                <a:solidFill>
                  <a:schemeClr val="tx1"/>
                </a:solidFill>
              </a:rPr>
              <a:t>, PDF. Associate Professor, </a:t>
            </a:r>
            <a:r>
              <a:rPr lang="en-US" b="1" dirty="0" err="1" smtClean="0">
                <a:solidFill>
                  <a:schemeClr val="tx1"/>
                </a:solidFill>
              </a:rPr>
              <a:t>Dept</a:t>
            </a:r>
            <a:r>
              <a:rPr lang="en-US" b="1" dirty="0" smtClean="0">
                <a:solidFill>
                  <a:schemeClr val="tx1"/>
                </a:solidFill>
              </a:rPr>
              <a:t> of CSE.</a:t>
            </a:r>
            <a:endParaRPr lang="en-US" b="1" dirty="0">
              <a:solidFill>
                <a:schemeClr val="tx1"/>
              </a:solidFill>
            </a:endParaRPr>
          </a:p>
        </p:txBody>
      </p:sp>
      <p:pic>
        <p:nvPicPr>
          <p:cNvPr id="1030" name="Picture 6" descr="SRKR"/>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6377" y="228600"/>
            <a:ext cx="3429000" cy="838201"/>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p:cNvPicPr>
            <a:picLocks noChangeAspect="1"/>
          </p:cNvPicPr>
          <p:nvPr/>
        </p:nvPicPr>
        <p:blipFill>
          <a:blip r:embed="rId2"/>
          <a:stretch>
            <a:fillRect/>
          </a:stretch>
        </p:blipFill>
        <p:spPr>
          <a:xfrm>
            <a:off x="4038600" y="304800"/>
            <a:ext cx="4267200" cy="762001"/>
          </a:xfrm>
          <a:prstGeom prst="rect">
            <a:avLst/>
          </a:prstGeom>
        </p:spPr>
      </p:pic>
      <p:pic>
        <p:nvPicPr>
          <p:cNvPr id="7" name="Picture 6" descr="Support Vector Machine Algorithm"/>
          <p:cNvPicPr/>
          <p:nvPr/>
        </p:nvPicPr>
        <p:blipFill>
          <a:blip r:embed="rId3"/>
          <a:srcRect/>
          <a:stretch>
            <a:fillRect/>
          </a:stretch>
        </p:blipFill>
        <p:spPr bwMode="auto">
          <a:xfrm>
            <a:off x="762000" y="1863090"/>
            <a:ext cx="7391400" cy="408051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3"/>
          <p:cNvSpPr>
            <a:spLocks noGrp="1"/>
          </p:cNvSpPr>
          <p:nvPr>
            <p:ph type="ftr" sz="quarter" idx="11"/>
          </p:nvPr>
        </p:nvSpPr>
        <p:spPr>
          <a:xfrm>
            <a:off x="1905000" y="6400800"/>
            <a:ext cx="5486400" cy="365125"/>
          </a:xfrm>
        </p:spPr>
        <p:txBody>
          <a:bodyPr/>
          <a:lstStyle/>
          <a:p>
            <a:pPr>
              <a:defRPr/>
            </a:pPr>
            <a:r>
              <a:rPr lang="en-US" sz="1600" b="1" dirty="0" err="1" smtClean="0">
                <a:solidFill>
                  <a:srgbClr val="7030A0"/>
                </a:solidFill>
              </a:rPr>
              <a:t>Dr.K.Venkata</a:t>
            </a:r>
            <a:r>
              <a:rPr lang="en-US" sz="1600" b="1" dirty="0" smtClean="0">
                <a:solidFill>
                  <a:srgbClr val="7030A0"/>
                </a:solidFill>
              </a:rPr>
              <a:t> </a:t>
            </a:r>
            <a:r>
              <a:rPr lang="en-US" sz="1600" b="1" dirty="0" err="1" smtClean="0">
                <a:solidFill>
                  <a:srgbClr val="7030A0"/>
                </a:solidFill>
              </a:rPr>
              <a:t>Nagendra</a:t>
            </a:r>
            <a:r>
              <a:rPr lang="en-US" b="1" dirty="0" smtClean="0"/>
              <a:t>, </a:t>
            </a:r>
            <a:r>
              <a:rPr lang="en-US" b="1" dirty="0" err="1" smtClean="0">
                <a:solidFill>
                  <a:schemeClr val="tx1"/>
                </a:solidFill>
              </a:rPr>
              <a:t>M.Tech,Ph.D</a:t>
            </a:r>
            <a:r>
              <a:rPr lang="en-US" b="1" dirty="0" smtClean="0">
                <a:solidFill>
                  <a:schemeClr val="tx1"/>
                </a:solidFill>
              </a:rPr>
              <a:t>, PDF. Associate Professor, </a:t>
            </a:r>
            <a:r>
              <a:rPr lang="en-US" b="1" dirty="0" err="1" smtClean="0">
                <a:solidFill>
                  <a:schemeClr val="tx1"/>
                </a:solidFill>
              </a:rPr>
              <a:t>Dept</a:t>
            </a:r>
            <a:r>
              <a:rPr lang="en-US" b="1" dirty="0" smtClean="0">
                <a:solidFill>
                  <a:schemeClr val="tx1"/>
                </a:solidFill>
              </a:rPr>
              <a:t> of CSE.</a:t>
            </a:r>
            <a:endParaRPr lang="en-US" b="1" dirty="0">
              <a:solidFill>
                <a:schemeClr val="tx1"/>
              </a:solidFill>
            </a:endParaRPr>
          </a:p>
        </p:txBody>
      </p:sp>
      <p:pic>
        <p:nvPicPr>
          <p:cNvPr id="1030" name="Picture 6" descr="SRKR"/>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6377" y="228600"/>
            <a:ext cx="3429000" cy="838201"/>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p:cNvPicPr>
            <a:picLocks noChangeAspect="1"/>
          </p:cNvPicPr>
          <p:nvPr/>
        </p:nvPicPr>
        <p:blipFill>
          <a:blip r:embed="rId2"/>
          <a:stretch>
            <a:fillRect/>
          </a:stretch>
        </p:blipFill>
        <p:spPr>
          <a:xfrm>
            <a:off x="4038600" y="304800"/>
            <a:ext cx="4267200" cy="762001"/>
          </a:xfrm>
          <a:prstGeom prst="rect">
            <a:avLst/>
          </a:prstGeom>
        </p:spPr>
      </p:pic>
      <p:pic>
        <p:nvPicPr>
          <p:cNvPr id="3" name="Picture 2"/>
          <p:cNvPicPr>
            <a:picLocks noChangeAspect="1"/>
          </p:cNvPicPr>
          <p:nvPr/>
        </p:nvPicPr>
        <p:blipFill>
          <a:blip r:embed="rId3"/>
          <a:stretch>
            <a:fillRect/>
          </a:stretch>
        </p:blipFill>
        <p:spPr>
          <a:xfrm>
            <a:off x="1676401" y="1714260"/>
            <a:ext cx="4696076" cy="4472453"/>
          </a:xfrm>
          <a:prstGeom prst="rect">
            <a:avLst/>
          </a:prstGeom>
        </p:spPr>
      </p:pic>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3"/>
          <p:cNvSpPr>
            <a:spLocks noGrp="1"/>
          </p:cNvSpPr>
          <p:nvPr>
            <p:ph type="ftr" sz="quarter" idx="11"/>
          </p:nvPr>
        </p:nvSpPr>
        <p:spPr>
          <a:xfrm>
            <a:off x="1905000" y="6400800"/>
            <a:ext cx="5486400" cy="365125"/>
          </a:xfrm>
        </p:spPr>
        <p:txBody>
          <a:bodyPr/>
          <a:lstStyle/>
          <a:p>
            <a:pPr>
              <a:defRPr/>
            </a:pPr>
            <a:r>
              <a:rPr lang="en-US" sz="1600" b="1" dirty="0" err="1" smtClean="0">
                <a:solidFill>
                  <a:srgbClr val="7030A0"/>
                </a:solidFill>
              </a:rPr>
              <a:t>Dr.K.Venkata</a:t>
            </a:r>
            <a:r>
              <a:rPr lang="en-US" sz="1600" b="1" dirty="0" smtClean="0">
                <a:solidFill>
                  <a:srgbClr val="7030A0"/>
                </a:solidFill>
              </a:rPr>
              <a:t> </a:t>
            </a:r>
            <a:r>
              <a:rPr lang="en-US" sz="1600" b="1" dirty="0" err="1" smtClean="0">
                <a:solidFill>
                  <a:srgbClr val="7030A0"/>
                </a:solidFill>
              </a:rPr>
              <a:t>Nagendra</a:t>
            </a:r>
            <a:r>
              <a:rPr lang="en-US" b="1" dirty="0" smtClean="0"/>
              <a:t>, </a:t>
            </a:r>
            <a:r>
              <a:rPr lang="en-US" b="1" dirty="0" err="1" smtClean="0">
                <a:solidFill>
                  <a:schemeClr val="tx1"/>
                </a:solidFill>
              </a:rPr>
              <a:t>M.Tech,Ph.D</a:t>
            </a:r>
            <a:r>
              <a:rPr lang="en-US" b="1" dirty="0" smtClean="0">
                <a:solidFill>
                  <a:schemeClr val="tx1"/>
                </a:solidFill>
              </a:rPr>
              <a:t>, PDF. Associate Professor, </a:t>
            </a:r>
            <a:r>
              <a:rPr lang="en-US" b="1" dirty="0" err="1" smtClean="0">
                <a:solidFill>
                  <a:schemeClr val="tx1"/>
                </a:solidFill>
              </a:rPr>
              <a:t>Dept</a:t>
            </a:r>
            <a:r>
              <a:rPr lang="en-US" b="1" dirty="0" smtClean="0">
                <a:solidFill>
                  <a:schemeClr val="tx1"/>
                </a:solidFill>
              </a:rPr>
              <a:t> of CSE.</a:t>
            </a:r>
            <a:endParaRPr lang="en-US" b="1" dirty="0">
              <a:solidFill>
                <a:schemeClr val="tx1"/>
              </a:solidFill>
            </a:endParaRPr>
          </a:p>
        </p:txBody>
      </p:sp>
      <p:pic>
        <p:nvPicPr>
          <p:cNvPr id="1030" name="Picture 6" descr="SRKR"/>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6377" y="228600"/>
            <a:ext cx="3429000" cy="838201"/>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p:cNvPicPr>
            <a:picLocks noChangeAspect="1"/>
          </p:cNvPicPr>
          <p:nvPr/>
        </p:nvPicPr>
        <p:blipFill>
          <a:blip r:embed="rId2"/>
          <a:stretch>
            <a:fillRect/>
          </a:stretch>
        </p:blipFill>
        <p:spPr>
          <a:xfrm>
            <a:off x="4038600" y="304800"/>
            <a:ext cx="4267200" cy="762001"/>
          </a:xfrm>
          <a:prstGeom prst="rect">
            <a:avLst/>
          </a:prstGeom>
        </p:spPr>
      </p:pic>
      <p:pic>
        <p:nvPicPr>
          <p:cNvPr id="2" name="Picture 1"/>
          <p:cNvPicPr>
            <a:picLocks noChangeAspect="1"/>
          </p:cNvPicPr>
          <p:nvPr/>
        </p:nvPicPr>
        <p:blipFill>
          <a:blip r:embed="rId3"/>
          <a:stretch>
            <a:fillRect/>
          </a:stretch>
        </p:blipFill>
        <p:spPr>
          <a:xfrm>
            <a:off x="1143000" y="1524000"/>
            <a:ext cx="6019800" cy="4648200"/>
          </a:xfrm>
          <a:prstGeom prst="rect">
            <a:avLst/>
          </a:prstGeom>
        </p:spPr>
      </p:pic>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3"/>
          <p:cNvSpPr>
            <a:spLocks noGrp="1"/>
          </p:cNvSpPr>
          <p:nvPr>
            <p:ph type="ftr" sz="quarter" idx="11"/>
          </p:nvPr>
        </p:nvSpPr>
        <p:spPr>
          <a:xfrm>
            <a:off x="1905000" y="6400800"/>
            <a:ext cx="5486400" cy="365125"/>
          </a:xfrm>
        </p:spPr>
        <p:txBody>
          <a:bodyPr/>
          <a:lstStyle/>
          <a:p>
            <a:pPr>
              <a:defRPr/>
            </a:pPr>
            <a:r>
              <a:rPr lang="en-US" sz="1600" b="1" dirty="0" err="1" smtClean="0">
                <a:solidFill>
                  <a:srgbClr val="7030A0"/>
                </a:solidFill>
              </a:rPr>
              <a:t>Dr.K.Venkata</a:t>
            </a:r>
            <a:r>
              <a:rPr lang="en-US" sz="1600" b="1" dirty="0" smtClean="0">
                <a:solidFill>
                  <a:srgbClr val="7030A0"/>
                </a:solidFill>
              </a:rPr>
              <a:t> </a:t>
            </a:r>
            <a:r>
              <a:rPr lang="en-US" sz="1600" b="1" dirty="0" err="1" smtClean="0">
                <a:solidFill>
                  <a:srgbClr val="7030A0"/>
                </a:solidFill>
              </a:rPr>
              <a:t>Nagendra</a:t>
            </a:r>
            <a:r>
              <a:rPr lang="en-US" b="1" dirty="0" smtClean="0"/>
              <a:t>, </a:t>
            </a:r>
            <a:r>
              <a:rPr lang="en-US" b="1" dirty="0" err="1" smtClean="0">
                <a:solidFill>
                  <a:schemeClr val="tx1"/>
                </a:solidFill>
              </a:rPr>
              <a:t>M.Tech,Ph.D</a:t>
            </a:r>
            <a:r>
              <a:rPr lang="en-US" b="1" dirty="0" smtClean="0">
                <a:solidFill>
                  <a:schemeClr val="tx1"/>
                </a:solidFill>
              </a:rPr>
              <a:t>, PDF. Associate Professor, </a:t>
            </a:r>
            <a:r>
              <a:rPr lang="en-US" b="1" dirty="0" err="1" smtClean="0">
                <a:solidFill>
                  <a:schemeClr val="tx1"/>
                </a:solidFill>
              </a:rPr>
              <a:t>Dept</a:t>
            </a:r>
            <a:r>
              <a:rPr lang="en-US" b="1" dirty="0" smtClean="0">
                <a:solidFill>
                  <a:schemeClr val="tx1"/>
                </a:solidFill>
              </a:rPr>
              <a:t> of CSE.</a:t>
            </a:r>
            <a:endParaRPr lang="en-US" b="1" dirty="0">
              <a:solidFill>
                <a:schemeClr val="tx1"/>
              </a:solidFill>
            </a:endParaRPr>
          </a:p>
        </p:txBody>
      </p:sp>
      <p:pic>
        <p:nvPicPr>
          <p:cNvPr id="1030" name="Picture 6" descr="SRKR"/>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6377" y="228600"/>
            <a:ext cx="3429000" cy="838201"/>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p:cNvPicPr>
            <a:picLocks noChangeAspect="1"/>
          </p:cNvPicPr>
          <p:nvPr/>
        </p:nvPicPr>
        <p:blipFill>
          <a:blip r:embed="rId2"/>
          <a:stretch>
            <a:fillRect/>
          </a:stretch>
        </p:blipFill>
        <p:spPr>
          <a:xfrm>
            <a:off x="4038600" y="304800"/>
            <a:ext cx="4267200" cy="762001"/>
          </a:xfrm>
          <a:prstGeom prst="rect">
            <a:avLst/>
          </a:prstGeom>
        </p:spPr>
      </p:pic>
      <p:pic>
        <p:nvPicPr>
          <p:cNvPr id="4" name="Picture 3"/>
          <p:cNvPicPr>
            <a:picLocks noChangeAspect="1"/>
          </p:cNvPicPr>
          <p:nvPr/>
        </p:nvPicPr>
        <p:blipFill>
          <a:blip r:embed="rId3"/>
          <a:stretch>
            <a:fillRect/>
          </a:stretch>
        </p:blipFill>
        <p:spPr>
          <a:xfrm>
            <a:off x="1524000" y="1507991"/>
            <a:ext cx="5562600" cy="4482353"/>
          </a:xfrm>
          <a:prstGeom prst="rect">
            <a:avLst/>
          </a:prstGeom>
        </p:spPr>
      </p:pic>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3"/>
          <p:cNvSpPr>
            <a:spLocks noGrp="1"/>
          </p:cNvSpPr>
          <p:nvPr>
            <p:ph type="ftr" sz="quarter" idx="11"/>
          </p:nvPr>
        </p:nvSpPr>
        <p:spPr>
          <a:xfrm>
            <a:off x="1905000" y="6400800"/>
            <a:ext cx="5486400" cy="365125"/>
          </a:xfrm>
        </p:spPr>
        <p:txBody>
          <a:bodyPr/>
          <a:lstStyle/>
          <a:p>
            <a:pPr>
              <a:defRPr/>
            </a:pPr>
            <a:r>
              <a:rPr lang="en-US" sz="1600" b="1" dirty="0" err="1" smtClean="0">
                <a:solidFill>
                  <a:srgbClr val="7030A0"/>
                </a:solidFill>
              </a:rPr>
              <a:t>Dr.K.Venkata</a:t>
            </a:r>
            <a:r>
              <a:rPr lang="en-US" sz="1600" b="1" dirty="0" smtClean="0">
                <a:solidFill>
                  <a:srgbClr val="7030A0"/>
                </a:solidFill>
              </a:rPr>
              <a:t> </a:t>
            </a:r>
            <a:r>
              <a:rPr lang="en-US" sz="1600" b="1" dirty="0" err="1" smtClean="0">
                <a:solidFill>
                  <a:srgbClr val="7030A0"/>
                </a:solidFill>
              </a:rPr>
              <a:t>Nagendra</a:t>
            </a:r>
            <a:r>
              <a:rPr lang="en-US" b="1" dirty="0" smtClean="0"/>
              <a:t>, </a:t>
            </a:r>
            <a:r>
              <a:rPr lang="en-US" b="1" dirty="0" err="1" smtClean="0">
                <a:solidFill>
                  <a:schemeClr val="tx1"/>
                </a:solidFill>
              </a:rPr>
              <a:t>M.Tech,Ph.D</a:t>
            </a:r>
            <a:r>
              <a:rPr lang="en-US" b="1" dirty="0" smtClean="0">
                <a:solidFill>
                  <a:schemeClr val="tx1"/>
                </a:solidFill>
              </a:rPr>
              <a:t>, PDF. Associate Professor, </a:t>
            </a:r>
            <a:r>
              <a:rPr lang="en-US" b="1" dirty="0" err="1" smtClean="0">
                <a:solidFill>
                  <a:schemeClr val="tx1"/>
                </a:solidFill>
              </a:rPr>
              <a:t>Dept</a:t>
            </a:r>
            <a:r>
              <a:rPr lang="en-US" b="1" dirty="0" smtClean="0">
                <a:solidFill>
                  <a:schemeClr val="tx1"/>
                </a:solidFill>
              </a:rPr>
              <a:t> of CSE.</a:t>
            </a:r>
            <a:endParaRPr lang="en-US" b="1" dirty="0">
              <a:solidFill>
                <a:schemeClr val="tx1"/>
              </a:solidFill>
            </a:endParaRPr>
          </a:p>
        </p:txBody>
      </p:sp>
      <p:pic>
        <p:nvPicPr>
          <p:cNvPr id="1030" name="Picture 6" descr="SRKR"/>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6377" y="228600"/>
            <a:ext cx="3429000" cy="838201"/>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p:cNvPicPr>
            <a:picLocks noChangeAspect="1"/>
          </p:cNvPicPr>
          <p:nvPr/>
        </p:nvPicPr>
        <p:blipFill>
          <a:blip r:embed="rId2"/>
          <a:stretch>
            <a:fillRect/>
          </a:stretch>
        </p:blipFill>
        <p:spPr>
          <a:xfrm>
            <a:off x="4038600" y="304800"/>
            <a:ext cx="4267200" cy="762001"/>
          </a:xfrm>
          <a:prstGeom prst="rect">
            <a:avLst/>
          </a:prstGeom>
        </p:spPr>
      </p:pic>
      <p:pic>
        <p:nvPicPr>
          <p:cNvPr id="3" name="Picture 2"/>
          <p:cNvPicPr>
            <a:picLocks noChangeAspect="1"/>
          </p:cNvPicPr>
          <p:nvPr/>
        </p:nvPicPr>
        <p:blipFill>
          <a:blip r:embed="rId3"/>
          <a:stretch>
            <a:fillRect/>
          </a:stretch>
        </p:blipFill>
        <p:spPr>
          <a:xfrm>
            <a:off x="98718" y="1524000"/>
            <a:ext cx="8740482" cy="3962400"/>
          </a:xfrm>
          <a:prstGeom prst="rect">
            <a:avLst/>
          </a:prstGeom>
        </p:spPr>
      </p:pic>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3"/>
          <p:cNvSpPr>
            <a:spLocks noGrp="1"/>
          </p:cNvSpPr>
          <p:nvPr>
            <p:ph type="ftr" sz="quarter" idx="11"/>
          </p:nvPr>
        </p:nvSpPr>
        <p:spPr>
          <a:xfrm>
            <a:off x="1905000" y="6400800"/>
            <a:ext cx="5486400" cy="365125"/>
          </a:xfrm>
        </p:spPr>
        <p:txBody>
          <a:bodyPr/>
          <a:lstStyle/>
          <a:p>
            <a:pPr>
              <a:defRPr/>
            </a:pPr>
            <a:r>
              <a:rPr lang="en-US" sz="1600" b="1" dirty="0" err="1" smtClean="0">
                <a:solidFill>
                  <a:srgbClr val="7030A0"/>
                </a:solidFill>
              </a:rPr>
              <a:t>Dr.K.Venkata</a:t>
            </a:r>
            <a:r>
              <a:rPr lang="en-US" sz="1600" b="1" dirty="0" smtClean="0">
                <a:solidFill>
                  <a:srgbClr val="7030A0"/>
                </a:solidFill>
              </a:rPr>
              <a:t> </a:t>
            </a:r>
            <a:r>
              <a:rPr lang="en-US" sz="1600" b="1" dirty="0" err="1" smtClean="0">
                <a:solidFill>
                  <a:srgbClr val="7030A0"/>
                </a:solidFill>
              </a:rPr>
              <a:t>Nagendra</a:t>
            </a:r>
            <a:r>
              <a:rPr lang="en-US" b="1" dirty="0" smtClean="0"/>
              <a:t>, </a:t>
            </a:r>
            <a:r>
              <a:rPr lang="en-US" b="1" dirty="0" err="1" smtClean="0">
                <a:solidFill>
                  <a:schemeClr val="tx1"/>
                </a:solidFill>
              </a:rPr>
              <a:t>M.Tech,Ph.D</a:t>
            </a:r>
            <a:r>
              <a:rPr lang="en-US" b="1" dirty="0" smtClean="0">
                <a:solidFill>
                  <a:schemeClr val="tx1"/>
                </a:solidFill>
              </a:rPr>
              <a:t>, PDF. Associate Professor, </a:t>
            </a:r>
            <a:r>
              <a:rPr lang="en-US" b="1" dirty="0" err="1" smtClean="0">
                <a:solidFill>
                  <a:schemeClr val="tx1"/>
                </a:solidFill>
              </a:rPr>
              <a:t>Dept</a:t>
            </a:r>
            <a:r>
              <a:rPr lang="en-US" b="1" dirty="0" smtClean="0">
                <a:solidFill>
                  <a:schemeClr val="tx1"/>
                </a:solidFill>
              </a:rPr>
              <a:t> of CSE.</a:t>
            </a:r>
            <a:endParaRPr lang="en-US" b="1" dirty="0">
              <a:solidFill>
                <a:schemeClr val="tx1"/>
              </a:solidFill>
            </a:endParaRPr>
          </a:p>
        </p:txBody>
      </p:sp>
      <p:pic>
        <p:nvPicPr>
          <p:cNvPr id="1030" name="Picture 6" descr="SRKR"/>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6377" y="228600"/>
            <a:ext cx="3429000" cy="838201"/>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p:cNvPicPr>
            <a:picLocks noChangeAspect="1"/>
          </p:cNvPicPr>
          <p:nvPr/>
        </p:nvPicPr>
        <p:blipFill>
          <a:blip r:embed="rId2"/>
          <a:stretch>
            <a:fillRect/>
          </a:stretch>
        </p:blipFill>
        <p:spPr>
          <a:xfrm>
            <a:off x="4038600" y="304800"/>
            <a:ext cx="4267200" cy="762001"/>
          </a:xfrm>
          <a:prstGeom prst="rect">
            <a:avLst/>
          </a:prstGeom>
        </p:spPr>
      </p:pic>
      <p:sp>
        <p:nvSpPr>
          <p:cNvPr id="2" name="Rectangle 1"/>
          <p:cNvSpPr/>
          <p:nvPr/>
        </p:nvSpPr>
        <p:spPr>
          <a:xfrm>
            <a:off x="914400" y="1524000"/>
            <a:ext cx="5867400" cy="1338828"/>
          </a:xfrm>
          <a:prstGeom prst="rect">
            <a:avLst/>
          </a:prstGeom>
        </p:spPr>
        <p:txBody>
          <a:bodyPr wrap="square">
            <a:spAutoFit/>
          </a:bodyPr>
          <a:lstStyle/>
          <a:p>
            <a:pPr algn="just">
              <a:lnSpc>
                <a:spcPct val="150000"/>
              </a:lnSpc>
              <a:spcAft>
                <a:spcPts val="0"/>
              </a:spcAft>
            </a:pPr>
            <a:r>
              <a:rPr lang="en-IN" b="1" dirty="0">
                <a:solidFill>
                  <a:srgbClr val="333333"/>
                </a:solidFill>
                <a:latin typeface="Times New Roman" panose="02020603050405020304" pitchFamily="18" charset="0"/>
                <a:ea typeface="Calibri" panose="020F0502020204030204" pitchFamily="34" charset="0"/>
                <a:cs typeface="Times New Roman" panose="02020603050405020304" pitchFamily="18" charset="0"/>
              </a:rPr>
              <a:t>Types of SVM:</a:t>
            </a:r>
            <a:endParaRPr lang="en-IN" sz="1600"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spcAft>
                <a:spcPts val="0"/>
              </a:spcAft>
              <a:buFont typeface="Symbol" panose="05050102010706020507" pitchFamily="18" charset="2"/>
              <a:buChar char=""/>
            </a:pPr>
            <a:r>
              <a:rPr lang="en-IN" dirty="0">
                <a:solidFill>
                  <a:srgbClr val="333333"/>
                </a:solidFill>
                <a:latin typeface="Times New Roman" panose="02020603050405020304" pitchFamily="18" charset="0"/>
                <a:ea typeface="Calibri" panose="020F0502020204030204" pitchFamily="34" charset="0"/>
                <a:cs typeface="Times New Roman" panose="02020603050405020304" pitchFamily="18" charset="0"/>
              </a:rPr>
              <a:t>Liner SVM: It uses single straight line.</a:t>
            </a:r>
            <a:endParaRPr lang="en-IN" sz="1600"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spcAft>
                <a:spcPts val="0"/>
              </a:spcAft>
              <a:buFont typeface="Symbol" panose="05050102010706020507" pitchFamily="18" charset="2"/>
              <a:buChar char=""/>
            </a:pPr>
            <a:r>
              <a:rPr lang="en-IN" dirty="0">
                <a:solidFill>
                  <a:srgbClr val="333333"/>
                </a:solidFill>
                <a:latin typeface="Times New Roman" panose="02020603050405020304" pitchFamily="18" charset="0"/>
                <a:ea typeface="Calibri" panose="020F0502020204030204" pitchFamily="34" charset="0"/>
                <a:cs typeface="Times New Roman" panose="02020603050405020304" pitchFamily="18" charset="0"/>
              </a:rPr>
              <a:t>Non-Linear SVM: It does not use any straight line.</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3" name="Rectangle 2"/>
          <p:cNvSpPr/>
          <p:nvPr/>
        </p:nvSpPr>
        <p:spPr>
          <a:xfrm>
            <a:off x="914400" y="3048000"/>
            <a:ext cx="7772400" cy="1735027"/>
          </a:xfrm>
          <a:prstGeom prst="rect">
            <a:avLst/>
          </a:prstGeom>
        </p:spPr>
        <p:txBody>
          <a:bodyPr wrap="square">
            <a:spAutoFit/>
          </a:bodyPr>
          <a:lstStyle/>
          <a:p>
            <a:pPr algn="just">
              <a:lnSpc>
                <a:spcPct val="106000"/>
              </a:lnSpc>
              <a:spcAft>
                <a:spcPts val="800"/>
              </a:spcAft>
            </a:pPr>
            <a:r>
              <a:rPr lang="en-IN" b="1" dirty="0">
                <a:solidFill>
                  <a:srgbClr val="333333"/>
                </a:solidFill>
                <a:latin typeface="Times New Roman" panose="02020603050405020304" pitchFamily="18" charset="0"/>
                <a:ea typeface="Calibri" panose="020F0502020204030204" pitchFamily="34" charset="0"/>
                <a:cs typeface="Times New Roman" panose="02020603050405020304" pitchFamily="18" charset="0"/>
              </a:rPr>
              <a:t>Strengths of SVM</a:t>
            </a:r>
            <a:endParaRPr lang="en-IN" sz="1600"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spcAft>
                <a:spcPts val="0"/>
              </a:spcAft>
              <a:buFont typeface="Symbol" panose="05050102010706020507" pitchFamily="18" charset="2"/>
              <a:buChar char=""/>
            </a:pPr>
            <a:r>
              <a:rPr lang="en-IN" dirty="0">
                <a:solidFill>
                  <a:srgbClr val="333333"/>
                </a:solidFill>
                <a:latin typeface="Times New Roman" panose="02020603050405020304" pitchFamily="18" charset="0"/>
                <a:ea typeface="Calibri" panose="020F0502020204030204" pitchFamily="34" charset="0"/>
                <a:cs typeface="Times New Roman" panose="02020603050405020304" pitchFamily="18" charset="0"/>
              </a:rPr>
              <a:t>SVM can be used for both classification and regression.</a:t>
            </a:r>
            <a:endParaRPr lang="en-IN" sz="1600"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spcAft>
                <a:spcPts val="0"/>
              </a:spcAft>
              <a:buFont typeface="Symbol" panose="05050102010706020507" pitchFamily="18" charset="2"/>
              <a:buChar char=""/>
            </a:pPr>
            <a:r>
              <a:rPr lang="en-IN" dirty="0">
                <a:solidFill>
                  <a:srgbClr val="333333"/>
                </a:solidFill>
                <a:latin typeface="Times New Roman" panose="02020603050405020304" pitchFamily="18" charset="0"/>
                <a:ea typeface="Calibri" panose="020F0502020204030204" pitchFamily="34" charset="0"/>
                <a:cs typeface="Times New Roman" panose="02020603050405020304" pitchFamily="18" charset="0"/>
              </a:rPr>
              <a:t>It is robust, i.e. not much impacted by data with noise or outliers. The prediction results using this model are very promising.</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3"/>
          <p:cNvSpPr>
            <a:spLocks noGrp="1"/>
          </p:cNvSpPr>
          <p:nvPr>
            <p:ph type="ftr" sz="quarter" idx="11"/>
          </p:nvPr>
        </p:nvSpPr>
        <p:spPr>
          <a:xfrm>
            <a:off x="1905000" y="6400800"/>
            <a:ext cx="5486400" cy="365125"/>
          </a:xfrm>
        </p:spPr>
        <p:txBody>
          <a:bodyPr/>
          <a:lstStyle/>
          <a:p>
            <a:pPr>
              <a:defRPr/>
            </a:pPr>
            <a:r>
              <a:rPr lang="en-US" sz="1600" b="1" dirty="0" err="1" smtClean="0">
                <a:solidFill>
                  <a:srgbClr val="7030A0"/>
                </a:solidFill>
              </a:rPr>
              <a:t>Dr.K.Venkata</a:t>
            </a:r>
            <a:r>
              <a:rPr lang="en-US" sz="1600" b="1" dirty="0" smtClean="0">
                <a:solidFill>
                  <a:srgbClr val="7030A0"/>
                </a:solidFill>
              </a:rPr>
              <a:t> </a:t>
            </a:r>
            <a:r>
              <a:rPr lang="en-US" sz="1600" b="1" dirty="0" err="1" smtClean="0">
                <a:solidFill>
                  <a:srgbClr val="7030A0"/>
                </a:solidFill>
              </a:rPr>
              <a:t>Nagendra</a:t>
            </a:r>
            <a:r>
              <a:rPr lang="en-US" b="1" dirty="0" smtClean="0"/>
              <a:t>, </a:t>
            </a:r>
            <a:r>
              <a:rPr lang="en-US" b="1" dirty="0" err="1" smtClean="0">
                <a:solidFill>
                  <a:schemeClr val="tx1"/>
                </a:solidFill>
              </a:rPr>
              <a:t>M.Tech,Ph.D</a:t>
            </a:r>
            <a:r>
              <a:rPr lang="en-US" b="1" dirty="0" smtClean="0">
                <a:solidFill>
                  <a:schemeClr val="tx1"/>
                </a:solidFill>
              </a:rPr>
              <a:t>, PDF. Associate Professor, </a:t>
            </a:r>
            <a:r>
              <a:rPr lang="en-US" b="1" dirty="0" err="1" smtClean="0">
                <a:solidFill>
                  <a:schemeClr val="tx1"/>
                </a:solidFill>
              </a:rPr>
              <a:t>Dept</a:t>
            </a:r>
            <a:r>
              <a:rPr lang="en-US" b="1" dirty="0" smtClean="0">
                <a:solidFill>
                  <a:schemeClr val="tx1"/>
                </a:solidFill>
              </a:rPr>
              <a:t> of CSE.</a:t>
            </a:r>
            <a:endParaRPr lang="en-US" b="1" dirty="0">
              <a:solidFill>
                <a:schemeClr val="tx1"/>
              </a:solidFill>
            </a:endParaRPr>
          </a:p>
        </p:txBody>
      </p:sp>
      <p:pic>
        <p:nvPicPr>
          <p:cNvPr id="1030" name="Picture 6" descr="SRKR"/>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6377" y="228600"/>
            <a:ext cx="3429000" cy="838201"/>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p:cNvPicPr>
            <a:picLocks noChangeAspect="1"/>
          </p:cNvPicPr>
          <p:nvPr/>
        </p:nvPicPr>
        <p:blipFill>
          <a:blip r:embed="rId2"/>
          <a:stretch>
            <a:fillRect/>
          </a:stretch>
        </p:blipFill>
        <p:spPr>
          <a:xfrm>
            <a:off x="4038600" y="304800"/>
            <a:ext cx="4267200" cy="762001"/>
          </a:xfrm>
          <a:prstGeom prst="rect">
            <a:avLst/>
          </a:prstGeom>
        </p:spPr>
      </p:pic>
      <p:sp>
        <p:nvSpPr>
          <p:cNvPr id="4" name="Text Box 3"/>
          <p:cNvSpPr txBox="1"/>
          <p:nvPr/>
        </p:nvSpPr>
        <p:spPr>
          <a:xfrm>
            <a:off x="2133600" y="1371283"/>
            <a:ext cx="5080000" cy="582295"/>
          </a:xfrm>
          <a:prstGeom prst="rect">
            <a:avLst/>
          </a:prstGeom>
        </p:spPr>
        <p:txBody>
          <a:bodyPr>
            <a:spAutoFit/>
          </a:bodyPr>
          <a:p>
            <a:pPr algn="ctr" defTabSz="266700">
              <a:lnSpc>
                <a:spcPct val="114000"/>
              </a:lnSpc>
              <a:spcAft>
                <a:spcPts val="1000"/>
              </a:spcAft>
            </a:pPr>
            <a:r>
              <a:rPr sz="2800" b="1">
                <a:solidFill>
                  <a:srgbClr val="FF0000"/>
                </a:solidFill>
                <a:latin typeface="Times New Roman" panose="02020603050405020304"/>
                <a:ea typeface="SimSun" panose="02010600030101010101" pitchFamily="2" charset="-122"/>
              </a:rPr>
              <a:t>LOGISTIC REGRESSION</a:t>
            </a:r>
            <a:endParaRPr sz="2800" b="1">
              <a:solidFill>
                <a:srgbClr val="FF0000"/>
              </a:solidFill>
              <a:latin typeface="Times New Roman" panose="02020603050405020304"/>
              <a:ea typeface="SimSun" panose="02010600030101010101" pitchFamily="2" charset="-122"/>
            </a:endParaRPr>
          </a:p>
        </p:txBody>
      </p:sp>
      <p:sp>
        <p:nvSpPr>
          <p:cNvPr id="6" name="Text Box 5"/>
          <p:cNvSpPr txBox="1"/>
          <p:nvPr/>
        </p:nvSpPr>
        <p:spPr>
          <a:xfrm>
            <a:off x="5337810" y="1981200"/>
            <a:ext cx="3194685" cy="4246245"/>
          </a:xfrm>
          <a:prstGeom prst="rect">
            <a:avLst/>
          </a:prstGeom>
        </p:spPr>
        <p:txBody>
          <a:bodyPr wrap="square">
            <a:spAutoFit/>
          </a:bodyPr>
          <a:p>
            <a:pPr marL="0" indent="457200" algn="just" defTabSz="266700">
              <a:lnSpc>
                <a:spcPct val="150000"/>
              </a:lnSpc>
              <a:spcAft>
                <a:spcPct val="0"/>
              </a:spcAft>
            </a:pPr>
            <a:r>
              <a:rPr sz="2000">
                <a:latin typeface="Times New Roman" panose="02020603050405020304"/>
                <a:ea typeface="SimSun" panose="02010600030101010101" pitchFamily="2" charset="-122"/>
              </a:rPr>
              <a:t>The name “</a:t>
            </a:r>
            <a:r>
              <a:rPr sz="2000" b="1">
                <a:latin typeface="Times New Roman" panose="02020603050405020304"/>
                <a:ea typeface="SimSun" panose="02010600030101010101" pitchFamily="2" charset="-122"/>
              </a:rPr>
              <a:t>logistic regression</a:t>
            </a:r>
            <a:r>
              <a:rPr sz="2000">
                <a:latin typeface="Times New Roman" panose="02020603050405020304"/>
                <a:ea typeface="SimSun" panose="02010600030101010101" pitchFamily="2" charset="-122"/>
              </a:rPr>
              <a:t>” is derived from the concept of the logistic function that it uses. The logistic function is also known as the </a:t>
            </a:r>
            <a:r>
              <a:rPr sz="2000" b="1">
                <a:latin typeface="Times New Roman" panose="02020603050405020304"/>
                <a:ea typeface="SimSun" panose="02010600030101010101" pitchFamily="2" charset="-122"/>
              </a:rPr>
              <a:t>sigmoid function</a:t>
            </a:r>
            <a:r>
              <a:rPr sz="2000">
                <a:latin typeface="Times New Roman" panose="02020603050405020304"/>
                <a:ea typeface="SimSun" panose="02010600030101010101" pitchFamily="2" charset="-122"/>
              </a:rPr>
              <a:t>. The value of this logistic function lies between zero and one. </a:t>
            </a:r>
            <a:endParaRPr sz="2000">
              <a:latin typeface="Times New Roman" panose="02020603050405020304"/>
              <a:ea typeface="SimSun" panose="02010600030101010101" pitchFamily="2" charset="-122"/>
            </a:endParaRPr>
          </a:p>
        </p:txBody>
      </p:sp>
      <p:pic>
        <p:nvPicPr>
          <p:cNvPr id="2" name="Picture 1"/>
          <p:cNvPicPr>
            <a:picLocks noChangeAspect="1"/>
          </p:cNvPicPr>
          <p:nvPr/>
        </p:nvPicPr>
        <p:blipFill>
          <a:blip r:embed="rId3"/>
          <a:stretch>
            <a:fillRect/>
          </a:stretch>
        </p:blipFill>
        <p:spPr>
          <a:xfrm>
            <a:off x="26670" y="1953895"/>
            <a:ext cx="4845685" cy="3850005"/>
          </a:xfrm>
          <a:prstGeom prst="rect">
            <a:avLst/>
          </a:prstGeom>
        </p:spPr>
      </p:pic>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3"/>
          <p:cNvSpPr>
            <a:spLocks noGrp="1"/>
          </p:cNvSpPr>
          <p:nvPr>
            <p:ph type="ftr" sz="quarter" idx="11"/>
          </p:nvPr>
        </p:nvSpPr>
        <p:spPr>
          <a:xfrm>
            <a:off x="1905000" y="6400800"/>
            <a:ext cx="5486400" cy="365125"/>
          </a:xfrm>
        </p:spPr>
        <p:txBody>
          <a:bodyPr/>
          <a:lstStyle/>
          <a:p>
            <a:pPr>
              <a:defRPr/>
            </a:pPr>
            <a:r>
              <a:rPr lang="en-US" sz="1600" b="1" dirty="0" err="1" smtClean="0">
                <a:solidFill>
                  <a:srgbClr val="7030A0"/>
                </a:solidFill>
              </a:rPr>
              <a:t>Dr.K.Venkata</a:t>
            </a:r>
            <a:r>
              <a:rPr lang="en-US" sz="1600" b="1" dirty="0" smtClean="0">
                <a:solidFill>
                  <a:srgbClr val="7030A0"/>
                </a:solidFill>
              </a:rPr>
              <a:t> </a:t>
            </a:r>
            <a:r>
              <a:rPr lang="en-US" sz="1600" b="1" dirty="0" err="1" smtClean="0">
                <a:solidFill>
                  <a:srgbClr val="7030A0"/>
                </a:solidFill>
              </a:rPr>
              <a:t>Nagendra</a:t>
            </a:r>
            <a:r>
              <a:rPr lang="en-US" b="1" dirty="0" smtClean="0"/>
              <a:t>, </a:t>
            </a:r>
            <a:r>
              <a:rPr lang="en-US" b="1" dirty="0" err="1" smtClean="0">
                <a:solidFill>
                  <a:schemeClr val="tx1"/>
                </a:solidFill>
              </a:rPr>
              <a:t>M.Tech,Ph.D</a:t>
            </a:r>
            <a:r>
              <a:rPr lang="en-US" b="1" dirty="0" smtClean="0">
                <a:solidFill>
                  <a:schemeClr val="tx1"/>
                </a:solidFill>
              </a:rPr>
              <a:t>, PDF. Associate Professor, </a:t>
            </a:r>
            <a:r>
              <a:rPr lang="en-US" b="1" dirty="0" err="1" smtClean="0">
                <a:solidFill>
                  <a:schemeClr val="tx1"/>
                </a:solidFill>
              </a:rPr>
              <a:t>Dept</a:t>
            </a:r>
            <a:r>
              <a:rPr lang="en-US" b="1" dirty="0" smtClean="0">
                <a:solidFill>
                  <a:schemeClr val="tx1"/>
                </a:solidFill>
              </a:rPr>
              <a:t> of CSE.</a:t>
            </a:r>
            <a:endParaRPr lang="en-US" b="1" dirty="0">
              <a:solidFill>
                <a:schemeClr val="tx1"/>
              </a:solidFill>
            </a:endParaRPr>
          </a:p>
        </p:txBody>
      </p:sp>
      <p:pic>
        <p:nvPicPr>
          <p:cNvPr id="1030" name="Picture 6" descr="SRKR"/>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6377" y="228600"/>
            <a:ext cx="3429000" cy="838201"/>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p:cNvPicPr>
            <a:picLocks noChangeAspect="1"/>
          </p:cNvPicPr>
          <p:nvPr/>
        </p:nvPicPr>
        <p:blipFill>
          <a:blip r:embed="rId2"/>
          <a:stretch>
            <a:fillRect/>
          </a:stretch>
        </p:blipFill>
        <p:spPr>
          <a:xfrm>
            <a:off x="4038600" y="304800"/>
            <a:ext cx="4267200" cy="762001"/>
          </a:xfrm>
          <a:prstGeom prst="rect">
            <a:avLst/>
          </a:prstGeom>
        </p:spPr>
      </p:pic>
      <p:sp>
        <p:nvSpPr>
          <p:cNvPr id="4" name="Text Box 3"/>
          <p:cNvSpPr txBox="1"/>
          <p:nvPr/>
        </p:nvSpPr>
        <p:spPr>
          <a:xfrm>
            <a:off x="2133600" y="1371283"/>
            <a:ext cx="5080000" cy="582295"/>
          </a:xfrm>
          <a:prstGeom prst="rect">
            <a:avLst/>
          </a:prstGeom>
        </p:spPr>
        <p:txBody>
          <a:bodyPr>
            <a:spAutoFit/>
          </a:bodyPr>
          <a:p>
            <a:pPr algn="ctr" defTabSz="266700">
              <a:lnSpc>
                <a:spcPct val="114000"/>
              </a:lnSpc>
              <a:spcAft>
                <a:spcPts val="1000"/>
              </a:spcAft>
            </a:pPr>
            <a:r>
              <a:rPr sz="2800" b="1">
                <a:solidFill>
                  <a:srgbClr val="FF0000"/>
                </a:solidFill>
                <a:latin typeface="Times New Roman" panose="02020603050405020304"/>
                <a:ea typeface="SimSun" panose="02010600030101010101" pitchFamily="2" charset="-122"/>
              </a:rPr>
              <a:t>LOGISTIC REGRESSION</a:t>
            </a:r>
            <a:endParaRPr sz="2800" b="1">
              <a:solidFill>
                <a:srgbClr val="FF0000"/>
              </a:solidFill>
              <a:latin typeface="Times New Roman" panose="02020603050405020304"/>
              <a:ea typeface="SimSun" panose="02010600030101010101" pitchFamily="2" charset="-122"/>
            </a:endParaRPr>
          </a:p>
        </p:txBody>
      </p:sp>
      <p:pic>
        <p:nvPicPr>
          <p:cNvPr id="3" name="Picture 2"/>
          <p:cNvPicPr>
            <a:picLocks noChangeAspect="1"/>
          </p:cNvPicPr>
          <p:nvPr/>
        </p:nvPicPr>
        <p:blipFill>
          <a:blip r:embed="rId3"/>
          <a:stretch>
            <a:fillRect/>
          </a:stretch>
        </p:blipFill>
        <p:spPr>
          <a:xfrm>
            <a:off x="609600" y="2286000"/>
            <a:ext cx="7633970" cy="2136775"/>
          </a:xfrm>
          <a:prstGeom prst="rect">
            <a:avLst/>
          </a:prstGeom>
        </p:spPr>
      </p:pic>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3"/>
          <p:cNvSpPr>
            <a:spLocks noGrp="1"/>
          </p:cNvSpPr>
          <p:nvPr>
            <p:ph type="ftr" sz="quarter" idx="11"/>
          </p:nvPr>
        </p:nvSpPr>
        <p:spPr>
          <a:xfrm>
            <a:off x="1905000" y="6400800"/>
            <a:ext cx="5486400" cy="365125"/>
          </a:xfrm>
        </p:spPr>
        <p:txBody>
          <a:bodyPr/>
          <a:lstStyle/>
          <a:p>
            <a:pPr>
              <a:defRPr/>
            </a:pPr>
            <a:r>
              <a:rPr lang="en-US" sz="1600" b="1" dirty="0" err="1" smtClean="0">
                <a:solidFill>
                  <a:srgbClr val="7030A0"/>
                </a:solidFill>
              </a:rPr>
              <a:t>Dr.K.Venkata</a:t>
            </a:r>
            <a:r>
              <a:rPr lang="en-US" sz="1600" b="1" dirty="0" smtClean="0">
                <a:solidFill>
                  <a:srgbClr val="7030A0"/>
                </a:solidFill>
              </a:rPr>
              <a:t> </a:t>
            </a:r>
            <a:r>
              <a:rPr lang="en-US" sz="1600" b="1" dirty="0" err="1" smtClean="0">
                <a:solidFill>
                  <a:srgbClr val="7030A0"/>
                </a:solidFill>
              </a:rPr>
              <a:t>Nagendra</a:t>
            </a:r>
            <a:r>
              <a:rPr lang="en-US" b="1" dirty="0" smtClean="0"/>
              <a:t>, </a:t>
            </a:r>
            <a:r>
              <a:rPr lang="en-US" b="1" dirty="0" err="1" smtClean="0">
                <a:solidFill>
                  <a:schemeClr val="tx1"/>
                </a:solidFill>
              </a:rPr>
              <a:t>M.Tech,Ph.D</a:t>
            </a:r>
            <a:r>
              <a:rPr lang="en-US" b="1" dirty="0" smtClean="0">
                <a:solidFill>
                  <a:schemeClr val="tx1"/>
                </a:solidFill>
              </a:rPr>
              <a:t>, PDF. Associate Professor, </a:t>
            </a:r>
            <a:r>
              <a:rPr lang="en-US" b="1" dirty="0" err="1" smtClean="0">
                <a:solidFill>
                  <a:schemeClr val="tx1"/>
                </a:solidFill>
              </a:rPr>
              <a:t>Dept</a:t>
            </a:r>
            <a:r>
              <a:rPr lang="en-US" b="1" dirty="0" smtClean="0">
                <a:solidFill>
                  <a:schemeClr val="tx1"/>
                </a:solidFill>
              </a:rPr>
              <a:t> of CSE.</a:t>
            </a:r>
            <a:endParaRPr lang="en-US" b="1" dirty="0">
              <a:solidFill>
                <a:schemeClr val="tx1"/>
              </a:solidFill>
            </a:endParaRPr>
          </a:p>
        </p:txBody>
      </p:sp>
      <p:pic>
        <p:nvPicPr>
          <p:cNvPr id="1030" name="Picture 6" descr="SRKR"/>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6377" y="228600"/>
            <a:ext cx="3429000" cy="838201"/>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p:cNvPicPr>
            <a:picLocks noChangeAspect="1"/>
          </p:cNvPicPr>
          <p:nvPr/>
        </p:nvPicPr>
        <p:blipFill>
          <a:blip r:embed="rId2"/>
          <a:stretch>
            <a:fillRect/>
          </a:stretch>
        </p:blipFill>
        <p:spPr>
          <a:xfrm>
            <a:off x="4038600" y="304800"/>
            <a:ext cx="4267200" cy="762001"/>
          </a:xfrm>
          <a:prstGeom prst="rect">
            <a:avLst/>
          </a:prstGeom>
        </p:spPr>
      </p:pic>
      <p:sp>
        <p:nvSpPr>
          <p:cNvPr id="4" name="Text Box 3"/>
          <p:cNvSpPr txBox="1"/>
          <p:nvPr/>
        </p:nvSpPr>
        <p:spPr>
          <a:xfrm>
            <a:off x="2133600" y="1371283"/>
            <a:ext cx="5080000" cy="582295"/>
          </a:xfrm>
          <a:prstGeom prst="rect">
            <a:avLst/>
          </a:prstGeom>
        </p:spPr>
        <p:txBody>
          <a:bodyPr>
            <a:spAutoFit/>
          </a:bodyPr>
          <a:p>
            <a:pPr algn="ctr" defTabSz="266700">
              <a:lnSpc>
                <a:spcPct val="114000"/>
              </a:lnSpc>
              <a:spcAft>
                <a:spcPts val="1000"/>
              </a:spcAft>
            </a:pPr>
            <a:r>
              <a:rPr sz="2800" b="1">
                <a:solidFill>
                  <a:srgbClr val="FF0000"/>
                </a:solidFill>
                <a:latin typeface="Times New Roman" panose="02020603050405020304"/>
                <a:ea typeface="SimSun" panose="02010600030101010101" pitchFamily="2" charset="-122"/>
              </a:rPr>
              <a:t>LOGISTIC REGRESSION</a:t>
            </a:r>
            <a:endParaRPr sz="2800" b="1">
              <a:solidFill>
                <a:srgbClr val="FF0000"/>
              </a:solidFill>
              <a:latin typeface="Times New Roman" panose="02020603050405020304"/>
              <a:ea typeface="SimSun" panose="02010600030101010101" pitchFamily="2" charset="-122"/>
            </a:endParaRPr>
          </a:p>
        </p:txBody>
      </p:sp>
      <p:sp>
        <p:nvSpPr>
          <p:cNvPr id="7" name="Text Box 6"/>
          <p:cNvSpPr txBox="1"/>
          <p:nvPr/>
        </p:nvSpPr>
        <p:spPr>
          <a:xfrm>
            <a:off x="360680" y="2286000"/>
            <a:ext cx="8717915" cy="2637790"/>
          </a:xfrm>
          <a:prstGeom prst="rect">
            <a:avLst/>
          </a:prstGeom>
        </p:spPr>
        <p:txBody>
          <a:bodyPr wrap="square">
            <a:spAutoFit/>
          </a:bodyPr>
          <a:p>
            <a:pPr marL="0" indent="0">
              <a:lnSpc>
                <a:spcPts val="1680"/>
              </a:lnSpc>
            </a:pPr>
            <a:r>
              <a:rPr sz="3200" b="1" i="0">
                <a:solidFill>
                  <a:srgbClr val="0A0A0A"/>
                </a:solidFill>
                <a:latin typeface="Times New Roman" panose="02020603050405020304" pitchFamily="18" charset="0"/>
                <a:ea typeface="Google Sans"/>
                <a:cs typeface="Times New Roman" panose="02020603050405020304" pitchFamily="18" charset="0"/>
              </a:rPr>
              <a:t>Common Applications</a:t>
            </a:r>
            <a:endParaRPr sz="3200" b="1" i="0">
              <a:solidFill>
                <a:srgbClr val="0A0A0A"/>
              </a:solidFill>
              <a:latin typeface="Times New Roman" panose="02020603050405020304" pitchFamily="18" charset="0"/>
              <a:ea typeface="Google Sans"/>
              <a:cs typeface="Times New Roman" panose="02020603050405020304" pitchFamily="18" charset="0"/>
            </a:endParaRPr>
          </a:p>
          <a:p>
            <a:pPr marL="0" indent="0">
              <a:lnSpc>
                <a:spcPts val="1680"/>
              </a:lnSpc>
            </a:pPr>
            <a:endParaRPr sz="2000" b="0" i="0">
              <a:solidFill>
                <a:srgbClr val="0A0A0A"/>
              </a:solidFill>
              <a:latin typeface="Times New Roman" panose="02020603050405020304" pitchFamily="18" charset="0"/>
              <a:ea typeface="Google Sans"/>
              <a:cs typeface="Times New Roman" panose="02020603050405020304" pitchFamily="18" charset="0"/>
            </a:endParaRPr>
          </a:p>
          <a:p>
            <a:pPr marL="0" indent="0">
              <a:lnSpc>
                <a:spcPct val="150000"/>
              </a:lnSpc>
              <a:spcBef>
                <a:spcPct val="0"/>
              </a:spcBef>
              <a:spcAft>
                <a:spcPts val="700"/>
              </a:spcAft>
              <a:buFont typeface="Arial" panose="020B0604020202020204"/>
              <a:buChar char="•"/>
            </a:pPr>
            <a:r>
              <a:rPr lang="en-US" sz="2000" b="1" i="0">
                <a:solidFill>
                  <a:srgbClr val="0A0A0A"/>
                </a:solidFill>
                <a:latin typeface="Times New Roman" panose="02020603050405020304" pitchFamily="18" charset="0"/>
                <a:ea typeface="Google Sans"/>
                <a:cs typeface="Times New Roman" panose="02020603050405020304" pitchFamily="18" charset="0"/>
              </a:rPr>
              <a:t> </a:t>
            </a:r>
            <a:r>
              <a:rPr sz="2000" b="1" i="0">
                <a:solidFill>
                  <a:srgbClr val="0A0A0A"/>
                </a:solidFill>
                <a:latin typeface="Times New Roman" panose="02020603050405020304" pitchFamily="18" charset="0"/>
                <a:ea typeface="Google Sans"/>
                <a:cs typeface="Times New Roman" panose="02020603050405020304" pitchFamily="18" charset="0"/>
              </a:rPr>
              <a:t>Healthcare:</a:t>
            </a:r>
            <a:r>
              <a:rPr sz="2000" b="0" i="0">
                <a:solidFill>
                  <a:srgbClr val="0A0A0A"/>
                </a:solidFill>
                <a:latin typeface="Times New Roman" panose="02020603050405020304" pitchFamily="18" charset="0"/>
                <a:ea typeface="Google Sans"/>
                <a:cs typeface="Times New Roman" panose="02020603050405020304" pitchFamily="18" charset="0"/>
              </a:rPr>
              <a:t> Predicting the likelihood of a patient having a specific disease.</a:t>
            </a:r>
            <a:endParaRPr sz="2000" b="0" i="0">
              <a:solidFill>
                <a:srgbClr val="0A0A0A"/>
              </a:solidFill>
              <a:latin typeface="Times New Roman" panose="02020603050405020304" pitchFamily="18" charset="0"/>
              <a:ea typeface="Google Sans"/>
              <a:cs typeface="Times New Roman" panose="02020603050405020304" pitchFamily="18" charset="0"/>
            </a:endParaRPr>
          </a:p>
          <a:p>
            <a:pPr marL="0" indent="0">
              <a:lnSpc>
                <a:spcPct val="150000"/>
              </a:lnSpc>
              <a:spcBef>
                <a:spcPct val="0"/>
              </a:spcBef>
              <a:spcAft>
                <a:spcPts val="700"/>
              </a:spcAft>
              <a:buFont typeface="Arial" panose="020B0604020202020204"/>
              <a:buChar char="•"/>
            </a:pPr>
            <a:r>
              <a:rPr lang="en-US" sz="2000" b="1" i="0">
                <a:solidFill>
                  <a:srgbClr val="0A0A0A"/>
                </a:solidFill>
                <a:latin typeface="Times New Roman" panose="02020603050405020304" pitchFamily="18" charset="0"/>
                <a:ea typeface="Google Sans"/>
                <a:cs typeface="Times New Roman" panose="02020603050405020304" pitchFamily="18" charset="0"/>
              </a:rPr>
              <a:t> </a:t>
            </a:r>
            <a:r>
              <a:rPr sz="2000" b="1" i="0">
                <a:solidFill>
                  <a:srgbClr val="0A0A0A"/>
                </a:solidFill>
                <a:latin typeface="Times New Roman" panose="02020603050405020304" pitchFamily="18" charset="0"/>
                <a:ea typeface="Google Sans"/>
                <a:cs typeface="Times New Roman" panose="02020603050405020304" pitchFamily="18" charset="0"/>
              </a:rPr>
              <a:t>Finance:</a:t>
            </a:r>
            <a:r>
              <a:rPr sz="2000" b="0" i="0">
                <a:solidFill>
                  <a:srgbClr val="0A0A0A"/>
                </a:solidFill>
                <a:latin typeface="Times New Roman" panose="02020603050405020304" pitchFamily="18" charset="0"/>
                <a:ea typeface="Google Sans"/>
                <a:cs typeface="Times New Roman" panose="02020603050405020304" pitchFamily="18" charset="0"/>
              </a:rPr>
              <a:t> Detecting fraudulent credit card transactions.</a:t>
            </a:r>
            <a:endParaRPr sz="2000" b="0" i="0">
              <a:solidFill>
                <a:srgbClr val="0A0A0A"/>
              </a:solidFill>
              <a:latin typeface="Times New Roman" panose="02020603050405020304" pitchFamily="18" charset="0"/>
              <a:ea typeface="Google Sans"/>
              <a:cs typeface="Times New Roman" panose="02020603050405020304" pitchFamily="18" charset="0"/>
            </a:endParaRPr>
          </a:p>
          <a:p>
            <a:pPr marL="0" indent="0">
              <a:lnSpc>
                <a:spcPct val="150000"/>
              </a:lnSpc>
              <a:spcBef>
                <a:spcPct val="0"/>
              </a:spcBef>
              <a:spcAft>
                <a:spcPts val="700"/>
              </a:spcAft>
              <a:buFont typeface="Arial" panose="020B0604020202020204"/>
              <a:buChar char="•"/>
            </a:pPr>
            <a:r>
              <a:rPr lang="en-US" sz="2000" b="1" i="0">
                <a:solidFill>
                  <a:srgbClr val="0A0A0A"/>
                </a:solidFill>
                <a:latin typeface="Times New Roman" panose="02020603050405020304" pitchFamily="18" charset="0"/>
                <a:ea typeface="Google Sans"/>
                <a:cs typeface="Times New Roman" panose="02020603050405020304" pitchFamily="18" charset="0"/>
              </a:rPr>
              <a:t> </a:t>
            </a:r>
            <a:r>
              <a:rPr sz="2000" b="1" i="0">
                <a:solidFill>
                  <a:srgbClr val="0A0A0A"/>
                </a:solidFill>
                <a:latin typeface="Times New Roman" panose="02020603050405020304" pitchFamily="18" charset="0"/>
                <a:ea typeface="Google Sans"/>
                <a:cs typeface="Times New Roman" panose="02020603050405020304" pitchFamily="18" charset="0"/>
              </a:rPr>
              <a:t>Marketing:</a:t>
            </a:r>
            <a:r>
              <a:rPr sz="2000" b="0" i="0">
                <a:solidFill>
                  <a:srgbClr val="0A0A0A"/>
                </a:solidFill>
                <a:latin typeface="Times New Roman" panose="02020603050405020304" pitchFamily="18" charset="0"/>
                <a:ea typeface="Google Sans"/>
                <a:cs typeface="Times New Roman" panose="02020603050405020304" pitchFamily="18" charset="0"/>
              </a:rPr>
              <a:t> Calculating a customer's </a:t>
            </a:r>
            <a:r>
              <a:rPr lang="en-IN" sz="2000" b="0" i="0">
                <a:solidFill>
                  <a:srgbClr val="0A0A0A"/>
                </a:solidFill>
                <a:latin typeface="Times New Roman" panose="02020603050405020304" pitchFamily="18" charset="0"/>
                <a:ea typeface="Google Sans"/>
                <a:cs typeface="Times New Roman" panose="02020603050405020304" pitchFamily="18" charset="0"/>
              </a:rPr>
              <a:t>response </a:t>
            </a:r>
            <a:r>
              <a:rPr sz="2000" b="0" i="0">
                <a:solidFill>
                  <a:srgbClr val="0A0A0A"/>
                </a:solidFill>
                <a:latin typeface="Times New Roman" panose="02020603050405020304" pitchFamily="18" charset="0"/>
                <a:ea typeface="Google Sans"/>
                <a:cs typeface="Times New Roman" panose="02020603050405020304" pitchFamily="18" charset="0"/>
              </a:rPr>
              <a:t>to an ad </a:t>
            </a:r>
            <a:r>
              <a:rPr lang="en-IN" sz="2000" b="0" i="0">
                <a:solidFill>
                  <a:srgbClr val="0A0A0A"/>
                </a:solidFill>
                <a:latin typeface="Times New Roman" panose="02020603050405020304" pitchFamily="18" charset="0"/>
                <a:ea typeface="Google Sans"/>
                <a:cs typeface="Times New Roman" panose="02020603050405020304" pitchFamily="18" charset="0"/>
              </a:rPr>
              <a:t>or offer.</a:t>
            </a:r>
            <a:endParaRPr sz="2000" b="0" i="0">
              <a:solidFill>
                <a:srgbClr val="0A0A0A"/>
              </a:solidFill>
              <a:latin typeface="Times New Roman" panose="02020603050405020304" pitchFamily="18" charset="0"/>
              <a:ea typeface="Google Sans"/>
              <a:cs typeface="Times New Roman" panose="02020603050405020304" pitchFamily="18" charset="0"/>
            </a:endParaRPr>
          </a:p>
          <a:p>
            <a:pPr marL="0" indent="0">
              <a:lnSpc>
                <a:spcPct val="150000"/>
              </a:lnSpc>
              <a:spcBef>
                <a:spcPct val="0"/>
              </a:spcBef>
              <a:spcAft>
                <a:spcPts val="700"/>
              </a:spcAft>
              <a:buFont typeface="Arial" panose="020B0604020202020204"/>
              <a:buChar char="•"/>
            </a:pPr>
            <a:r>
              <a:rPr lang="en-US" sz="2000" b="1" i="0">
                <a:solidFill>
                  <a:srgbClr val="0A0A0A"/>
                </a:solidFill>
                <a:latin typeface="Times New Roman" panose="02020603050405020304" pitchFamily="18" charset="0"/>
                <a:ea typeface="Google Sans"/>
                <a:cs typeface="Times New Roman" panose="02020603050405020304" pitchFamily="18" charset="0"/>
              </a:rPr>
              <a:t> </a:t>
            </a:r>
            <a:r>
              <a:rPr sz="2000" b="1" i="0">
                <a:solidFill>
                  <a:srgbClr val="0A0A0A"/>
                </a:solidFill>
                <a:latin typeface="Times New Roman" panose="02020603050405020304" pitchFamily="18" charset="0"/>
                <a:ea typeface="Google Sans"/>
                <a:cs typeface="Times New Roman" panose="02020603050405020304" pitchFamily="18" charset="0"/>
              </a:rPr>
              <a:t>Email:</a:t>
            </a:r>
            <a:r>
              <a:rPr sz="2000" b="0" i="0">
                <a:solidFill>
                  <a:srgbClr val="0A0A0A"/>
                </a:solidFill>
                <a:latin typeface="Times New Roman" panose="02020603050405020304" pitchFamily="18" charset="0"/>
                <a:ea typeface="Google Sans"/>
                <a:cs typeface="Times New Roman" panose="02020603050405020304" pitchFamily="18" charset="0"/>
              </a:rPr>
              <a:t> Filtering messages into "Spam" or "Inbox".</a:t>
            </a:r>
            <a:endParaRPr sz="2000" b="0" i="0">
              <a:solidFill>
                <a:srgbClr val="0A0A0A"/>
              </a:solidFill>
              <a:latin typeface="Times New Roman" panose="02020603050405020304" pitchFamily="18" charset="0"/>
              <a:ea typeface="Google Sans"/>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3"/>
          <p:cNvSpPr>
            <a:spLocks noGrp="1"/>
          </p:cNvSpPr>
          <p:nvPr>
            <p:ph type="ftr" sz="quarter" idx="11"/>
          </p:nvPr>
        </p:nvSpPr>
        <p:spPr>
          <a:xfrm>
            <a:off x="1905000" y="6400800"/>
            <a:ext cx="5486400" cy="365125"/>
          </a:xfrm>
        </p:spPr>
        <p:txBody>
          <a:bodyPr/>
          <a:lstStyle/>
          <a:p>
            <a:pPr>
              <a:defRPr/>
            </a:pPr>
            <a:r>
              <a:rPr lang="en-US" sz="1600" b="1" dirty="0" err="1" smtClean="0">
                <a:solidFill>
                  <a:srgbClr val="7030A0"/>
                </a:solidFill>
              </a:rPr>
              <a:t>Dr.K.Venkata</a:t>
            </a:r>
            <a:r>
              <a:rPr lang="en-US" sz="1600" b="1" dirty="0" smtClean="0">
                <a:solidFill>
                  <a:srgbClr val="7030A0"/>
                </a:solidFill>
              </a:rPr>
              <a:t> </a:t>
            </a:r>
            <a:r>
              <a:rPr lang="en-US" sz="1600" b="1" dirty="0" err="1" smtClean="0">
                <a:solidFill>
                  <a:srgbClr val="7030A0"/>
                </a:solidFill>
              </a:rPr>
              <a:t>Nagendra</a:t>
            </a:r>
            <a:r>
              <a:rPr lang="en-US" b="1" dirty="0" smtClean="0"/>
              <a:t>, </a:t>
            </a:r>
            <a:r>
              <a:rPr lang="en-US" b="1" dirty="0" err="1" smtClean="0">
                <a:solidFill>
                  <a:schemeClr val="tx1"/>
                </a:solidFill>
              </a:rPr>
              <a:t>M.Tech,Ph.D</a:t>
            </a:r>
            <a:r>
              <a:rPr lang="en-US" b="1" dirty="0" smtClean="0">
                <a:solidFill>
                  <a:schemeClr val="tx1"/>
                </a:solidFill>
              </a:rPr>
              <a:t>, PDF. Associate Professor, </a:t>
            </a:r>
            <a:r>
              <a:rPr lang="en-US" b="1" dirty="0" err="1" smtClean="0">
                <a:solidFill>
                  <a:schemeClr val="tx1"/>
                </a:solidFill>
              </a:rPr>
              <a:t>Dept</a:t>
            </a:r>
            <a:r>
              <a:rPr lang="en-US" b="1" dirty="0" smtClean="0">
                <a:solidFill>
                  <a:schemeClr val="tx1"/>
                </a:solidFill>
              </a:rPr>
              <a:t> of CSE.</a:t>
            </a:r>
            <a:endParaRPr lang="en-US" b="1" dirty="0">
              <a:solidFill>
                <a:schemeClr val="tx1"/>
              </a:solidFill>
            </a:endParaRPr>
          </a:p>
        </p:txBody>
      </p:sp>
      <p:pic>
        <p:nvPicPr>
          <p:cNvPr id="1030" name="Picture 6" descr="SRKR"/>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6377" y="228600"/>
            <a:ext cx="3429000" cy="838201"/>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p:cNvPicPr>
            <a:picLocks noChangeAspect="1"/>
          </p:cNvPicPr>
          <p:nvPr/>
        </p:nvPicPr>
        <p:blipFill>
          <a:blip r:embed="rId2"/>
          <a:stretch>
            <a:fillRect/>
          </a:stretch>
        </p:blipFill>
        <p:spPr>
          <a:xfrm>
            <a:off x="4038600" y="304800"/>
            <a:ext cx="4267200" cy="762001"/>
          </a:xfrm>
          <a:prstGeom prst="rect">
            <a:avLst/>
          </a:prstGeom>
        </p:spPr>
      </p:pic>
      <p:sp>
        <p:nvSpPr>
          <p:cNvPr id="4" name="Text Box 3"/>
          <p:cNvSpPr txBox="1"/>
          <p:nvPr/>
        </p:nvSpPr>
        <p:spPr>
          <a:xfrm>
            <a:off x="2133600" y="1371283"/>
            <a:ext cx="5080000" cy="582295"/>
          </a:xfrm>
          <a:prstGeom prst="rect">
            <a:avLst/>
          </a:prstGeom>
        </p:spPr>
        <p:txBody>
          <a:bodyPr>
            <a:spAutoFit/>
          </a:bodyPr>
          <a:p>
            <a:pPr algn="ctr" defTabSz="266700">
              <a:lnSpc>
                <a:spcPct val="114000"/>
              </a:lnSpc>
              <a:spcAft>
                <a:spcPts val="1000"/>
              </a:spcAft>
            </a:pPr>
            <a:r>
              <a:rPr sz="2800" b="1">
                <a:solidFill>
                  <a:srgbClr val="FF0000"/>
                </a:solidFill>
                <a:latin typeface="Times New Roman" panose="02020603050405020304"/>
                <a:ea typeface="SimSun" panose="02010600030101010101" pitchFamily="2" charset="-122"/>
              </a:rPr>
              <a:t>LOGISTIC REGRESSION</a:t>
            </a:r>
            <a:endParaRPr sz="2800" b="1">
              <a:solidFill>
                <a:srgbClr val="FF0000"/>
              </a:solidFill>
              <a:latin typeface="Times New Roman" panose="02020603050405020304"/>
              <a:ea typeface="SimSun" panose="02010600030101010101" pitchFamily="2" charset="-122"/>
            </a:endParaRPr>
          </a:p>
        </p:txBody>
      </p:sp>
      <p:sp>
        <p:nvSpPr>
          <p:cNvPr id="2" name="Text Box 1"/>
          <p:cNvSpPr txBox="1"/>
          <p:nvPr/>
        </p:nvSpPr>
        <p:spPr>
          <a:xfrm>
            <a:off x="533400" y="2133600"/>
            <a:ext cx="8016875" cy="2399665"/>
          </a:xfrm>
          <a:prstGeom prst="rect">
            <a:avLst/>
          </a:prstGeom>
        </p:spPr>
        <p:txBody>
          <a:bodyPr wrap="square">
            <a:spAutoFit/>
          </a:bodyPr>
          <a:p>
            <a:pPr defTabSz="266700">
              <a:lnSpc>
                <a:spcPct val="150000"/>
              </a:lnSpc>
              <a:spcBef>
                <a:spcPct val="0"/>
              </a:spcBef>
              <a:spcAft>
                <a:spcPct val="0"/>
              </a:spcAft>
            </a:pPr>
            <a:r>
              <a:rPr sz="2000" b="1">
                <a:latin typeface="Times New Roman" panose="02020603050405020304"/>
                <a:ea typeface="Times New Roman" panose="02020603050405020304"/>
              </a:rPr>
              <a:t>Advantages of the Logistic Regression Algorithm</a:t>
            </a:r>
            <a:endParaRPr sz="2000" b="1">
              <a:latin typeface="Times New Roman" panose="02020603050405020304"/>
              <a:ea typeface="Times New Roman" panose="02020603050405020304"/>
            </a:endParaRPr>
          </a:p>
          <a:p>
            <a:pPr marL="647700" indent="-228600" defTabSz="266700">
              <a:lnSpc>
                <a:spcPct val="150000"/>
              </a:lnSpc>
              <a:spcAft>
                <a:spcPct val="0"/>
              </a:spcAft>
              <a:buFont typeface="Symbol" panose="05050102010706020507"/>
              <a:buChar char=""/>
              <a:tabLst>
                <a:tab pos="457200" algn="l"/>
              </a:tabLst>
            </a:pPr>
            <a:r>
              <a:rPr sz="2000">
                <a:latin typeface="Times New Roman" panose="02020603050405020304"/>
                <a:ea typeface="SimSun" panose="02010600030101010101" pitchFamily="2" charset="-122"/>
              </a:rPr>
              <a:t>Logistic regression performs better when the data is linearly separable</a:t>
            </a:r>
            <a:endParaRPr sz="2000">
              <a:latin typeface="Times New Roman" panose="02020603050405020304"/>
              <a:ea typeface="SimSun" panose="02010600030101010101" pitchFamily="2" charset="-122"/>
            </a:endParaRPr>
          </a:p>
          <a:p>
            <a:pPr marL="647700" indent="-228600" defTabSz="266700">
              <a:lnSpc>
                <a:spcPct val="150000"/>
              </a:lnSpc>
              <a:spcAft>
                <a:spcPct val="0"/>
              </a:spcAft>
              <a:buFont typeface="Symbol" panose="05050102010706020507"/>
              <a:buChar char=""/>
              <a:tabLst>
                <a:tab pos="457200" algn="l"/>
              </a:tabLst>
            </a:pPr>
            <a:r>
              <a:rPr sz="2000">
                <a:latin typeface="Times New Roman" panose="02020603050405020304"/>
                <a:ea typeface="SimSun" panose="02010600030101010101" pitchFamily="2" charset="-122"/>
              </a:rPr>
              <a:t>It does not require too many computational resources as it’s highly interpretable</a:t>
            </a:r>
            <a:endParaRPr sz="2000">
              <a:latin typeface="Times New Roman" panose="02020603050405020304"/>
              <a:ea typeface="SimSun" panose="02010600030101010101" pitchFamily="2" charset="-122"/>
            </a:endParaRPr>
          </a:p>
          <a:p>
            <a:pPr marL="647700" indent="-228600" defTabSz="266700">
              <a:lnSpc>
                <a:spcPct val="150000"/>
              </a:lnSpc>
              <a:spcAft>
                <a:spcPct val="0"/>
              </a:spcAft>
              <a:buFont typeface="Symbol" panose="05050102010706020507"/>
              <a:buChar char=""/>
              <a:tabLst>
                <a:tab pos="457200" algn="l"/>
              </a:tabLst>
            </a:pPr>
            <a:r>
              <a:rPr sz="2000">
                <a:latin typeface="Times New Roman" panose="02020603050405020304"/>
                <a:ea typeface="SimSun" panose="02010600030101010101" pitchFamily="2" charset="-122"/>
              </a:rPr>
              <a:t>It is easy to implement and train a model using logistic regression</a:t>
            </a:r>
            <a:endParaRPr sz="2000">
              <a:latin typeface="Times New Roman" panose="02020603050405020304"/>
              <a:ea typeface="SimSun" panose="02010600030101010101" pitchFamily="2" charset="-122"/>
            </a:endParaRPr>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3"/>
          <p:cNvSpPr>
            <a:spLocks noGrp="1"/>
          </p:cNvSpPr>
          <p:nvPr>
            <p:ph type="ftr" sz="quarter" idx="11"/>
          </p:nvPr>
        </p:nvSpPr>
        <p:spPr>
          <a:xfrm>
            <a:off x="1905000" y="6400800"/>
            <a:ext cx="5486400" cy="365125"/>
          </a:xfrm>
        </p:spPr>
        <p:txBody>
          <a:bodyPr/>
          <a:lstStyle/>
          <a:p>
            <a:pPr>
              <a:defRPr/>
            </a:pPr>
            <a:r>
              <a:rPr lang="en-US" sz="1600" b="1" dirty="0" err="1" smtClean="0">
                <a:solidFill>
                  <a:srgbClr val="7030A0"/>
                </a:solidFill>
              </a:rPr>
              <a:t>Dr.K.Venkata</a:t>
            </a:r>
            <a:r>
              <a:rPr lang="en-US" sz="1600" b="1" dirty="0" smtClean="0">
                <a:solidFill>
                  <a:srgbClr val="7030A0"/>
                </a:solidFill>
              </a:rPr>
              <a:t> </a:t>
            </a:r>
            <a:r>
              <a:rPr lang="en-US" sz="1600" b="1" dirty="0" err="1" smtClean="0">
                <a:solidFill>
                  <a:srgbClr val="7030A0"/>
                </a:solidFill>
              </a:rPr>
              <a:t>Nagendra</a:t>
            </a:r>
            <a:r>
              <a:rPr lang="en-US" b="1" dirty="0" smtClean="0"/>
              <a:t>, </a:t>
            </a:r>
            <a:r>
              <a:rPr lang="en-US" b="1" dirty="0" err="1" smtClean="0">
                <a:solidFill>
                  <a:schemeClr val="tx1"/>
                </a:solidFill>
              </a:rPr>
              <a:t>M.Tech,Ph.D</a:t>
            </a:r>
            <a:r>
              <a:rPr lang="en-US" b="1" dirty="0" smtClean="0">
                <a:solidFill>
                  <a:schemeClr val="tx1"/>
                </a:solidFill>
              </a:rPr>
              <a:t>, PDF. Associate Professor, </a:t>
            </a:r>
            <a:r>
              <a:rPr lang="en-US" b="1" dirty="0" err="1" smtClean="0">
                <a:solidFill>
                  <a:schemeClr val="tx1"/>
                </a:solidFill>
              </a:rPr>
              <a:t>Dept</a:t>
            </a:r>
            <a:r>
              <a:rPr lang="en-US" b="1" dirty="0" smtClean="0">
                <a:solidFill>
                  <a:schemeClr val="tx1"/>
                </a:solidFill>
              </a:rPr>
              <a:t> of CSE.</a:t>
            </a:r>
            <a:endParaRPr lang="en-US" b="1" dirty="0">
              <a:solidFill>
                <a:schemeClr val="tx1"/>
              </a:solidFill>
            </a:endParaRPr>
          </a:p>
        </p:txBody>
      </p:sp>
      <p:pic>
        <p:nvPicPr>
          <p:cNvPr id="1030" name="Picture 6" descr="SRKR"/>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6377" y="228600"/>
            <a:ext cx="3429000" cy="838201"/>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p:cNvPicPr>
            <a:picLocks noChangeAspect="1"/>
          </p:cNvPicPr>
          <p:nvPr/>
        </p:nvPicPr>
        <p:blipFill>
          <a:blip r:embed="rId2"/>
          <a:stretch>
            <a:fillRect/>
          </a:stretch>
        </p:blipFill>
        <p:spPr>
          <a:xfrm>
            <a:off x="4038600" y="304800"/>
            <a:ext cx="4267200" cy="762001"/>
          </a:xfrm>
          <a:prstGeom prst="rect">
            <a:avLst/>
          </a:prstGeom>
        </p:spPr>
      </p:pic>
      <p:sp>
        <p:nvSpPr>
          <p:cNvPr id="4" name="Text Box 3"/>
          <p:cNvSpPr txBox="1"/>
          <p:nvPr/>
        </p:nvSpPr>
        <p:spPr>
          <a:xfrm>
            <a:off x="2133600" y="1371283"/>
            <a:ext cx="5080000" cy="582295"/>
          </a:xfrm>
          <a:prstGeom prst="rect">
            <a:avLst/>
          </a:prstGeom>
        </p:spPr>
        <p:txBody>
          <a:bodyPr>
            <a:spAutoFit/>
          </a:bodyPr>
          <a:p>
            <a:pPr algn="ctr" defTabSz="266700">
              <a:lnSpc>
                <a:spcPct val="114000"/>
              </a:lnSpc>
              <a:spcAft>
                <a:spcPts val="1000"/>
              </a:spcAft>
            </a:pPr>
            <a:r>
              <a:rPr sz="2800" b="1">
                <a:solidFill>
                  <a:srgbClr val="FF0000"/>
                </a:solidFill>
                <a:latin typeface="Times New Roman" panose="02020603050405020304"/>
                <a:ea typeface="SimSun" panose="02010600030101010101" pitchFamily="2" charset="-122"/>
              </a:rPr>
              <a:t>L</a:t>
            </a:r>
            <a:r>
              <a:rPr lang="en-IN" sz="2800" b="1">
                <a:solidFill>
                  <a:srgbClr val="FF0000"/>
                </a:solidFill>
                <a:latin typeface="Times New Roman" panose="02020603050405020304"/>
                <a:ea typeface="SimSun" panose="02010600030101010101" pitchFamily="2" charset="-122"/>
              </a:rPr>
              <a:t>INEAR</a:t>
            </a:r>
            <a:r>
              <a:rPr sz="2800" b="1">
                <a:solidFill>
                  <a:srgbClr val="FF0000"/>
                </a:solidFill>
                <a:latin typeface="Times New Roman" panose="02020603050405020304"/>
                <a:ea typeface="SimSun" panose="02010600030101010101" pitchFamily="2" charset="-122"/>
              </a:rPr>
              <a:t> REGRESSION</a:t>
            </a:r>
            <a:endParaRPr sz="2800" b="1">
              <a:solidFill>
                <a:srgbClr val="FF0000"/>
              </a:solidFill>
              <a:latin typeface="Times New Roman" panose="02020603050405020304"/>
              <a:ea typeface="SimSun" panose="02010600030101010101" pitchFamily="2" charset="-122"/>
            </a:endParaRPr>
          </a:p>
        </p:txBody>
      </p:sp>
      <p:sp>
        <p:nvSpPr>
          <p:cNvPr id="3" name="Text Box 2"/>
          <p:cNvSpPr txBox="1"/>
          <p:nvPr/>
        </p:nvSpPr>
        <p:spPr>
          <a:xfrm>
            <a:off x="417195" y="2198370"/>
            <a:ext cx="7986395" cy="2861310"/>
          </a:xfrm>
          <a:prstGeom prst="rect">
            <a:avLst/>
          </a:prstGeom>
        </p:spPr>
        <p:txBody>
          <a:bodyPr wrap="square">
            <a:spAutoFit/>
          </a:bodyPr>
          <a:p>
            <a:pPr algn="just">
              <a:lnSpc>
                <a:spcPct val="150000"/>
              </a:lnSpc>
            </a:pPr>
            <a:r>
              <a:rPr sz="2000">
                <a:latin typeface="Calibri" panose="020F0502020204030204" pitchFamily="34" charset="0"/>
                <a:cs typeface="Calibri" panose="020F0502020204030204" pitchFamily="34" charset="0"/>
              </a:rPr>
              <a:t>Linear regression is</a:t>
            </a:r>
            <a:r>
              <a:rPr lang="en-IN" sz="2000">
                <a:latin typeface="Calibri" panose="020F0502020204030204" pitchFamily="34" charset="0"/>
                <a:cs typeface="Calibri" panose="020F0502020204030204" pitchFamily="34" charset="0"/>
              </a:rPr>
              <a:t> </a:t>
            </a:r>
            <a:r>
              <a:rPr sz="2000">
                <a:latin typeface="Calibri" panose="020F0502020204030204" pitchFamily="34" charset="0"/>
                <a:cs typeface="Calibri" panose="020F0502020204030204" pitchFamily="34" charset="0"/>
              </a:rPr>
              <a:t> a fundamental </a:t>
            </a:r>
            <a:r>
              <a:rPr sz="2000" b="1">
                <a:latin typeface="Calibri" panose="020F0502020204030204" pitchFamily="34" charset="0"/>
                <a:cs typeface="Calibri" panose="020F0502020204030204" pitchFamily="34" charset="0"/>
              </a:rPr>
              <a:t>supervised machine learning</a:t>
            </a:r>
            <a:r>
              <a:rPr sz="2000">
                <a:latin typeface="Calibri" panose="020F0502020204030204" pitchFamily="34" charset="0"/>
                <a:cs typeface="Calibri" panose="020F0502020204030204" pitchFamily="34" charset="0"/>
              </a:rPr>
              <a:t> algorithm used to predict a </a:t>
            </a:r>
            <a:r>
              <a:rPr sz="2000" b="1">
                <a:latin typeface="Calibri" panose="020F0502020204030204" pitchFamily="34" charset="0"/>
                <a:cs typeface="Calibri" panose="020F0502020204030204" pitchFamily="34" charset="0"/>
              </a:rPr>
              <a:t>continuous numeric value</a:t>
            </a:r>
            <a:r>
              <a:rPr sz="2000">
                <a:latin typeface="Calibri" panose="020F0502020204030204" pitchFamily="34" charset="0"/>
                <a:cs typeface="Calibri" panose="020F0502020204030204" pitchFamily="34" charset="0"/>
              </a:rPr>
              <a:t> based on the relationship between variables</a:t>
            </a:r>
            <a:r>
              <a:rPr sz="2000" b="0" i="0">
                <a:solidFill>
                  <a:srgbClr val="0A0A0A"/>
                </a:solidFill>
                <a:latin typeface="Calibri" panose="020F0502020204030204" pitchFamily="34" charset="0"/>
                <a:ea typeface="Google Sans"/>
                <a:cs typeface="Calibri" panose="020F0502020204030204" pitchFamily="34" charset="0"/>
              </a:rPr>
              <a:t>. </a:t>
            </a:r>
            <a:endParaRPr sz="2000" b="0" i="0">
              <a:solidFill>
                <a:srgbClr val="0A0A0A"/>
              </a:solidFill>
              <a:latin typeface="Calibri" panose="020F0502020204030204" pitchFamily="34" charset="0"/>
              <a:ea typeface="Google Sans"/>
              <a:cs typeface="Calibri" panose="020F0502020204030204" pitchFamily="34" charset="0"/>
            </a:endParaRPr>
          </a:p>
          <a:p>
            <a:pPr indent="457200" algn="just">
              <a:lnSpc>
                <a:spcPct val="150000"/>
              </a:lnSpc>
            </a:pPr>
            <a:r>
              <a:rPr sz="2000" b="0" i="0">
                <a:solidFill>
                  <a:srgbClr val="0A0A0A"/>
                </a:solidFill>
                <a:latin typeface="Calibri" panose="020F0502020204030204" pitchFamily="34" charset="0"/>
                <a:ea typeface="Google Sans"/>
                <a:cs typeface="Calibri" panose="020F0502020204030204" pitchFamily="34" charset="0"/>
              </a:rPr>
              <a:t>While logistic regression deals with classification (Yes/No), linear regression answers "How much?" or "How many?" by fitting a </a:t>
            </a:r>
            <a:r>
              <a:rPr sz="2000" b="1" i="0">
                <a:solidFill>
                  <a:srgbClr val="0A0A0A"/>
                </a:solidFill>
                <a:latin typeface="Calibri" panose="020F0502020204030204" pitchFamily="34" charset="0"/>
                <a:ea typeface="Google Sans"/>
                <a:cs typeface="Calibri" panose="020F0502020204030204" pitchFamily="34" charset="0"/>
              </a:rPr>
              <a:t>straight line</a:t>
            </a:r>
            <a:r>
              <a:rPr sz="2000" b="0" i="0">
                <a:solidFill>
                  <a:srgbClr val="0A0A0A"/>
                </a:solidFill>
                <a:latin typeface="Calibri" panose="020F0502020204030204" pitchFamily="34" charset="0"/>
                <a:ea typeface="Google Sans"/>
                <a:cs typeface="Calibri" panose="020F0502020204030204" pitchFamily="34" charset="0"/>
              </a:rPr>
              <a:t> (the "best-fit line") through data points.</a:t>
            </a:r>
            <a:endParaRPr sz="2000" b="0" i="0">
              <a:solidFill>
                <a:srgbClr val="0A0A0A"/>
              </a:solidFill>
              <a:latin typeface="Calibri" panose="020F0502020204030204" pitchFamily="34" charset="0"/>
              <a:ea typeface="Google Sans"/>
              <a:cs typeface="Calibri" panose="020F0502020204030204" pitchFamily="34" charset="0"/>
            </a:endParaRPr>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3"/>
          <p:cNvSpPr>
            <a:spLocks noGrp="1"/>
          </p:cNvSpPr>
          <p:nvPr>
            <p:ph type="ftr" sz="quarter" idx="11"/>
          </p:nvPr>
        </p:nvSpPr>
        <p:spPr>
          <a:xfrm>
            <a:off x="1905000" y="6400800"/>
            <a:ext cx="5486400" cy="365125"/>
          </a:xfrm>
        </p:spPr>
        <p:txBody>
          <a:bodyPr/>
          <a:lstStyle/>
          <a:p>
            <a:pPr>
              <a:defRPr/>
            </a:pPr>
            <a:r>
              <a:rPr lang="en-US" sz="1600" b="1" dirty="0" err="1" smtClean="0">
                <a:solidFill>
                  <a:srgbClr val="7030A0"/>
                </a:solidFill>
              </a:rPr>
              <a:t>Dr.K.Venkata</a:t>
            </a:r>
            <a:r>
              <a:rPr lang="en-US" sz="1600" b="1" dirty="0" smtClean="0">
                <a:solidFill>
                  <a:srgbClr val="7030A0"/>
                </a:solidFill>
              </a:rPr>
              <a:t> </a:t>
            </a:r>
            <a:r>
              <a:rPr lang="en-US" sz="1600" b="1" dirty="0" err="1" smtClean="0">
                <a:solidFill>
                  <a:srgbClr val="7030A0"/>
                </a:solidFill>
              </a:rPr>
              <a:t>Nagendra</a:t>
            </a:r>
            <a:r>
              <a:rPr lang="en-US" b="1" dirty="0" smtClean="0"/>
              <a:t>, </a:t>
            </a:r>
            <a:r>
              <a:rPr lang="en-US" b="1" dirty="0" err="1" smtClean="0">
                <a:solidFill>
                  <a:schemeClr val="tx1"/>
                </a:solidFill>
              </a:rPr>
              <a:t>M.Tech,Ph.D</a:t>
            </a:r>
            <a:r>
              <a:rPr lang="en-US" b="1" dirty="0" smtClean="0">
                <a:solidFill>
                  <a:schemeClr val="tx1"/>
                </a:solidFill>
              </a:rPr>
              <a:t>, PDF. Associate Professor, </a:t>
            </a:r>
            <a:r>
              <a:rPr lang="en-US" b="1" dirty="0" err="1" smtClean="0">
                <a:solidFill>
                  <a:schemeClr val="tx1"/>
                </a:solidFill>
              </a:rPr>
              <a:t>Dept</a:t>
            </a:r>
            <a:r>
              <a:rPr lang="en-US" b="1" dirty="0" smtClean="0">
                <a:solidFill>
                  <a:schemeClr val="tx1"/>
                </a:solidFill>
              </a:rPr>
              <a:t> of CSE.</a:t>
            </a:r>
            <a:endParaRPr lang="en-US" b="1" dirty="0">
              <a:solidFill>
                <a:schemeClr val="tx1"/>
              </a:solidFill>
            </a:endParaRPr>
          </a:p>
        </p:txBody>
      </p:sp>
      <p:pic>
        <p:nvPicPr>
          <p:cNvPr id="1030" name="Picture 6" descr="SRKR"/>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6377" y="228600"/>
            <a:ext cx="3429000" cy="838201"/>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p:cNvPicPr>
            <a:picLocks noChangeAspect="1"/>
          </p:cNvPicPr>
          <p:nvPr/>
        </p:nvPicPr>
        <p:blipFill>
          <a:blip r:embed="rId2"/>
          <a:stretch>
            <a:fillRect/>
          </a:stretch>
        </p:blipFill>
        <p:spPr>
          <a:xfrm>
            <a:off x="4038600" y="304800"/>
            <a:ext cx="4267200" cy="762001"/>
          </a:xfrm>
          <a:prstGeom prst="rect">
            <a:avLst/>
          </a:prstGeom>
        </p:spPr>
      </p:pic>
      <p:sp>
        <p:nvSpPr>
          <p:cNvPr id="4" name="Text Box 3"/>
          <p:cNvSpPr txBox="1"/>
          <p:nvPr/>
        </p:nvSpPr>
        <p:spPr>
          <a:xfrm>
            <a:off x="2133600" y="1371283"/>
            <a:ext cx="5080000" cy="582295"/>
          </a:xfrm>
          <a:prstGeom prst="rect">
            <a:avLst/>
          </a:prstGeom>
        </p:spPr>
        <p:txBody>
          <a:bodyPr>
            <a:spAutoFit/>
          </a:bodyPr>
          <a:p>
            <a:pPr algn="ctr" defTabSz="266700">
              <a:lnSpc>
                <a:spcPct val="114000"/>
              </a:lnSpc>
              <a:spcAft>
                <a:spcPts val="1000"/>
              </a:spcAft>
            </a:pPr>
            <a:r>
              <a:rPr sz="2800" b="1">
                <a:solidFill>
                  <a:srgbClr val="FF0000"/>
                </a:solidFill>
                <a:latin typeface="Times New Roman" panose="02020603050405020304"/>
                <a:ea typeface="SimSun" panose="02010600030101010101" pitchFamily="2" charset="-122"/>
              </a:rPr>
              <a:t>L</a:t>
            </a:r>
            <a:r>
              <a:rPr lang="en-IN" sz="2800" b="1">
                <a:solidFill>
                  <a:srgbClr val="FF0000"/>
                </a:solidFill>
                <a:latin typeface="Times New Roman" panose="02020603050405020304"/>
                <a:ea typeface="SimSun" panose="02010600030101010101" pitchFamily="2" charset="-122"/>
              </a:rPr>
              <a:t>INEAR</a:t>
            </a:r>
            <a:r>
              <a:rPr sz="2800" b="1">
                <a:solidFill>
                  <a:srgbClr val="FF0000"/>
                </a:solidFill>
                <a:latin typeface="Times New Roman" panose="02020603050405020304"/>
                <a:ea typeface="SimSun" panose="02010600030101010101" pitchFamily="2" charset="-122"/>
              </a:rPr>
              <a:t> REGRESSION</a:t>
            </a:r>
            <a:endParaRPr sz="2800" b="1">
              <a:solidFill>
                <a:srgbClr val="FF0000"/>
              </a:solidFill>
              <a:latin typeface="Times New Roman" panose="02020603050405020304"/>
              <a:ea typeface="SimSun" panose="02010600030101010101" pitchFamily="2" charset="-122"/>
            </a:endParaRPr>
          </a:p>
        </p:txBody>
      </p:sp>
      <p:graphicFrame>
        <p:nvGraphicFramePr>
          <p:cNvPr id="26" name="Object 25"/>
          <p:cNvGraphicFramePr/>
          <p:nvPr/>
        </p:nvGraphicFramePr>
        <p:xfrm>
          <a:off x="335280" y="2048510"/>
          <a:ext cx="8389620" cy="4148455"/>
        </p:xfrm>
        <a:graphic>
          <a:graphicData uri="http://schemas.openxmlformats.org/presentationml/2006/ole">
            <mc:AlternateContent xmlns:mc="http://schemas.openxmlformats.org/markup-compatibility/2006">
              <mc:Choice xmlns:v="urn:schemas-microsoft-com:vml" Requires="v">
                <p:oleObj spid="_x0000_s27" name="" r:id="rId3" imgW="5067300" imgH="2758440" progId="Paint.Picture">
                  <p:embed/>
                </p:oleObj>
              </mc:Choice>
              <mc:Fallback>
                <p:oleObj name="" r:id="rId3" imgW="5067300" imgH="2758440" progId="Paint.Picture">
                  <p:embed/>
                  <p:pic>
                    <p:nvPicPr>
                      <p:cNvPr id="0" name="Picture 26"/>
                      <p:cNvPicPr/>
                      <p:nvPr/>
                    </p:nvPicPr>
                    <p:blipFill>
                      <a:blip r:embed="rId4"/>
                      <a:stretch>
                        <a:fillRect/>
                      </a:stretch>
                    </p:blipFill>
                    <p:spPr>
                      <a:xfrm>
                        <a:off x="335280" y="2048510"/>
                        <a:ext cx="8389620" cy="4148455"/>
                      </a:xfrm>
                      <a:prstGeom prst="rect">
                        <a:avLst/>
                      </a:prstGeom>
                    </p:spPr>
                  </p:pic>
                </p:oleObj>
              </mc:Fallback>
            </mc:AlternateContent>
          </a:graphicData>
        </a:graphic>
      </p:graphicFrame>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3"/>
          <p:cNvSpPr>
            <a:spLocks noGrp="1"/>
          </p:cNvSpPr>
          <p:nvPr>
            <p:ph type="ftr" sz="quarter" idx="11"/>
          </p:nvPr>
        </p:nvSpPr>
        <p:spPr>
          <a:xfrm>
            <a:off x="1905000" y="6400800"/>
            <a:ext cx="5486400" cy="365125"/>
          </a:xfrm>
        </p:spPr>
        <p:txBody>
          <a:bodyPr/>
          <a:lstStyle/>
          <a:p>
            <a:pPr>
              <a:defRPr/>
            </a:pPr>
            <a:r>
              <a:rPr lang="en-US" sz="1600" b="1" dirty="0" err="1" smtClean="0">
                <a:solidFill>
                  <a:srgbClr val="7030A0"/>
                </a:solidFill>
              </a:rPr>
              <a:t>Dr.K.Venkata</a:t>
            </a:r>
            <a:r>
              <a:rPr lang="en-US" sz="1600" b="1" dirty="0" smtClean="0">
                <a:solidFill>
                  <a:srgbClr val="7030A0"/>
                </a:solidFill>
              </a:rPr>
              <a:t> </a:t>
            </a:r>
            <a:r>
              <a:rPr lang="en-US" sz="1600" b="1" dirty="0" err="1" smtClean="0">
                <a:solidFill>
                  <a:srgbClr val="7030A0"/>
                </a:solidFill>
              </a:rPr>
              <a:t>Nagendra</a:t>
            </a:r>
            <a:r>
              <a:rPr lang="en-US" b="1" dirty="0" smtClean="0"/>
              <a:t>, </a:t>
            </a:r>
            <a:r>
              <a:rPr lang="en-US" b="1" dirty="0" err="1" smtClean="0">
                <a:solidFill>
                  <a:schemeClr val="tx1"/>
                </a:solidFill>
              </a:rPr>
              <a:t>M.Tech,Ph.D</a:t>
            </a:r>
            <a:r>
              <a:rPr lang="en-US" b="1" dirty="0" smtClean="0">
                <a:solidFill>
                  <a:schemeClr val="tx1"/>
                </a:solidFill>
              </a:rPr>
              <a:t>, PDF. Associate Professor, </a:t>
            </a:r>
            <a:r>
              <a:rPr lang="en-US" b="1" dirty="0" err="1" smtClean="0">
                <a:solidFill>
                  <a:schemeClr val="tx1"/>
                </a:solidFill>
              </a:rPr>
              <a:t>Dept</a:t>
            </a:r>
            <a:r>
              <a:rPr lang="en-US" b="1" dirty="0" smtClean="0">
                <a:solidFill>
                  <a:schemeClr val="tx1"/>
                </a:solidFill>
              </a:rPr>
              <a:t> of CSE.</a:t>
            </a:r>
            <a:endParaRPr lang="en-US" b="1" dirty="0">
              <a:solidFill>
                <a:schemeClr val="tx1"/>
              </a:solidFill>
            </a:endParaRPr>
          </a:p>
        </p:txBody>
      </p:sp>
      <p:pic>
        <p:nvPicPr>
          <p:cNvPr id="1030" name="Picture 6" descr="SRKR"/>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6377" y="228600"/>
            <a:ext cx="3429000" cy="838201"/>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p:cNvPicPr>
            <a:picLocks noChangeAspect="1"/>
          </p:cNvPicPr>
          <p:nvPr/>
        </p:nvPicPr>
        <p:blipFill>
          <a:blip r:embed="rId2"/>
          <a:stretch>
            <a:fillRect/>
          </a:stretch>
        </p:blipFill>
        <p:spPr>
          <a:xfrm>
            <a:off x="4038600" y="304800"/>
            <a:ext cx="4267200" cy="762001"/>
          </a:xfrm>
          <a:prstGeom prst="rect">
            <a:avLst/>
          </a:prstGeom>
        </p:spPr>
      </p:pic>
      <p:pic>
        <p:nvPicPr>
          <p:cNvPr id="6" name="Picture 5"/>
          <p:cNvPicPr>
            <a:picLocks noChangeAspect="1"/>
          </p:cNvPicPr>
          <p:nvPr/>
        </p:nvPicPr>
        <p:blipFill>
          <a:blip r:embed="rId3"/>
          <a:stretch>
            <a:fillRect/>
          </a:stretch>
        </p:blipFill>
        <p:spPr>
          <a:xfrm>
            <a:off x="762000" y="1219200"/>
            <a:ext cx="6028690" cy="4057015"/>
          </a:xfrm>
          <a:prstGeom prst="rect">
            <a:avLst/>
          </a:prstGeom>
        </p:spPr>
      </p:pic>
      <p:sp>
        <p:nvSpPr>
          <p:cNvPr id="7" name="Text Box 6"/>
          <p:cNvSpPr txBox="1"/>
          <p:nvPr/>
        </p:nvSpPr>
        <p:spPr>
          <a:xfrm>
            <a:off x="662940" y="5410200"/>
            <a:ext cx="8081645" cy="583565"/>
          </a:xfrm>
          <a:prstGeom prst="rect">
            <a:avLst/>
          </a:prstGeom>
        </p:spPr>
        <p:txBody>
          <a:bodyPr wrap="square">
            <a:spAutoFit/>
          </a:bodyPr>
          <a:p>
            <a:pPr marL="0" indent="0"/>
            <a:r>
              <a:rPr sz="1600" b="0" i="0">
                <a:solidFill>
                  <a:srgbClr val="000000"/>
                </a:solidFill>
                <a:latin typeface="Verdana" panose="020B0604030504040204"/>
                <a:ea typeface="Verdana" panose="020B0604030504040204"/>
              </a:rPr>
              <a:t>A regression line is said to be the best fit if the error between actual and predicted values is minimal.</a:t>
            </a:r>
            <a:endParaRPr sz="1600" b="0" i="0">
              <a:solidFill>
                <a:srgbClr val="000000"/>
              </a:solidFill>
              <a:latin typeface="Verdana" panose="020B0604030504040204"/>
              <a:ea typeface="Verdana" panose="020B0604030504040204"/>
            </a:endParaRPr>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3"/>
          <p:cNvSpPr>
            <a:spLocks noGrp="1"/>
          </p:cNvSpPr>
          <p:nvPr>
            <p:ph type="ftr" sz="quarter" idx="11"/>
          </p:nvPr>
        </p:nvSpPr>
        <p:spPr>
          <a:xfrm>
            <a:off x="1905000" y="6400800"/>
            <a:ext cx="5486400" cy="365125"/>
          </a:xfrm>
        </p:spPr>
        <p:txBody>
          <a:bodyPr/>
          <a:lstStyle/>
          <a:p>
            <a:pPr>
              <a:defRPr/>
            </a:pPr>
            <a:r>
              <a:rPr lang="en-US" sz="1600" b="1" dirty="0" err="1" smtClean="0">
                <a:solidFill>
                  <a:srgbClr val="7030A0"/>
                </a:solidFill>
              </a:rPr>
              <a:t>Dr.K.Venkata</a:t>
            </a:r>
            <a:r>
              <a:rPr lang="en-US" sz="1600" b="1" dirty="0" smtClean="0">
                <a:solidFill>
                  <a:srgbClr val="7030A0"/>
                </a:solidFill>
              </a:rPr>
              <a:t> </a:t>
            </a:r>
            <a:r>
              <a:rPr lang="en-US" sz="1600" b="1" dirty="0" err="1" smtClean="0">
                <a:solidFill>
                  <a:srgbClr val="7030A0"/>
                </a:solidFill>
              </a:rPr>
              <a:t>Nagendra</a:t>
            </a:r>
            <a:r>
              <a:rPr lang="en-US" b="1" dirty="0" smtClean="0"/>
              <a:t>, </a:t>
            </a:r>
            <a:r>
              <a:rPr lang="en-US" b="1" dirty="0" err="1" smtClean="0">
                <a:solidFill>
                  <a:schemeClr val="tx1"/>
                </a:solidFill>
              </a:rPr>
              <a:t>M.Tech,Ph.D</a:t>
            </a:r>
            <a:r>
              <a:rPr lang="en-US" b="1" dirty="0" smtClean="0">
                <a:solidFill>
                  <a:schemeClr val="tx1"/>
                </a:solidFill>
              </a:rPr>
              <a:t>, PDF. Associate Professor, </a:t>
            </a:r>
            <a:r>
              <a:rPr lang="en-US" b="1" dirty="0" err="1" smtClean="0">
                <a:solidFill>
                  <a:schemeClr val="tx1"/>
                </a:solidFill>
              </a:rPr>
              <a:t>Dept</a:t>
            </a:r>
            <a:r>
              <a:rPr lang="en-US" b="1" dirty="0" smtClean="0">
                <a:solidFill>
                  <a:schemeClr val="tx1"/>
                </a:solidFill>
              </a:rPr>
              <a:t> of CSE.</a:t>
            </a:r>
            <a:endParaRPr lang="en-US" b="1" dirty="0">
              <a:solidFill>
                <a:schemeClr val="tx1"/>
              </a:solidFill>
            </a:endParaRPr>
          </a:p>
        </p:txBody>
      </p:sp>
      <p:pic>
        <p:nvPicPr>
          <p:cNvPr id="1030" name="Picture 6" descr="SRKR"/>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6377" y="228600"/>
            <a:ext cx="3429000" cy="838201"/>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p:cNvPicPr>
            <a:picLocks noChangeAspect="1"/>
          </p:cNvPicPr>
          <p:nvPr/>
        </p:nvPicPr>
        <p:blipFill>
          <a:blip r:embed="rId2"/>
          <a:stretch>
            <a:fillRect/>
          </a:stretch>
        </p:blipFill>
        <p:spPr>
          <a:xfrm>
            <a:off x="4038600" y="304800"/>
            <a:ext cx="4267200" cy="762001"/>
          </a:xfrm>
          <a:prstGeom prst="rect">
            <a:avLst/>
          </a:prstGeom>
        </p:spPr>
      </p:pic>
      <p:sp>
        <p:nvSpPr>
          <p:cNvPr id="2" name="Text Box 1"/>
          <p:cNvSpPr txBox="1"/>
          <p:nvPr/>
        </p:nvSpPr>
        <p:spPr>
          <a:xfrm>
            <a:off x="304800" y="1475740"/>
            <a:ext cx="8716010" cy="4238625"/>
          </a:xfrm>
          <a:prstGeom prst="rect">
            <a:avLst/>
          </a:prstGeom>
        </p:spPr>
        <p:txBody>
          <a:bodyPr wrap="square">
            <a:spAutoFit/>
          </a:bodyPr>
          <a:p>
            <a:pPr marL="0" indent="0">
              <a:lnSpc>
                <a:spcPct val="150000"/>
              </a:lnSpc>
            </a:pPr>
            <a:r>
              <a:rPr sz="2800" b="1" i="0">
                <a:solidFill>
                  <a:srgbClr val="FF0000"/>
                </a:solidFill>
                <a:latin typeface="Calibri" panose="020F0502020204030204" pitchFamily="34" charset="0"/>
                <a:ea typeface="Google Sans"/>
                <a:cs typeface="Calibri" panose="020F0502020204030204" pitchFamily="34" charset="0"/>
              </a:rPr>
              <a:t>Common Use Cases</a:t>
            </a:r>
            <a:endParaRPr sz="2800" b="1" i="0">
              <a:solidFill>
                <a:srgbClr val="FF0000"/>
              </a:solidFill>
              <a:latin typeface="Calibri" panose="020F0502020204030204" pitchFamily="34" charset="0"/>
              <a:ea typeface="Google Sans"/>
              <a:cs typeface="Calibri" panose="020F0502020204030204" pitchFamily="34" charset="0"/>
            </a:endParaRPr>
          </a:p>
          <a:p>
            <a:pPr marL="0" indent="0">
              <a:lnSpc>
                <a:spcPct val="150000"/>
              </a:lnSpc>
              <a:spcBef>
                <a:spcPct val="0"/>
              </a:spcBef>
              <a:spcAft>
                <a:spcPts val="700"/>
              </a:spcAft>
              <a:buFont typeface="Arial" panose="020B0604020202020204"/>
              <a:buChar char="•"/>
            </a:pPr>
            <a:r>
              <a:rPr sz="2000" b="1" i="0">
                <a:solidFill>
                  <a:srgbClr val="0A0A0A"/>
                </a:solidFill>
                <a:latin typeface="Calibri" panose="020F0502020204030204" pitchFamily="34" charset="0"/>
                <a:ea typeface="Google Sans"/>
                <a:cs typeface="Calibri" panose="020F0502020204030204" pitchFamily="34" charset="0"/>
              </a:rPr>
              <a:t>Real Estate:</a:t>
            </a:r>
            <a:r>
              <a:rPr sz="2000" b="0" i="0">
                <a:solidFill>
                  <a:srgbClr val="0A0A0A"/>
                </a:solidFill>
                <a:latin typeface="Calibri" panose="020F0502020204030204" pitchFamily="34" charset="0"/>
                <a:ea typeface="Google Sans"/>
                <a:cs typeface="Calibri" panose="020F0502020204030204" pitchFamily="34" charset="0"/>
              </a:rPr>
              <a:t> Estimating property values based on square footage and amenities.</a:t>
            </a:r>
            <a:endParaRPr sz="2000" b="0" i="0">
              <a:solidFill>
                <a:srgbClr val="0A0A0A"/>
              </a:solidFill>
              <a:latin typeface="Calibri" panose="020F0502020204030204" pitchFamily="34" charset="0"/>
              <a:ea typeface="Google Sans"/>
              <a:cs typeface="Calibri" panose="020F0502020204030204" pitchFamily="34" charset="0"/>
            </a:endParaRPr>
          </a:p>
          <a:p>
            <a:pPr marL="0" indent="0">
              <a:lnSpc>
                <a:spcPct val="150000"/>
              </a:lnSpc>
              <a:spcBef>
                <a:spcPct val="0"/>
              </a:spcBef>
              <a:spcAft>
                <a:spcPts val="700"/>
              </a:spcAft>
              <a:buFont typeface="Arial" panose="020B0604020202020204"/>
              <a:buChar char="•"/>
            </a:pPr>
            <a:r>
              <a:rPr sz="2000" b="1" i="0">
                <a:solidFill>
                  <a:srgbClr val="0A0A0A"/>
                </a:solidFill>
                <a:latin typeface="Calibri" panose="020F0502020204030204" pitchFamily="34" charset="0"/>
                <a:ea typeface="Google Sans"/>
                <a:cs typeface="Calibri" panose="020F0502020204030204" pitchFamily="34" charset="0"/>
              </a:rPr>
              <a:t>Business:</a:t>
            </a:r>
            <a:r>
              <a:rPr sz="2000" b="0" i="0">
                <a:solidFill>
                  <a:srgbClr val="0A0A0A"/>
                </a:solidFill>
                <a:latin typeface="Calibri" panose="020F0502020204030204" pitchFamily="34" charset="0"/>
                <a:ea typeface="Google Sans"/>
                <a:cs typeface="Calibri" panose="020F0502020204030204" pitchFamily="34" charset="0"/>
              </a:rPr>
              <a:t> Forecasting future sales revenue based on advertising spend or seasonal trends.</a:t>
            </a:r>
            <a:endParaRPr sz="2000" b="0" i="0">
              <a:solidFill>
                <a:srgbClr val="0A0A0A"/>
              </a:solidFill>
              <a:latin typeface="Calibri" panose="020F0502020204030204" pitchFamily="34" charset="0"/>
              <a:ea typeface="Google Sans"/>
              <a:cs typeface="Calibri" panose="020F0502020204030204" pitchFamily="34" charset="0"/>
            </a:endParaRPr>
          </a:p>
          <a:p>
            <a:pPr marL="0" indent="0">
              <a:lnSpc>
                <a:spcPct val="150000"/>
              </a:lnSpc>
              <a:spcBef>
                <a:spcPct val="0"/>
              </a:spcBef>
              <a:spcAft>
                <a:spcPts val="700"/>
              </a:spcAft>
              <a:buFont typeface="Arial" panose="020B0604020202020204"/>
              <a:buChar char="•"/>
            </a:pPr>
            <a:r>
              <a:rPr sz="2000" b="1" i="0">
                <a:solidFill>
                  <a:srgbClr val="0A0A0A"/>
                </a:solidFill>
                <a:latin typeface="Calibri" panose="020F0502020204030204" pitchFamily="34" charset="0"/>
                <a:ea typeface="Google Sans"/>
                <a:cs typeface="Calibri" panose="020F0502020204030204" pitchFamily="34" charset="0"/>
              </a:rPr>
              <a:t>Economics:</a:t>
            </a:r>
            <a:r>
              <a:rPr sz="2000" b="0" i="0">
                <a:solidFill>
                  <a:srgbClr val="0A0A0A"/>
                </a:solidFill>
                <a:latin typeface="Calibri" panose="020F0502020204030204" pitchFamily="34" charset="0"/>
                <a:ea typeface="Google Sans"/>
                <a:cs typeface="Calibri" panose="020F0502020204030204" pitchFamily="34" charset="0"/>
              </a:rPr>
              <a:t> Analyzing how changes in pricing impact consumer demand (price elasticity).</a:t>
            </a:r>
            <a:endParaRPr sz="2000" b="0" i="0">
              <a:solidFill>
                <a:srgbClr val="0A0A0A"/>
              </a:solidFill>
              <a:latin typeface="Calibri" panose="020F0502020204030204" pitchFamily="34" charset="0"/>
              <a:ea typeface="Google Sans"/>
              <a:cs typeface="Calibri" panose="020F0502020204030204" pitchFamily="34" charset="0"/>
            </a:endParaRPr>
          </a:p>
          <a:p>
            <a:pPr marL="0" indent="0">
              <a:lnSpc>
                <a:spcPct val="150000"/>
              </a:lnSpc>
              <a:spcBef>
                <a:spcPct val="0"/>
              </a:spcBef>
              <a:spcAft>
                <a:spcPts val="700"/>
              </a:spcAft>
              <a:buFont typeface="Arial" panose="020B0604020202020204"/>
              <a:buChar char="•"/>
            </a:pPr>
            <a:r>
              <a:rPr sz="2000" b="1" i="0">
                <a:solidFill>
                  <a:srgbClr val="0A0A0A"/>
                </a:solidFill>
                <a:latin typeface="Calibri" panose="020F0502020204030204" pitchFamily="34" charset="0"/>
                <a:ea typeface="Google Sans"/>
                <a:cs typeface="Calibri" panose="020F0502020204030204" pitchFamily="34" charset="0"/>
              </a:rPr>
              <a:t>Healthcare:</a:t>
            </a:r>
            <a:r>
              <a:rPr sz="2000" b="0" i="0">
                <a:solidFill>
                  <a:srgbClr val="0A0A0A"/>
                </a:solidFill>
                <a:latin typeface="Calibri" panose="020F0502020204030204" pitchFamily="34" charset="0"/>
                <a:ea typeface="Google Sans"/>
                <a:cs typeface="Calibri" panose="020F0502020204030204" pitchFamily="34" charset="0"/>
              </a:rPr>
              <a:t> Predicting patient recovery times based on age and pre-existing conditions</a:t>
            </a:r>
            <a:endParaRPr sz="2000" b="0" i="0">
              <a:solidFill>
                <a:srgbClr val="0A0A0A"/>
              </a:solidFill>
              <a:latin typeface="Calibri" panose="020F0502020204030204" pitchFamily="34" charset="0"/>
              <a:ea typeface="Google Sans"/>
              <a:cs typeface="Calibri" panose="020F0502020204030204" pitchFamily="34" charset="0"/>
            </a:endParaRPr>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3"/>
          <p:cNvSpPr>
            <a:spLocks noGrp="1"/>
          </p:cNvSpPr>
          <p:nvPr>
            <p:ph type="ftr" sz="quarter" idx="11"/>
          </p:nvPr>
        </p:nvSpPr>
        <p:spPr>
          <a:xfrm>
            <a:off x="1905000" y="6400800"/>
            <a:ext cx="5486400" cy="365125"/>
          </a:xfrm>
        </p:spPr>
        <p:txBody>
          <a:bodyPr/>
          <a:lstStyle/>
          <a:p>
            <a:pPr>
              <a:defRPr/>
            </a:pPr>
            <a:r>
              <a:rPr lang="en-US" sz="1600" b="1" dirty="0" err="1" smtClean="0">
                <a:solidFill>
                  <a:srgbClr val="7030A0"/>
                </a:solidFill>
              </a:rPr>
              <a:t>Dr.K.Venkata</a:t>
            </a:r>
            <a:r>
              <a:rPr lang="en-US" sz="1600" b="1" dirty="0" smtClean="0">
                <a:solidFill>
                  <a:srgbClr val="7030A0"/>
                </a:solidFill>
              </a:rPr>
              <a:t> </a:t>
            </a:r>
            <a:r>
              <a:rPr lang="en-US" sz="1600" b="1" dirty="0" err="1" smtClean="0">
                <a:solidFill>
                  <a:srgbClr val="7030A0"/>
                </a:solidFill>
              </a:rPr>
              <a:t>Nagendra</a:t>
            </a:r>
            <a:r>
              <a:rPr lang="en-US" b="1" dirty="0" smtClean="0"/>
              <a:t>, </a:t>
            </a:r>
            <a:r>
              <a:rPr lang="en-US" b="1" dirty="0" err="1" smtClean="0">
                <a:solidFill>
                  <a:schemeClr val="tx1"/>
                </a:solidFill>
              </a:rPr>
              <a:t>M.Tech,Ph.D</a:t>
            </a:r>
            <a:r>
              <a:rPr lang="en-US" b="1" dirty="0" smtClean="0">
                <a:solidFill>
                  <a:schemeClr val="tx1"/>
                </a:solidFill>
              </a:rPr>
              <a:t>, PDF. Associate Professor, </a:t>
            </a:r>
            <a:r>
              <a:rPr lang="en-US" b="1" dirty="0" err="1" smtClean="0">
                <a:solidFill>
                  <a:schemeClr val="tx1"/>
                </a:solidFill>
              </a:rPr>
              <a:t>Dept</a:t>
            </a:r>
            <a:r>
              <a:rPr lang="en-US" b="1" dirty="0" smtClean="0">
                <a:solidFill>
                  <a:schemeClr val="tx1"/>
                </a:solidFill>
              </a:rPr>
              <a:t> of CSE.</a:t>
            </a:r>
            <a:endParaRPr lang="en-US" b="1" dirty="0">
              <a:solidFill>
                <a:schemeClr val="tx1"/>
              </a:solidFill>
            </a:endParaRPr>
          </a:p>
        </p:txBody>
      </p:sp>
      <p:pic>
        <p:nvPicPr>
          <p:cNvPr id="1030" name="Picture 6" descr="SRKR"/>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6377" y="228600"/>
            <a:ext cx="3429000" cy="838201"/>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p:cNvPicPr>
            <a:picLocks noChangeAspect="1"/>
          </p:cNvPicPr>
          <p:nvPr/>
        </p:nvPicPr>
        <p:blipFill>
          <a:blip r:embed="rId2"/>
          <a:stretch>
            <a:fillRect/>
          </a:stretch>
        </p:blipFill>
        <p:spPr>
          <a:xfrm>
            <a:off x="4038600" y="304800"/>
            <a:ext cx="4267200" cy="762001"/>
          </a:xfrm>
          <a:prstGeom prst="rect">
            <a:avLst/>
          </a:prstGeom>
        </p:spPr>
      </p:pic>
      <p:sp>
        <p:nvSpPr>
          <p:cNvPr id="3" name="Rectangle 2"/>
          <p:cNvSpPr/>
          <p:nvPr/>
        </p:nvSpPr>
        <p:spPr>
          <a:xfrm>
            <a:off x="990795" y="1288049"/>
            <a:ext cx="7314565" cy="521970"/>
          </a:xfrm>
          <a:prstGeom prst="rect">
            <a:avLst/>
          </a:prstGeom>
        </p:spPr>
        <p:txBody>
          <a:bodyPr wrap="none">
            <a:spAutoFit/>
          </a:bodyPr>
          <a:lstStyle/>
          <a:p>
            <a:r>
              <a:rPr lang="en-IN" sz="2800" b="1" dirty="0">
                <a:solidFill>
                  <a:srgbClr val="FF0000"/>
                </a:solidFill>
                <a:latin typeface="Arial" panose="020B0604020202020204" pitchFamily="34" charset="0"/>
                <a:ea typeface="Times New Roman" panose="02020603050405020304" pitchFamily="18" charset="0"/>
              </a:rPr>
              <a:t>Linear Regression Vs Logistic Regression</a:t>
            </a:r>
            <a:endParaRPr lang="en-IN" sz="2800" dirty="0">
              <a:solidFill>
                <a:srgbClr val="FF0000"/>
              </a:solidFill>
            </a:endParaRPr>
          </a:p>
        </p:txBody>
      </p:sp>
      <p:pic>
        <p:nvPicPr>
          <p:cNvPr id="4" name="Picture 3"/>
          <p:cNvPicPr>
            <a:picLocks noChangeAspect="1"/>
          </p:cNvPicPr>
          <p:nvPr/>
        </p:nvPicPr>
        <p:blipFill>
          <a:blip r:embed="rId3"/>
          <a:stretch>
            <a:fillRect/>
          </a:stretch>
        </p:blipFill>
        <p:spPr>
          <a:xfrm>
            <a:off x="113030" y="2106930"/>
            <a:ext cx="8481060" cy="3996690"/>
          </a:xfrm>
          <a:prstGeom prst="rect">
            <a:avLst/>
          </a:prstGeom>
        </p:spPr>
      </p:pic>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3"/>
          <p:cNvSpPr>
            <a:spLocks noChangeArrowheads="1"/>
          </p:cNvSpPr>
          <p:nvPr/>
        </p:nvSpPr>
        <p:spPr bwMode="auto">
          <a:xfrm>
            <a:off x="0" y="752475"/>
            <a:ext cx="9144000" cy="0"/>
          </a:xfrm>
          <a:prstGeom prst="rect">
            <a:avLst/>
          </a:prstGeom>
          <a:noFill/>
          <a:ln w="9525">
            <a:noFill/>
            <a:miter lim="800000"/>
          </a:ln>
        </p:spPr>
        <p:txBody>
          <a:bodyPr wrap="none" anchor="ctr">
            <a:spAutoFit/>
          </a:bodyPr>
          <a:lstStyle/>
          <a:p>
            <a:pPr algn="just"/>
            <a:r>
              <a:rPr lang="en-US" sz="1200">
                <a:latin typeface="Calibri" panose="020F0502020204030204" pitchFamily="34" charset="0"/>
                <a:cs typeface="Times New Roman" panose="02020603050405020304" pitchFamily="18" charset="0"/>
              </a:rPr>
              <a:t>	</a:t>
            </a:r>
            <a:endParaRPr lang="en-US"/>
          </a:p>
        </p:txBody>
      </p:sp>
      <p:pic>
        <p:nvPicPr>
          <p:cNvPr id="12291" name="Picture 7"/>
          <p:cNvPicPr>
            <a:picLocks noGrp="1" noChangeAspect="1" noChangeArrowheads="1"/>
          </p:cNvPicPr>
          <p:nvPr>
            <p:ph idx="1"/>
          </p:nvPr>
        </p:nvPicPr>
        <p:blipFill>
          <a:blip r:embed="rId1"/>
          <a:srcRect/>
          <a:stretch>
            <a:fillRect/>
          </a:stretch>
        </p:blipFill>
        <p:spPr>
          <a:xfrm>
            <a:off x="533400" y="457200"/>
            <a:ext cx="7620000" cy="3257550"/>
          </a:xfrm>
          <a:noFill/>
        </p:spPr>
      </p:pic>
      <p:sp>
        <p:nvSpPr>
          <p:cNvPr id="5" name="Footer Placeholder 3"/>
          <p:cNvSpPr>
            <a:spLocks noGrp="1"/>
          </p:cNvSpPr>
          <p:nvPr>
            <p:ph type="ftr" sz="quarter" idx="11"/>
          </p:nvPr>
        </p:nvSpPr>
        <p:spPr>
          <a:xfrm>
            <a:off x="1905000" y="6400800"/>
            <a:ext cx="5486400" cy="365125"/>
          </a:xfrm>
        </p:spPr>
        <p:txBody>
          <a:bodyPr/>
          <a:lstStyle/>
          <a:p>
            <a:pPr>
              <a:defRPr/>
            </a:pPr>
            <a:r>
              <a:rPr lang="en-US" sz="1600" b="1" dirty="0" err="1" smtClean="0">
                <a:solidFill>
                  <a:srgbClr val="7030A0"/>
                </a:solidFill>
              </a:rPr>
              <a:t>Dr.K.Venkata</a:t>
            </a:r>
            <a:r>
              <a:rPr lang="en-US" sz="1600" b="1" dirty="0" smtClean="0">
                <a:solidFill>
                  <a:srgbClr val="7030A0"/>
                </a:solidFill>
              </a:rPr>
              <a:t> </a:t>
            </a:r>
            <a:r>
              <a:rPr lang="en-US" sz="1600" b="1" dirty="0" err="1" smtClean="0">
                <a:solidFill>
                  <a:srgbClr val="7030A0"/>
                </a:solidFill>
              </a:rPr>
              <a:t>Nagendra</a:t>
            </a:r>
            <a:r>
              <a:rPr lang="en-US" b="1" dirty="0" smtClean="0"/>
              <a:t>, </a:t>
            </a:r>
            <a:r>
              <a:rPr lang="en-US" b="1" dirty="0" err="1" smtClean="0">
                <a:solidFill>
                  <a:schemeClr val="tx1"/>
                </a:solidFill>
              </a:rPr>
              <a:t>M.Tech,Ph.D</a:t>
            </a:r>
            <a:r>
              <a:rPr lang="en-US" b="1" dirty="0" smtClean="0">
                <a:solidFill>
                  <a:schemeClr val="tx1"/>
                </a:solidFill>
              </a:rPr>
              <a:t>, PDF. Associate Professor, </a:t>
            </a:r>
            <a:r>
              <a:rPr lang="en-US" b="1" dirty="0" err="1" smtClean="0">
                <a:solidFill>
                  <a:schemeClr val="tx1"/>
                </a:solidFill>
              </a:rPr>
              <a:t>Dept</a:t>
            </a:r>
            <a:r>
              <a:rPr lang="en-US" b="1" dirty="0" smtClean="0">
                <a:solidFill>
                  <a:schemeClr val="tx1"/>
                </a:solidFill>
              </a:rPr>
              <a:t> of CSE.</a:t>
            </a:r>
            <a:endParaRPr lang="en-US" b="1" dirty="0">
              <a:solidFill>
                <a:schemeClr val="tx1"/>
              </a:solidFill>
            </a:endParaRP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12478</Words>
  <Application>WPS Presentation</Application>
  <PresentationFormat>On-screen Show (4:3)</PresentationFormat>
  <Paragraphs>238</Paragraphs>
  <Slides>34</Slides>
  <Notes>0</Notes>
  <HiddenSlides>0</HiddenSlides>
  <MMClips>0</MMClips>
  <ScaleCrop>false</ScaleCrop>
  <HeadingPairs>
    <vt:vector size="8" baseType="variant">
      <vt:variant>
        <vt:lpstr>已用的字体</vt:lpstr>
      </vt:variant>
      <vt:variant>
        <vt:i4>14</vt:i4>
      </vt:variant>
      <vt:variant>
        <vt:lpstr>主题</vt:lpstr>
      </vt:variant>
      <vt:variant>
        <vt:i4>1</vt:i4>
      </vt:variant>
      <vt:variant>
        <vt:lpstr>嵌入 OLE 服务器</vt:lpstr>
      </vt:variant>
      <vt:variant>
        <vt:i4>2</vt:i4>
      </vt:variant>
      <vt:variant>
        <vt:lpstr>幻灯片标题</vt:lpstr>
      </vt:variant>
      <vt:variant>
        <vt:i4>34</vt:i4>
      </vt:variant>
    </vt:vector>
  </HeadingPairs>
  <TitlesOfParts>
    <vt:vector size="51" baseType="lpstr">
      <vt:lpstr>Arial</vt:lpstr>
      <vt:lpstr>SimSun</vt:lpstr>
      <vt:lpstr>Wingdings</vt:lpstr>
      <vt:lpstr>Calibri</vt:lpstr>
      <vt:lpstr>Times New Roman</vt:lpstr>
      <vt:lpstr>Times New Roman</vt:lpstr>
      <vt:lpstr>Arial</vt:lpstr>
      <vt:lpstr>Symbol</vt:lpstr>
      <vt:lpstr>Google Sans</vt:lpstr>
      <vt:lpstr>Segoe Print</vt:lpstr>
      <vt:lpstr>Microsoft YaHei</vt:lpstr>
      <vt:lpstr>Arial Unicode MS</vt:lpstr>
      <vt:lpstr>Symbol</vt:lpstr>
      <vt:lpstr>Verdana</vt:lpstr>
      <vt:lpstr>Office Theme</vt:lpstr>
      <vt:lpstr>Paint.Picture</vt:lpstr>
      <vt:lpstr>Paint.Picture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Importing and Processing Ontology Documents</dc:title>
  <dc:creator>G RAJESH CHANDRA</dc:creator>
  <cp:lastModifiedBy>nagendra venkata</cp:lastModifiedBy>
  <cp:revision>871</cp:revision>
  <dcterms:created xsi:type="dcterms:W3CDTF">2014-09-15T10:21:00Z</dcterms:created>
  <dcterms:modified xsi:type="dcterms:W3CDTF">2026-03-02T07:44:08Z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6883F72E00644DD8A41EF6885FD2B9CA_12</vt:lpwstr>
  </property>
  <property fmtid="{D5CDD505-2E9C-101B-9397-08002B2CF9AE}" pid="3" name="KSOProductBuildVer">
    <vt:lpwstr>1033-12.2.0.23196</vt:lpwstr>
  </property>
</Properties>
</file>